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6" r:id="rId27"/>
    <p:sldId id="277" r:id="rId28"/>
    <p:sldId id="278" r:id="rId29"/>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1188720"/>
            <a:ext cx="7680960" cy="219456"/>
          </a:xfrm>
          <a:prstGeom prst="rect">
            <a:avLst/>
          </a:prstGeom>
          <a:noFill/>
          <a:ln/>
        </p:spPr>
        <p:txBody>
          <a:bodyPr wrap="square" lIns="0" tIns="0" rIns="0" bIns="0" rtlCol="0" anchor="ctr"/>
          <a:lstStyle/>
          <a:p>
            <a:pPr algn="l" indent="0" marL="0">
              <a:buNone/>
            </a:pPr>
            <a:r>
              <a:rPr lang="en-US" sz="1100" b="1" spc="180" kern="0" dirty="0">
                <a:solidFill>
                  <a:srgbClr val="D64525"/>
                </a:solidFill>
                <a:latin typeface="Courier New" pitchFamily="34" charset="0"/>
                <a:ea typeface="Courier New" pitchFamily="34" charset="-122"/>
                <a:cs typeface="Courier New" pitchFamily="34" charset="-120"/>
              </a:rPr>
              <a:t>OPERATING SYSTEMS AND SYSTEMS PROGRAMMING  ·  25CS2104E</a:t>
            </a:r>
            <a:endParaRPr lang="en-US" sz="1100" dirty="0"/>
          </a:p>
        </p:txBody>
      </p:sp>
      <p:sp>
        <p:nvSpPr>
          <p:cNvPr id="3" name="Text 1"/>
          <p:cNvSpPr txBox="1"/>
          <p:nvPr/>
        </p:nvSpPr>
        <p:spPr>
          <a:xfrm>
            <a:off x="603504" y="1517904"/>
            <a:ext cx="6766560" cy="1133856"/>
          </a:xfrm>
          <a:prstGeom prst="rect">
            <a:avLst/>
          </a:prstGeom>
          <a:noFill/>
          <a:ln/>
        </p:spPr>
        <p:txBody>
          <a:bodyPr wrap="square" lIns="0" tIns="0" rIns="0" bIns="0" rtlCol="0" anchor="ctr"/>
          <a:lstStyle/>
          <a:p>
            <a:pPr indent="0" marL="0">
              <a:buNone/>
            </a:pPr>
            <a:r>
              <a:rPr lang="en-US" sz="7600" b="1" dirty="0">
                <a:solidFill>
                  <a:srgbClr val="F2F4F1"/>
                </a:solidFill>
                <a:latin typeface="Cambria" pitchFamily="34" charset="0"/>
                <a:ea typeface="Cambria" pitchFamily="34" charset="-122"/>
                <a:cs typeface="Cambria" pitchFamily="34" charset="-120"/>
              </a:rPr>
              <a:t>Kernel</a:t>
            </a:r>
            <a:endParaRPr lang="en-US" sz="7600" dirty="0"/>
          </a:p>
        </p:txBody>
      </p:sp>
      <p:sp>
        <p:nvSpPr>
          <p:cNvPr id="4" name="Text 2"/>
          <p:cNvSpPr txBox="1"/>
          <p:nvPr/>
        </p:nvSpPr>
        <p:spPr>
          <a:xfrm>
            <a:off x="603504" y="2523744"/>
            <a:ext cx="6766560" cy="1133856"/>
          </a:xfrm>
          <a:prstGeom prst="rect">
            <a:avLst/>
          </a:prstGeom>
          <a:noFill/>
          <a:ln/>
        </p:spPr>
        <p:txBody>
          <a:bodyPr wrap="square" lIns="0" tIns="0" rIns="0" bIns="0" rtlCol="0" anchor="ctr"/>
          <a:lstStyle/>
          <a:p>
            <a:pPr indent="0" marL="0">
              <a:buNone/>
            </a:pPr>
            <a:r>
              <a:rPr lang="en-US" sz="7600" b="1" dirty="0">
                <a:solidFill>
                  <a:srgbClr val="D64525"/>
                </a:solidFill>
                <a:latin typeface="Cambria" pitchFamily="34" charset="0"/>
                <a:ea typeface="Cambria" pitchFamily="34" charset="-122"/>
                <a:cs typeface="Cambria" pitchFamily="34" charset="-120"/>
              </a:rPr>
              <a:t>Monitor</a:t>
            </a:r>
            <a:endParaRPr lang="en-US" sz="7600" dirty="0"/>
          </a:p>
        </p:txBody>
      </p:sp>
      <p:sp>
        <p:nvSpPr>
          <p:cNvPr id="5" name="Text 3"/>
          <p:cNvSpPr txBox="1"/>
          <p:nvPr/>
        </p:nvSpPr>
        <p:spPr>
          <a:xfrm>
            <a:off x="658368" y="3749040"/>
            <a:ext cx="5669280" cy="640080"/>
          </a:xfrm>
          <a:prstGeom prst="rect">
            <a:avLst/>
          </a:prstGeom>
          <a:noFill/>
          <a:ln/>
        </p:spPr>
        <p:txBody>
          <a:bodyPr wrap="square" lIns="0" tIns="0" rIns="0" bIns="0" rtlCol="0" anchor="t"/>
          <a:lstStyle/>
          <a:p>
            <a:pPr algn="l" indent="0" marL="0">
              <a:lnSpc>
                <a:spcPts val="2200"/>
              </a:lnSpc>
              <a:buNone/>
            </a:pPr>
            <a:r>
              <a:rPr lang="en-US" sz="1500" dirty="0">
                <a:solidFill>
                  <a:srgbClr val="9FB4C6"/>
                </a:solidFill>
                <a:latin typeface="Arial" pitchFamily="34" charset="0"/>
                <a:ea typeface="Arial" pitchFamily="34" charset="-122"/>
                <a:cs typeface="Arial" pitchFamily="34" charset="-120"/>
              </a:rPr>
              <a:t>A user-space Linux system and process monitor, built directly on the /proc filesystem and POSIX APIs.</a:t>
            </a:r>
            <a:endParaRPr lang="en-US" sz="1500" dirty="0"/>
          </a:p>
        </p:txBody>
      </p:sp>
      <p:sp>
        <p:nvSpPr>
          <p:cNvPr id="6" name="Shape 4"/>
          <p:cNvSpPr/>
          <p:nvPr/>
        </p:nvSpPr>
        <p:spPr>
          <a:xfrm>
            <a:off x="7187184" y="1481328"/>
            <a:ext cx="4346143" cy="3163824"/>
          </a:xfrm>
          <a:prstGeom prst="rect">
            <a:avLst/>
          </a:prstGeom>
          <a:solidFill>
            <a:srgbClr val="173449"/>
          </a:solidFill>
          <a:ln w="12700">
            <a:solidFill>
              <a:srgbClr val="496882"/>
            </a:solidFill>
            <a:prstDash val="solid"/>
          </a:ln>
        </p:spPr>
      </p:sp>
      <p:sp>
        <p:nvSpPr>
          <p:cNvPr id="7" name="Text 5"/>
          <p:cNvSpPr txBox="1"/>
          <p:nvPr/>
        </p:nvSpPr>
        <p:spPr>
          <a:xfrm>
            <a:off x="7461504" y="1737360"/>
            <a:ext cx="3797503"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TEAM 19  ·  SECTION 02</a:t>
            </a:r>
            <a:endParaRPr lang="en-US" sz="1000" dirty="0"/>
          </a:p>
        </p:txBody>
      </p:sp>
      <p:sp>
        <p:nvSpPr>
          <p:cNvPr id="8" name="Text 6"/>
          <p:cNvSpPr txBox="1"/>
          <p:nvPr/>
        </p:nvSpPr>
        <p:spPr>
          <a:xfrm>
            <a:off x="7461504" y="2084832"/>
            <a:ext cx="3797503" cy="237744"/>
          </a:xfrm>
          <a:prstGeom prst="rect">
            <a:avLst/>
          </a:prstGeom>
          <a:noFill/>
          <a:ln/>
        </p:spPr>
        <p:txBody>
          <a:bodyPr wrap="square" lIns="0" tIns="0" rIns="0" bIns="0" rtlCol="0" anchor="ctr"/>
          <a:lstStyle/>
          <a:p>
            <a:pPr indent="0" marL="0">
              <a:buNone/>
            </a:pPr>
            <a:r>
              <a:rPr lang="en-US" sz="1300" b="1" dirty="0">
                <a:solidFill>
                  <a:srgbClr val="F2F4F1"/>
                </a:solidFill>
                <a:latin typeface="Arial" pitchFamily="34" charset="0"/>
                <a:ea typeface="Arial" pitchFamily="34" charset="-122"/>
                <a:cs typeface="Arial" pitchFamily="34" charset="-120"/>
              </a:rPr>
              <a:t>Aniketh Pani Kakanur</a:t>
            </a:r>
            <a:endParaRPr lang="en-US" sz="1300" dirty="0"/>
          </a:p>
        </p:txBody>
      </p:sp>
      <p:sp>
        <p:nvSpPr>
          <p:cNvPr id="9" name="Text 7"/>
          <p:cNvSpPr txBox="1"/>
          <p:nvPr/>
        </p:nvSpPr>
        <p:spPr>
          <a:xfrm>
            <a:off x="7461504" y="2304288"/>
            <a:ext cx="3797503" cy="219456"/>
          </a:xfrm>
          <a:prstGeom prst="rect">
            <a:avLst/>
          </a:prstGeom>
          <a:noFill/>
          <a:ln/>
        </p:spPr>
        <p:txBody>
          <a:bodyPr wrap="square" lIns="0" tIns="0" rIns="0" bIns="0" rtlCol="0" anchor="ctr"/>
          <a:lstStyle/>
          <a:p>
            <a:pPr indent="0" marL="0">
              <a:buNone/>
            </a:pPr>
            <a:r>
              <a:rPr lang="en-US" sz="1100" spc="100" kern="0" dirty="0">
                <a:solidFill>
                  <a:srgbClr val="9FB4C6"/>
                </a:solidFill>
                <a:latin typeface="Courier New" pitchFamily="34" charset="0"/>
                <a:ea typeface="Courier New" pitchFamily="34" charset="-122"/>
                <a:cs typeface="Courier New" pitchFamily="34" charset="-120"/>
              </a:rPr>
              <a:t>2520030184</a:t>
            </a:r>
            <a:endParaRPr lang="en-US" sz="1100" dirty="0"/>
          </a:p>
        </p:txBody>
      </p:sp>
      <p:sp>
        <p:nvSpPr>
          <p:cNvPr id="10" name="Text 8"/>
          <p:cNvSpPr txBox="1"/>
          <p:nvPr/>
        </p:nvSpPr>
        <p:spPr>
          <a:xfrm>
            <a:off x="7461504" y="2615184"/>
            <a:ext cx="3797503" cy="237744"/>
          </a:xfrm>
          <a:prstGeom prst="rect">
            <a:avLst/>
          </a:prstGeom>
          <a:noFill/>
          <a:ln/>
        </p:spPr>
        <p:txBody>
          <a:bodyPr wrap="square" lIns="0" tIns="0" rIns="0" bIns="0" rtlCol="0" anchor="ctr"/>
          <a:lstStyle/>
          <a:p>
            <a:pPr indent="0" marL="0">
              <a:buNone/>
            </a:pPr>
            <a:r>
              <a:rPr lang="en-US" sz="1300" b="1" dirty="0">
                <a:solidFill>
                  <a:srgbClr val="F2F4F1"/>
                </a:solidFill>
                <a:latin typeface="Arial" pitchFamily="34" charset="0"/>
                <a:ea typeface="Arial" pitchFamily="34" charset="-122"/>
                <a:cs typeface="Arial" pitchFamily="34" charset="-120"/>
              </a:rPr>
              <a:t>Rohaan Jacob Variganti</a:t>
            </a:r>
            <a:endParaRPr lang="en-US" sz="1300" dirty="0"/>
          </a:p>
        </p:txBody>
      </p:sp>
      <p:sp>
        <p:nvSpPr>
          <p:cNvPr id="11" name="Text 9"/>
          <p:cNvSpPr txBox="1"/>
          <p:nvPr/>
        </p:nvSpPr>
        <p:spPr>
          <a:xfrm>
            <a:off x="7461504" y="2834640"/>
            <a:ext cx="3797503" cy="219456"/>
          </a:xfrm>
          <a:prstGeom prst="rect">
            <a:avLst/>
          </a:prstGeom>
          <a:noFill/>
          <a:ln/>
        </p:spPr>
        <p:txBody>
          <a:bodyPr wrap="square" lIns="0" tIns="0" rIns="0" bIns="0" rtlCol="0" anchor="ctr"/>
          <a:lstStyle/>
          <a:p>
            <a:pPr indent="0" marL="0">
              <a:buNone/>
            </a:pPr>
            <a:r>
              <a:rPr lang="en-US" sz="1100" spc="100" kern="0" dirty="0">
                <a:solidFill>
                  <a:srgbClr val="9FB4C6"/>
                </a:solidFill>
                <a:latin typeface="Courier New" pitchFamily="34" charset="0"/>
                <a:ea typeface="Courier New" pitchFamily="34" charset="-122"/>
                <a:cs typeface="Courier New" pitchFamily="34" charset="-120"/>
              </a:rPr>
              <a:t>2520030558</a:t>
            </a:r>
            <a:endParaRPr lang="en-US" sz="1100" dirty="0"/>
          </a:p>
        </p:txBody>
      </p:sp>
      <p:sp>
        <p:nvSpPr>
          <p:cNvPr id="12" name="Text 10"/>
          <p:cNvSpPr txBox="1"/>
          <p:nvPr/>
        </p:nvSpPr>
        <p:spPr>
          <a:xfrm>
            <a:off x="7461504" y="3145536"/>
            <a:ext cx="3797503" cy="237744"/>
          </a:xfrm>
          <a:prstGeom prst="rect">
            <a:avLst/>
          </a:prstGeom>
          <a:noFill/>
          <a:ln/>
        </p:spPr>
        <p:txBody>
          <a:bodyPr wrap="square" lIns="0" tIns="0" rIns="0" bIns="0" rtlCol="0" anchor="ctr"/>
          <a:lstStyle/>
          <a:p>
            <a:pPr indent="0" marL="0">
              <a:buNone/>
            </a:pPr>
            <a:r>
              <a:rPr lang="en-US" sz="1300" b="1" dirty="0">
                <a:solidFill>
                  <a:srgbClr val="F2F4F1"/>
                </a:solidFill>
                <a:latin typeface="Arial" pitchFamily="34" charset="0"/>
                <a:ea typeface="Arial" pitchFamily="34" charset="-122"/>
                <a:cs typeface="Arial" pitchFamily="34" charset="-120"/>
              </a:rPr>
              <a:t>V. Karthik</a:t>
            </a:r>
            <a:endParaRPr lang="en-US" sz="1300" dirty="0"/>
          </a:p>
        </p:txBody>
      </p:sp>
      <p:sp>
        <p:nvSpPr>
          <p:cNvPr id="13" name="Text 11"/>
          <p:cNvSpPr txBox="1"/>
          <p:nvPr/>
        </p:nvSpPr>
        <p:spPr>
          <a:xfrm>
            <a:off x="7461504" y="3364992"/>
            <a:ext cx="3797503" cy="219456"/>
          </a:xfrm>
          <a:prstGeom prst="rect">
            <a:avLst/>
          </a:prstGeom>
          <a:noFill/>
          <a:ln/>
        </p:spPr>
        <p:txBody>
          <a:bodyPr wrap="square" lIns="0" tIns="0" rIns="0" bIns="0" rtlCol="0" anchor="ctr"/>
          <a:lstStyle/>
          <a:p>
            <a:pPr indent="0" marL="0">
              <a:buNone/>
            </a:pPr>
            <a:r>
              <a:rPr lang="en-US" sz="1100" spc="100" kern="0" dirty="0">
                <a:solidFill>
                  <a:srgbClr val="9FB4C6"/>
                </a:solidFill>
                <a:latin typeface="Courier New" pitchFamily="34" charset="0"/>
                <a:ea typeface="Courier New" pitchFamily="34" charset="-122"/>
                <a:cs typeface="Courier New" pitchFamily="34" charset="-120"/>
              </a:rPr>
              <a:t>2520030053</a:t>
            </a:r>
            <a:endParaRPr lang="en-US" sz="1100" dirty="0"/>
          </a:p>
        </p:txBody>
      </p:sp>
      <p:sp>
        <p:nvSpPr>
          <p:cNvPr id="14" name="Text 12"/>
          <p:cNvSpPr txBox="1"/>
          <p:nvPr/>
        </p:nvSpPr>
        <p:spPr>
          <a:xfrm>
            <a:off x="7461504" y="3730752"/>
            <a:ext cx="3797503" cy="731520"/>
          </a:xfrm>
          <a:prstGeom prst="rect">
            <a:avLst/>
          </a:prstGeom>
          <a:noFill/>
          <a:ln/>
        </p:spPr>
        <p:txBody>
          <a:bodyPr wrap="square" lIns="0" tIns="0" rIns="0" bIns="0" rtlCol="0" anchor="ctr"/>
          <a:lstStyle/>
          <a:p>
            <a:pPr algn="l" indent="0" marL="0">
              <a:lnSpc>
                <a:spcPts val="1500"/>
              </a:lnSpc>
              <a:buNone/>
            </a:pPr>
            <a:r>
              <a:rPr lang="en-US" sz="1050" dirty="0">
                <a:solidFill>
                  <a:srgbClr val="9FB4C6"/>
                </a:solidFill>
                <a:latin typeface="Courier New" pitchFamily="34" charset="0"/>
                <a:ea typeface="Courier New" pitchFamily="34" charset="-122"/>
                <a:cs typeface="Courier New" pitchFamily="34" charset="-120"/>
              </a:rPr>
              <a:t>GUIDE      Dr. K. Anusha</a:t>
            </a:r>
            <a:endParaRPr lang="en-US" sz="1050" dirty="0"/>
          </a:p>
          <a:p>
            <a:pPr algn="l" indent="0" marL="0">
              <a:lnSpc>
                <a:spcPts val="1500"/>
              </a:lnSpc>
              <a:buNone/>
            </a:pPr>
            <a:r>
              <a:rPr lang="en-US" sz="1050" dirty="0">
                <a:solidFill>
                  <a:srgbClr val="9FB4C6"/>
                </a:solidFill>
                <a:latin typeface="Courier New" pitchFamily="34" charset="0"/>
                <a:ea typeface="Courier New" pitchFamily="34" charset="-122"/>
                <a:cs typeface="Courier New" pitchFamily="34" charset="-120"/>
              </a:rPr>
              <a:t>DEPT.      CSE · KL University (KLH)</a:t>
            </a:r>
            <a:endParaRPr lang="en-US" sz="1050" dirty="0"/>
          </a:p>
          <a:p>
            <a:pPr algn="l" indent="0" marL="0">
              <a:lnSpc>
                <a:spcPts val="1500"/>
              </a:lnSpc>
              <a:buNone/>
            </a:pPr>
            <a:r>
              <a:rPr lang="en-US" sz="1050" dirty="0">
                <a:solidFill>
                  <a:srgbClr val="9FB4C6"/>
                </a:solidFill>
                <a:latin typeface="Courier New" pitchFamily="34" charset="0"/>
                <a:ea typeface="Courier New" pitchFamily="34" charset="-122"/>
                <a:cs typeface="Courier New" pitchFamily="34" charset="-120"/>
              </a:rPr>
              <a:t>TERM       I  ·  2026–27</a:t>
            </a:r>
            <a:endParaRPr lang="en-US" sz="1050" dirty="0"/>
          </a:p>
        </p:txBody>
      </p:sp>
      <p:sp>
        <p:nvSpPr>
          <p:cNvPr id="15" name="Text 13"/>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9FB4C6"/>
                </a:solidFill>
                <a:latin typeface="Courier New" pitchFamily="34" charset="0"/>
                <a:ea typeface="Courier New" pitchFamily="34" charset="-122"/>
                <a:cs typeface="Courier New" pitchFamily="34" charset="-120"/>
              </a:rPr>
              <a:t>01 / 23</a:t>
            </a:r>
            <a:endParaRPr lang="en-US" sz="1050" dirty="0"/>
          </a:p>
        </p:txBody>
      </p:sp>
      <p:sp>
        <p:nvSpPr>
          <p:cNvPr id="16" name="Text 14"/>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9FB4C6"/>
                </a:solidFill>
                <a:latin typeface="Courier New" pitchFamily="34" charset="0"/>
                <a:ea typeface="Courier New" pitchFamily="34" charset="-122"/>
                <a:cs typeface="Courier New" pitchFamily="34" charset="-120"/>
              </a:rPr>
              <a:t>TITLE SHEET</a:t>
            </a:r>
            <a:endParaRPr lang="en-US" sz="1050" dirty="0"/>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01  /  INTRODUCTION</a:t>
            </a:r>
            <a:endParaRPr lang="en-US" sz="1100" dirty="0"/>
          </a:p>
        </p:txBody>
      </p:sp>
      <p:sp>
        <p:nvSpPr>
          <p:cNvPr id="3" name="Text 1"/>
          <p:cNvSpPr txBox="1"/>
          <p:nvPr/>
        </p:nvSpPr>
        <p:spPr>
          <a:xfrm>
            <a:off x="658368" y="768096"/>
            <a:ext cx="576072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A running system is</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a black box by default</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The kernel already knows everything. The problem is reaching it.</a:t>
            </a:r>
            <a:endParaRPr lang="en-US" sz="1300" dirty="0"/>
          </a:p>
        </p:txBody>
      </p:sp>
      <p:sp>
        <p:nvSpPr>
          <p:cNvPr id="5" name="Text 3"/>
          <p:cNvSpPr txBox="1"/>
          <p:nvPr/>
        </p:nvSpPr>
        <p:spPr>
          <a:xfrm>
            <a:off x="658368" y="2304288"/>
            <a:ext cx="5394960" cy="1371600"/>
          </a:xfrm>
          <a:prstGeom prst="rect">
            <a:avLst/>
          </a:prstGeom>
          <a:noFill/>
          <a:ln/>
        </p:spPr>
        <p:txBody>
          <a:bodyPr wrap="square" lIns="0" tIns="0" rIns="0" bIns="0" rtlCol="0" anchor="t"/>
          <a:lstStyle/>
          <a:p>
            <a:pPr algn="l" indent="0" marL="0">
              <a:lnSpc>
                <a:spcPts val="2100"/>
              </a:lnSpc>
              <a:buNone/>
            </a:pPr>
            <a:r>
              <a:rPr lang="en-US" sz="1350" dirty="0">
                <a:solidFill>
                  <a:srgbClr val="3D5A75"/>
                </a:solidFill>
                <a:latin typeface="Arial" pitchFamily="34" charset="0"/>
                <a:ea typeface="Arial" pitchFamily="34" charset="-122"/>
                <a:cs typeface="Arial" pitchFamily="34" charset="-120"/>
              </a:rPr>
              <a:t>An operating system constantly schedules CPU time, accounts for memory and manages hundreds of processes. Almost none of that is visible to a user without tooling. Linux, however, publishes its own internal state as ordinary files under /proc, so reading it needs nothing more privileged than open() and read().</a:t>
            </a:r>
            <a:endParaRPr lang="en-US" sz="1350" dirty="0"/>
          </a:p>
        </p:txBody>
      </p:sp>
      <p:sp>
        <p:nvSpPr>
          <p:cNvPr id="6" name="Shape 4"/>
          <p:cNvSpPr/>
          <p:nvPr/>
        </p:nvSpPr>
        <p:spPr>
          <a:xfrm>
            <a:off x="6382512" y="2231136"/>
            <a:ext cx="5150815" cy="1024128"/>
          </a:xfrm>
          <a:prstGeom prst="rect">
            <a:avLst/>
          </a:prstGeom>
          <a:solidFill>
            <a:srgbClr val="FCFBF8"/>
          </a:solidFill>
          <a:ln w="12700">
            <a:solidFill>
              <a:srgbClr val="B9C6D4"/>
            </a:solidFill>
            <a:prstDash val="solid"/>
          </a:ln>
        </p:spPr>
      </p:sp>
      <p:sp>
        <p:nvSpPr>
          <p:cNvPr id="7" name="Text 5"/>
          <p:cNvSpPr txBox="1"/>
          <p:nvPr/>
        </p:nvSpPr>
        <p:spPr>
          <a:xfrm>
            <a:off x="6565392" y="2414016"/>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01</a:t>
            </a:r>
            <a:endParaRPr lang="en-US" sz="1500" dirty="0"/>
          </a:p>
        </p:txBody>
      </p:sp>
      <p:sp>
        <p:nvSpPr>
          <p:cNvPr id="8" name="Text 6"/>
          <p:cNvSpPr txBox="1"/>
          <p:nvPr/>
        </p:nvSpPr>
        <p:spPr>
          <a:xfrm>
            <a:off x="7095744" y="2395728"/>
            <a:ext cx="402336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Kernel state is already exposed</a:t>
            </a:r>
            <a:endParaRPr lang="en-US" sz="1350" dirty="0"/>
          </a:p>
        </p:txBody>
      </p:sp>
      <p:sp>
        <p:nvSpPr>
          <p:cNvPr id="9" name="Text 7"/>
          <p:cNvSpPr txBox="1"/>
          <p:nvPr/>
        </p:nvSpPr>
        <p:spPr>
          <a:xfrm>
            <a:off x="7095744" y="2688336"/>
            <a:ext cx="40416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/proc and POSIX APIs publish CPU, memory and per-process data as readable text.</a:t>
            </a:r>
            <a:endParaRPr lang="en-US" sz="1080" dirty="0"/>
          </a:p>
        </p:txBody>
      </p:sp>
      <p:sp>
        <p:nvSpPr>
          <p:cNvPr id="10" name="Shape 8"/>
          <p:cNvSpPr/>
          <p:nvPr/>
        </p:nvSpPr>
        <p:spPr>
          <a:xfrm>
            <a:off x="6382512" y="3401568"/>
            <a:ext cx="5150815" cy="1024128"/>
          </a:xfrm>
          <a:prstGeom prst="rect">
            <a:avLst/>
          </a:prstGeom>
          <a:solidFill>
            <a:srgbClr val="FCFBF8"/>
          </a:solidFill>
          <a:ln w="12700">
            <a:solidFill>
              <a:srgbClr val="B9C6D4"/>
            </a:solidFill>
            <a:prstDash val="solid"/>
          </a:ln>
        </p:spPr>
      </p:sp>
      <p:sp>
        <p:nvSpPr>
          <p:cNvPr id="11" name="Text 9"/>
          <p:cNvSpPr txBox="1"/>
          <p:nvPr/>
        </p:nvSpPr>
        <p:spPr>
          <a:xfrm>
            <a:off x="6565392" y="3584448"/>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02</a:t>
            </a:r>
            <a:endParaRPr lang="en-US" sz="1500" dirty="0"/>
          </a:p>
        </p:txBody>
      </p:sp>
      <p:sp>
        <p:nvSpPr>
          <p:cNvPr id="12" name="Text 10"/>
          <p:cNvSpPr txBox="1"/>
          <p:nvPr/>
        </p:nvSpPr>
        <p:spPr>
          <a:xfrm>
            <a:off x="7095744" y="3566160"/>
            <a:ext cx="402336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Reading it directly is the point</a:t>
            </a:r>
            <a:endParaRPr lang="en-US" sz="1350" dirty="0"/>
          </a:p>
        </p:txBody>
      </p:sp>
      <p:sp>
        <p:nvSpPr>
          <p:cNvPr id="13" name="Text 11"/>
          <p:cNvSpPr txBox="1"/>
          <p:nvPr/>
        </p:nvSpPr>
        <p:spPr>
          <a:xfrm>
            <a:off x="7095744" y="3858768"/>
            <a:ext cx="40416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Building the reader, rather than running top, is how these concepts get studied.</a:t>
            </a:r>
            <a:endParaRPr lang="en-US" sz="1080" dirty="0"/>
          </a:p>
        </p:txBody>
      </p:sp>
      <p:sp>
        <p:nvSpPr>
          <p:cNvPr id="14" name="Shape 12"/>
          <p:cNvSpPr/>
          <p:nvPr/>
        </p:nvSpPr>
        <p:spPr>
          <a:xfrm>
            <a:off x="6382512" y="4572000"/>
            <a:ext cx="5150815" cy="1024128"/>
          </a:xfrm>
          <a:prstGeom prst="rect">
            <a:avLst/>
          </a:prstGeom>
          <a:solidFill>
            <a:srgbClr val="FCFBF8"/>
          </a:solidFill>
          <a:ln w="12700">
            <a:solidFill>
              <a:srgbClr val="B9C6D4"/>
            </a:solidFill>
            <a:prstDash val="solid"/>
          </a:ln>
        </p:spPr>
      </p:sp>
      <p:sp>
        <p:nvSpPr>
          <p:cNvPr id="15" name="Text 13"/>
          <p:cNvSpPr txBox="1"/>
          <p:nvPr/>
        </p:nvSpPr>
        <p:spPr>
          <a:xfrm>
            <a:off x="6565392" y="4754880"/>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03</a:t>
            </a:r>
            <a:endParaRPr lang="en-US" sz="1500" dirty="0"/>
          </a:p>
        </p:txBody>
      </p:sp>
      <p:sp>
        <p:nvSpPr>
          <p:cNvPr id="16" name="Text 14"/>
          <p:cNvSpPr txBox="1"/>
          <p:nvPr/>
        </p:nvSpPr>
        <p:spPr>
          <a:xfrm>
            <a:off x="7095744" y="4736592"/>
            <a:ext cx="402336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It makes the syllabus concrete</a:t>
            </a:r>
            <a:endParaRPr lang="en-US" sz="1350" dirty="0"/>
          </a:p>
        </p:txBody>
      </p:sp>
      <p:sp>
        <p:nvSpPr>
          <p:cNvPr id="17" name="Text 15"/>
          <p:cNvSpPr txBox="1"/>
          <p:nvPr/>
        </p:nvSpPr>
        <p:spPr>
          <a:xfrm>
            <a:off x="7095744" y="5029200"/>
            <a:ext cx="40416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Process states, scheduling accounting and signals become live values, not diagrams.</a:t>
            </a:r>
            <a:endParaRPr lang="en-US" sz="1080" dirty="0"/>
          </a:p>
        </p:txBody>
      </p:sp>
      <p:sp>
        <p:nvSpPr>
          <p:cNvPr id="18" name="Text 16"/>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02 / 23</a:t>
            </a:r>
            <a:endParaRPr lang="en-US" sz="1050" dirty="0"/>
          </a:p>
        </p:txBody>
      </p:sp>
      <p:sp>
        <p:nvSpPr>
          <p:cNvPr id="19" name="Text 17"/>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INTRODUCTION</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02  /  ABSTRACT</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What the project is</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One paragraph, then the four things that define its boundaries.</a:t>
            </a:r>
            <a:endParaRPr lang="en-US" sz="1300" dirty="0"/>
          </a:p>
        </p:txBody>
      </p:sp>
      <p:sp>
        <p:nvSpPr>
          <p:cNvPr id="5" name="Shape 3"/>
          <p:cNvSpPr/>
          <p:nvPr/>
        </p:nvSpPr>
        <p:spPr>
          <a:xfrm>
            <a:off x="658368" y="1993392"/>
            <a:ext cx="10874959" cy="896112"/>
          </a:xfrm>
          <a:prstGeom prst="rect">
            <a:avLst/>
          </a:prstGeom>
          <a:solidFill>
            <a:srgbClr val="FCFBF8"/>
          </a:solidFill>
          <a:ln w="12700">
            <a:solidFill>
              <a:srgbClr val="B9C6D4"/>
            </a:solidFill>
            <a:prstDash val="solid"/>
          </a:ln>
        </p:spPr>
      </p:sp>
      <p:sp>
        <p:nvSpPr>
          <p:cNvPr id="6" name="Text 4"/>
          <p:cNvSpPr txBox="1"/>
          <p:nvPr/>
        </p:nvSpPr>
        <p:spPr>
          <a:xfrm>
            <a:off x="896112" y="2176272"/>
            <a:ext cx="10399471" cy="658368"/>
          </a:xfrm>
          <a:prstGeom prst="rect">
            <a:avLst/>
          </a:prstGeom>
          <a:noFill/>
          <a:ln/>
        </p:spPr>
        <p:txBody>
          <a:bodyPr wrap="square" lIns="0" tIns="0" rIns="0" bIns="0" rtlCol="0" anchor="t"/>
          <a:lstStyle/>
          <a:p>
            <a:pPr algn="l" indent="0" marL="0">
              <a:lnSpc>
                <a:spcPts val="1900"/>
              </a:lnSpc>
              <a:buNone/>
            </a:pPr>
            <a:r>
              <a:rPr lang="en-US" sz="1300" dirty="0">
                <a:solidFill>
                  <a:srgbClr val="17324D"/>
                </a:solidFill>
                <a:latin typeface="Arial" pitchFamily="34" charset="0"/>
                <a:ea typeface="Arial" pitchFamily="34" charset="-122"/>
                <a:cs typeface="Arial" pitchFamily="34" charset="-120"/>
              </a:rPr>
              <a:t>Kernel Monitor is a Linux system monitoring application written in C and built entirely in user space. It reads the /proc filesystem and POSIX system calls to report CPU, memory and process activity in real time, and lets the operator control processes through Linux signals, all inside one interactive ncurses terminal interface.</a:t>
            </a:r>
            <a:endParaRPr lang="en-US" sz="1300" dirty="0"/>
          </a:p>
        </p:txBody>
      </p:sp>
      <p:sp>
        <p:nvSpPr>
          <p:cNvPr id="7" name="Shape 5"/>
          <p:cNvSpPr/>
          <p:nvPr/>
        </p:nvSpPr>
        <p:spPr>
          <a:xfrm>
            <a:off x="658368" y="3182112"/>
            <a:ext cx="5327752" cy="1170432"/>
          </a:xfrm>
          <a:prstGeom prst="rect">
            <a:avLst/>
          </a:prstGeom>
          <a:solidFill>
            <a:srgbClr val="FCFBF8"/>
          </a:solidFill>
          <a:ln w="12700">
            <a:solidFill>
              <a:srgbClr val="B9C6D4"/>
            </a:solidFill>
            <a:prstDash val="solid"/>
          </a:ln>
        </p:spPr>
      </p:sp>
      <p:sp>
        <p:nvSpPr>
          <p:cNvPr id="8" name="Text 6"/>
          <p:cNvSpPr txBox="1"/>
          <p:nvPr/>
        </p:nvSpPr>
        <p:spPr>
          <a:xfrm>
            <a:off x="877824" y="3383280"/>
            <a:ext cx="4888840" cy="219456"/>
          </a:xfrm>
          <a:prstGeom prst="rect">
            <a:avLst/>
          </a:prstGeom>
          <a:noFill/>
          <a:ln/>
        </p:spPr>
        <p:txBody>
          <a:bodyPr wrap="square" lIns="0" tIns="0" rIns="0" bIns="0" rtlCol="0" anchor="ctr"/>
          <a:lstStyle/>
          <a:p>
            <a:pPr algn="l" indent="0" marL="0">
              <a:buNone/>
            </a:pPr>
            <a:r>
              <a:rPr lang="en-US" sz="1050" b="1" spc="180" kern="0" dirty="0">
                <a:solidFill>
                  <a:srgbClr val="D64525"/>
                </a:solidFill>
                <a:latin typeface="Courier New" pitchFamily="34" charset="0"/>
                <a:ea typeface="Courier New" pitchFamily="34" charset="-122"/>
                <a:cs typeface="Courier New" pitchFamily="34" charset="-120"/>
              </a:rPr>
              <a:t>PROBLEM</a:t>
            </a:r>
            <a:endParaRPr lang="en-US" sz="1050" dirty="0"/>
          </a:p>
        </p:txBody>
      </p:sp>
      <p:sp>
        <p:nvSpPr>
          <p:cNvPr id="9" name="Text 7"/>
          <p:cNvSpPr txBox="1"/>
          <p:nvPr/>
        </p:nvSpPr>
        <p:spPr>
          <a:xfrm>
            <a:off x="877824" y="3694176"/>
            <a:ext cx="4888840" cy="585216"/>
          </a:xfrm>
          <a:prstGeom prst="rect">
            <a:avLst/>
          </a:prstGeom>
          <a:noFill/>
          <a:ln/>
        </p:spPr>
        <p:txBody>
          <a:bodyPr wrap="square" lIns="0" tIns="0" rIns="0" bIns="0" rtlCol="0" anchor="t"/>
          <a:lstStyle/>
          <a:p>
            <a:pPr algn="l" indent="0" marL="0">
              <a:lnSpc>
                <a:spcPts val="1650"/>
              </a:lnSpc>
              <a:buNone/>
            </a:pPr>
            <a:r>
              <a:rPr lang="en-US" sz="1200" dirty="0">
                <a:solidFill>
                  <a:srgbClr val="3D5A75"/>
                </a:solidFill>
                <a:latin typeface="Arial" pitchFamily="34" charset="0"/>
                <a:ea typeface="Arial" pitchFamily="34" charset="-122"/>
                <a:cs typeface="Arial" pitchFamily="34" charset="-120"/>
              </a:rPr>
              <a:t>Kernel-level activity is invisible without tooling, and the standard tools do not explain how they work.</a:t>
            </a:r>
            <a:endParaRPr lang="en-US" sz="1200" dirty="0"/>
          </a:p>
        </p:txBody>
      </p:sp>
      <p:sp>
        <p:nvSpPr>
          <p:cNvPr id="10" name="Shape 8"/>
          <p:cNvSpPr/>
          <p:nvPr/>
        </p:nvSpPr>
        <p:spPr>
          <a:xfrm>
            <a:off x="6205576" y="3182112"/>
            <a:ext cx="5327752" cy="1170432"/>
          </a:xfrm>
          <a:prstGeom prst="rect">
            <a:avLst/>
          </a:prstGeom>
          <a:solidFill>
            <a:srgbClr val="FCFBF8"/>
          </a:solidFill>
          <a:ln w="12700">
            <a:solidFill>
              <a:srgbClr val="B9C6D4"/>
            </a:solidFill>
            <a:prstDash val="solid"/>
          </a:ln>
        </p:spPr>
      </p:sp>
      <p:sp>
        <p:nvSpPr>
          <p:cNvPr id="11" name="Text 9"/>
          <p:cNvSpPr txBox="1"/>
          <p:nvPr/>
        </p:nvSpPr>
        <p:spPr>
          <a:xfrm>
            <a:off x="6425032" y="3383280"/>
            <a:ext cx="4888840" cy="219456"/>
          </a:xfrm>
          <a:prstGeom prst="rect">
            <a:avLst/>
          </a:prstGeom>
          <a:noFill/>
          <a:ln/>
        </p:spPr>
        <p:txBody>
          <a:bodyPr wrap="square" lIns="0" tIns="0" rIns="0" bIns="0" rtlCol="0" anchor="ctr"/>
          <a:lstStyle/>
          <a:p>
            <a:pPr algn="l" indent="0" marL="0">
              <a:buNone/>
            </a:pPr>
            <a:r>
              <a:rPr lang="en-US" sz="1050" b="1" spc="180" kern="0" dirty="0">
                <a:solidFill>
                  <a:srgbClr val="D64525"/>
                </a:solidFill>
                <a:latin typeface="Courier New" pitchFamily="34" charset="0"/>
                <a:ea typeface="Courier New" pitchFamily="34" charset="-122"/>
                <a:cs typeface="Courier New" pitchFamily="34" charset="-120"/>
              </a:rPr>
              <a:t>SOLUTION</a:t>
            </a:r>
            <a:endParaRPr lang="en-US" sz="1050" dirty="0"/>
          </a:p>
        </p:txBody>
      </p:sp>
      <p:sp>
        <p:nvSpPr>
          <p:cNvPr id="12" name="Text 10"/>
          <p:cNvSpPr txBox="1"/>
          <p:nvPr/>
        </p:nvSpPr>
        <p:spPr>
          <a:xfrm>
            <a:off x="6425032" y="3694176"/>
            <a:ext cx="4888840" cy="585216"/>
          </a:xfrm>
          <a:prstGeom prst="rect">
            <a:avLst/>
          </a:prstGeom>
          <a:noFill/>
          <a:ln/>
        </p:spPr>
        <p:txBody>
          <a:bodyPr wrap="square" lIns="0" tIns="0" rIns="0" bIns="0" rtlCol="0" anchor="t"/>
          <a:lstStyle/>
          <a:p>
            <a:pPr algn="l" indent="0" marL="0">
              <a:lnSpc>
                <a:spcPts val="1650"/>
              </a:lnSpc>
              <a:buNone/>
            </a:pPr>
            <a:r>
              <a:rPr lang="en-US" sz="1200" dirty="0">
                <a:solidFill>
                  <a:srgbClr val="3D5A75"/>
                </a:solidFill>
                <a:latin typeface="Arial" pitchFamily="34" charset="0"/>
                <a:ea typeface="Arial" pitchFamily="34" charset="-122"/>
                <a:cs typeface="Arial" pitchFamily="34" charset="-120"/>
              </a:rPr>
              <a:t>A terminal monitor that reads /proc directly and stays readable line by line.</a:t>
            </a:r>
            <a:endParaRPr lang="en-US" sz="1200" dirty="0"/>
          </a:p>
        </p:txBody>
      </p:sp>
      <p:sp>
        <p:nvSpPr>
          <p:cNvPr id="13" name="Shape 11"/>
          <p:cNvSpPr/>
          <p:nvPr/>
        </p:nvSpPr>
        <p:spPr>
          <a:xfrm>
            <a:off x="658368" y="4517136"/>
            <a:ext cx="5327752" cy="1170432"/>
          </a:xfrm>
          <a:prstGeom prst="rect">
            <a:avLst/>
          </a:prstGeom>
          <a:solidFill>
            <a:srgbClr val="FCFBF8"/>
          </a:solidFill>
          <a:ln w="12700">
            <a:solidFill>
              <a:srgbClr val="B9C6D4"/>
            </a:solidFill>
            <a:prstDash val="solid"/>
          </a:ln>
        </p:spPr>
      </p:sp>
      <p:sp>
        <p:nvSpPr>
          <p:cNvPr id="14" name="Text 12"/>
          <p:cNvSpPr txBox="1"/>
          <p:nvPr/>
        </p:nvSpPr>
        <p:spPr>
          <a:xfrm>
            <a:off x="877824" y="4718304"/>
            <a:ext cx="4888840" cy="219456"/>
          </a:xfrm>
          <a:prstGeom prst="rect">
            <a:avLst/>
          </a:prstGeom>
          <a:noFill/>
          <a:ln/>
        </p:spPr>
        <p:txBody>
          <a:bodyPr wrap="square" lIns="0" tIns="0" rIns="0" bIns="0" rtlCol="0" anchor="ctr"/>
          <a:lstStyle/>
          <a:p>
            <a:pPr algn="l" indent="0" marL="0">
              <a:buNone/>
            </a:pPr>
            <a:r>
              <a:rPr lang="en-US" sz="1050" b="1" spc="180" kern="0" dirty="0">
                <a:solidFill>
                  <a:srgbClr val="D64525"/>
                </a:solidFill>
                <a:latin typeface="Courier New" pitchFamily="34" charset="0"/>
                <a:ea typeface="Courier New" pitchFamily="34" charset="-122"/>
                <a:cs typeface="Courier New" pitchFamily="34" charset="-120"/>
              </a:rPr>
              <a:t>INPUTS</a:t>
            </a:r>
            <a:endParaRPr lang="en-US" sz="1050" dirty="0"/>
          </a:p>
        </p:txBody>
      </p:sp>
      <p:sp>
        <p:nvSpPr>
          <p:cNvPr id="15" name="Text 13"/>
          <p:cNvSpPr txBox="1"/>
          <p:nvPr/>
        </p:nvSpPr>
        <p:spPr>
          <a:xfrm>
            <a:off x="877824" y="5029200"/>
            <a:ext cx="4888840" cy="585216"/>
          </a:xfrm>
          <a:prstGeom prst="rect">
            <a:avLst/>
          </a:prstGeom>
          <a:noFill/>
          <a:ln/>
        </p:spPr>
        <p:txBody>
          <a:bodyPr wrap="square" lIns="0" tIns="0" rIns="0" bIns="0" rtlCol="0" anchor="t"/>
          <a:lstStyle/>
          <a:p>
            <a:pPr algn="l" indent="0" marL="0">
              <a:lnSpc>
                <a:spcPts val="1650"/>
              </a:lnSpc>
              <a:buNone/>
            </a:pPr>
            <a:r>
              <a:rPr lang="en-US" sz="1200" dirty="0">
                <a:solidFill>
                  <a:srgbClr val="3D5A75"/>
                </a:solidFill>
                <a:latin typeface="Arial" pitchFamily="34" charset="0"/>
                <a:ea typeface="Arial" pitchFamily="34" charset="-122"/>
                <a:cs typeface="Arial" pitchFamily="34" charset="-120"/>
              </a:rPr>
              <a:t>/proc/stat, /proc/meminfo, /proc/uptime and per-process /proc/[pid]/stat, statm and status.</a:t>
            </a:r>
            <a:endParaRPr lang="en-US" sz="1200" dirty="0"/>
          </a:p>
        </p:txBody>
      </p:sp>
      <p:sp>
        <p:nvSpPr>
          <p:cNvPr id="16" name="Shape 14"/>
          <p:cNvSpPr/>
          <p:nvPr/>
        </p:nvSpPr>
        <p:spPr>
          <a:xfrm>
            <a:off x="6205576" y="4517136"/>
            <a:ext cx="5327752" cy="1170432"/>
          </a:xfrm>
          <a:prstGeom prst="rect">
            <a:avLst/>
          </a:prstGeom>
          <a:solidFill>
            <a:srgbClr val="FCFBF8"/>
          </a:solidFill>
          <a:ln w="12700">
            <a:solidFill>
              <a:srgbClr val="B9C6D4"/>
            </a:solidFill>
            <a:prstDash val="solid"/>
          </a:ln>
        </p:spPr>
      </p:sp>
      <p:sp>
        <p:nvSpPr>
          <p:cNvPr id="17" name="Text 15"/>
          <p:cNvSpPr txBox="1"/>
          <p:nvPr/>
        </p:nvSpPr>
        <p:spPr>
          <a:xfrm>
            <a:off x="6425032" y="4718304"/>
            <a:ext cx="4888840" cy="219456"/>
          </a:xfrm>
          <a:prstGeom prst="rect">
            <a:avLst/>
          </a:prstGeom>
          <a:noFill/>
          <a:ln/>
        </p:spPr>
        <p:txBody>
          <a:bodyPr wrap="square" lIns="0" tIns="0" rIns="0" bIns="0" rtlCol="0" anchor="ctr"/>
          <a:lstStyle/>
          <a:p>
            <a:pPr algn="l" indent="0" marL="0">
              <a:buNone/>
            </a:pPr>
            <a:r>
              <a:rPr lang="en-US" sz="1050" b="1" spc="180" kern="0" dirty="0">
                <a:solidFill>
                  <a:srgbClr val="D64525"/>
                </a:solidFill>
                <a:latin typeface="Courier New" pitchFamily="34" charset="0"/>
                <a:ea typeface="Courier New" pitchFamily="34" charset="-122"/>
                <a:cs typeface="Courier New" pitchFamily="34" charset="-120"/>
              </a:rPr>
              <a:t>OUTPUT</a:t>
            </a:r>
            <a:endParaRPr lang="en-US" sz="1050" dirty="0"/>
          </a:p>
        </p:txBody>
      </p:sp>
      <p:sp>
        <p:nvSpPr>
          <p:cNvPr id="18" name="Text 16"/>
          <p:cNvSpPr txBox="1"/>
          <p:nvPr/>
        </p:nvSpPr>
        <p:spPr>
          <a:xfrm>
            <a:off x="6425032" y="5029200"/>
            <a:ext cx="4888840" cy="585216"/>
          </a:xfrm>
          <a:prstGeom prst="rect">
            <a:avLst/>
          </a:prstGeom>
          <a:noFill/>
          <a:ln/>
        </p:spPr>
        <p:txBody>
          <a:bodyPr wrap="square" lIns="0" tIns="0" rIns="0" bIns="0" rtlCol="0" anchor="t"/>
          <a:lstStyle/>
          <a:p>
            <a:pPr algn="l" indent="0" marL="0">
              <a:lnSpc>
                <a:spcPts val="1650"/>
              </a:lnSpc>
              <a:buNone/>
            </a:pPr>
            <a:r>
              <a:rPr lang="en-US" sz="1200" dirty="0">
                <a:solidFill>
                  <a:srgbClr val="3D5A75"/>
                </a:solidFill>
                <a:latin typeface="Arial" pitchFamily="34" charset="0"/>
                <a:ea typeface="Arial" pitchFamily="34" charset="-122"/>
                <a:cs typeface="Arial" pitchFamily="34" charset="-120"/>
              </a:rPr>
              <a:t>Live CPU and memory readouts, a sortable process list, a process tree, an event log and signal control.</a:t>
            </a:r>
            <a:endParaRPr lang="en-US" sz="1200" dirty="0"/>
          </a:p>
        </p:txBody>
      </p:sp>
      <p:sp>
        <p:nvSpPr>
          <p:cNvPr id="19" name="Text 17"/>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03 / 23</a:t>
            </a:r>
            <a:endParaRPr lang="en-US" sz="1050" dirty="0"/>
          </a:p>
        </p:txBody>
      </p:sp>
      <p:sp>
        <p:nvSpPr>
          <p:cNvPr id="20" name="Text 18"/>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ABSTRACT</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03  /  EXISTING SYSTEM</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The tools that already do this</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All three work well. All three are compiled binaries you cannot read.</a:t>
            </a:r>
            <a:endParaRPr lang="en-US" sz="1300" dirty="0"/>
          </a:p>
        </p:txBody>
      </p:sp>
      <p:sp>
        <p:nvSpPr>
          <p:cNvPr id="5" name="Shape 3"/>
          <p:cNvSpPr/>
          <p:nvPr/>
        </p:nvSpPr>
        <p:spPr>
          <a:xfrm>
            <a:off x="658368" y="2103120"/>
            <a:ext cx="3503066" cy="3218688"/>
          </a:xfrm>
          <a:prstGeom prst="rect">
            <a:avLst/>
          </a:prstGeom>
          <a:solidFill>
            <a:srgbClr val="FCFBF8"/>
          </a:solidFill>
          <a:ln w="12700">
            <a:solidFill>
              <a:srgbClr val="B9C6D4"/>
            </a:solidFill>
            <a:prstDash val="solid"/>
          </a:ln>
        </p:spPr>
      </p:sp>
      <p:sp>
        <p:nvSpPr>
          <p:cNvPr id="6" name="Text 4"/>
          <p:cNvSpPr txBox="1"/>
          <p:nvPr/>
        </p:nvSpPr>
        <p:spPr>
          <a:xfrm>
            <a:off x="896112" y="2304288"/>
            <a:ext cx="3027578" cy="475488"/>
          </a:xfrm>
          <a:prstGeom prst="rect">
            <a:avLst/>
          </a:prstGeom>
          <a:noFill/>
          <a:ln/>
        </p:spPr>
        <p:txBody>
          <a:bodyPr wrap="square" lIns="0" tIns="0" rIns="0" bIns="0" rtlCol="0" anchor="ctr"/>
          <a:lstStyle/>
          <a:p>
            <a:pPr indent="0" marL="0">
              <a:buNone/>
            </a:pPr>
            <a:r>
              <a:rPr lang="en-US" sz="3000" b="1" dirty="0">
                <a:solidFill>
                  <a:srgbClr val="17324D"/>
                </a:solidFill>
                <a:latin typeface="Courier New" pitchFamily="34" charset="0"/>
                <a:ea typeface="Courier New" pitchFamily="34" charset="-122"/>
                <a:cs typeface="Courier New" pitchFamily="34" charset="-120"/>
              </a:rPr>
              <a:t>top</a:t>
            </a:r>
            <a:endParaRPr lang="en-US" sz="3000" dirty="0"/>
          </a:p>
        </p:txBody>
      </p:sp>
      <p:sp>
        <p:nvSpPr>
          <p:cNvPr id="7" name="Text 5"/>
          <p:cNvSpPr txBox="1"/>
          <p:nvPr/>
        </p:nvSpPr>
        <p:spPr>
          <a:xfrm>
            <a:off x="896112" y="2871216"/>
            <a:ext cx="3027578" cy="749808"/>
          </a:xfrm>
          <a:prstGeom prst="rect">
            <a:avLst/>
          </a:prstGeom>
          <a:noFill/>
          <a:ln/>
        </p:spPr>
        <p:txBody>
          <a:bodyPr wrap="square" lIns="0" tIns="0" rIns="0" bIns="0" rtlCol="0" anchor="t"/>
          <a:lstStyle/>
          <a:p>
            <a:pPr algn="l" indent="0" marL="0">
              <a:lnSpc>
                <a:spcPts val="1650"/>
              </a:lnSpc>
              <a:buNone/>
            </a:pPr>
            <a:r>
              <a:rPr lang="en-US" sz="1200" dirty="0">
                <a:solidFill>
                  <a:srgbClr val="3D5A75"/>
                </a:solidFill>
                <a:latin typeface="Arial" pitchFamily="34" charset="0"/>
                <a:ea typeface="Arial" pitchFamily="34" charset="-122"/>
                <a:cs typeface="Arial" pitchFamily="34" charset="-120"/>
              </a:rPr>
              <a:t>Live CPU, memory and a process list, refreshed on a timer.</a:t>
            </a:r>
            <a:endParaRPr lang="en-US" sz="1200" dirty="0"/>
          </a:p>
        </p:txBody>
      </p:sp>
      <p:sp>
        <p:nvSpPr>
          <p:cNvPr id="8" name="Text 6"/>
          <p:cNvSpPr txBox="1"/>
          <p:nvPr/>
        </p:nvSpPr>
        <p:spPr>
          <a:xfrm>
            <a:off x="896112" y="3840480"/>
            <a:ext cx="3027578" cy="219456"/>
          </a:xfrm>
          <a:prstGeom prst="rect">
            <a:avLst/>
          </a:prstGeom>
          <a:noFill/>
          <a:ln/>
        </p:spPr>
        <p:txBody>
          <a:bodyPr wrap="square" lIns="0" tIns="0" rIns="0" bIns="0" rtlCol="0" anchor="ctr"/>
          <a:lstStyle/>
          <a:p>
            <a:pPr algn="l" indent="0" marL="0">
              <a:buNone/>
            </a:pPr>
            <a:r>
              <a:rPr lang="en-US" sz="950" b="1" spc="180" kern="0" dirty="0">
                <a:solidFill>
                  <a:srgbClr val="D64525"/>
                </a:solidFill>
                <a:latin typeface="Courier New" pitchFamily="34" charset="0"/>
                <a:ea typeface="Courier New" pitchFamily="34" charset="-122"/>
                <a:cs typeface="Courier New" pitchFamily="34" charset="-120"/>
              </a:rPr>
              <a:t>LIMITATION</a:t>
            </a:r>
            <a:endParaRPr lang="en-US" sz="950" dirty="0"/>
          </a:p>
        </p:txBody>
      </p:sp>
      <p:sp>
        <p:nvSpPr>
          <p:cNvPr id="9" name="Text 7"/>
          <p:cNvSpPr txBox="1"/>
          <p:nvPr/>
        </p:nvSpPr>
        <p:spPr>
          <a:xfrm>
            <a:off x="896112" y="4114800"/>
            <a:ext cx="3027578" cy="1005840"/>
          </a:xfrm>
          <a:prstGeom prst="rect">
            <a:avLst/>
          </a:prstGeom>
          <a:noFill/>
          <a:ln/>
        </p:spPr>
        <p:txBody>
          <a:bodyPr wrap="square" lIns="0" tIns="0" rIns="0" bIns="0" rtlCol="0" anchor="t"/>
          <a:lstStyle/>
          <a:p>
            <a:pPr algn="l" indent="0" marL="0">
              <a:lnSpc>
                <a:spcPts val="1550"/>
              </a:lnSpc>
              <a:buNone/>
            </a:pPr>
            <a:r>
              <a:rPr lang="en-US" sz="1150" dirty="0">
                <a:solidFill>
                  <a:srgbClr val="7A8FA3"/>
                </a:solidFill>
                <a:latin typeface="Arial" pitchFamily="34" charset="0"/>
                <a:ea typeface="Arial" pitchFamily="34" charset="-122"/>
                <a:cs typeface="Arial" pitchFamily="34" charset="-120"/>
              </a:rPr>
              <a:t>No process tree, no event history, and its internals are not written to be read.</a:t>
            </a:r>
            <a:endParaRPr lang="en-US" sz="1150" dirty="0"/>
          </a:p>
        </p:txBody>
      </p:sp>
      <p:sp>
        <p:nvSpPr>
          <p:cNvPr id="10" name="Shape 8"/>
          <p:cNvSpPr/>
          <p:nvPr/>
        </p:nvSpPr>
        <p:spPr>
          <a:xfrm>
            <a:off x="4344314" y="2103120"/>
            <a:ext cx="3503066" cy="3218688"/>
          </a:xfrm>
          <a:prstGeom prst="rect">
            <a:avLst/>
          </a:prstGeom>
          <a:solidFill>
            <a:srgbClr val="FCFBF8"/>
          </a:solidFill>
          <a:ln w="12700">
            <a:solidFill>
              <a:srgbClr val="B9C6D4"/>
            </a:solidFill>
            <a:prstDash val="solid"/>
          </a:ln>
        </p:spPr>
      </p:sp>
      <p:sp>
        <p:nvSpPr>
          <p:cNvPr id="11" name="Text 9"/>
          <p:cNvSpPr txBox="1"/>
          <p:nvPr/>
        </p:nvSpPr>
        <p:spPr>
          <a:xfrm>
            <a:off x="4582058" y="2304288"/>
            <a:ext cx="3027578" cy="475488"/>
          </a:xfrm>
          <a:prstGeom prst="rect">
            <a:avLst/>
          </a:prstGeom>
          <a:noFill/>
          <a:ln/>
        </p:spPr>
        <p:txBody>
          <a:bodyPr wrap="square" lIns="0" tIns="0" rIns="0" bIns="0" rtlCol="0" anchor="ctr"/>
          <a:lstStyle/>
          <a:p>
            <a:pPr indent="0" marL="0">
              <a:buNone/>
            </a:pPr>
            <a:r>
              <a:rPr lang="en-US" sz="3000" b="1" dirty="0">
                <a:solidFill>
                  <a:srgbClr val="17324D"/>
                </a:solidFill>
                <a:latin typeface="Courier New" pitchFamily="34" charset="0"/>
                <a:ea typeface="Courier New" pitchFamily="34" charset="-122"/>
                <a:cs typeface="Courier New" pitchFamily="34" charset="-120"/>
              </a:rPr>
              <a:t>htop</a:t>
            </a:r>
            <a:endParaRPr lang="en-US" sz="3000" dirty="0"/>
          </a:p>
        </p:txBody>
      </p:sp>
      <p:sp>
        <p:nvSpPr>
          <p:cNvPr id="12" name="Text 10"/>
          <p:cNvSpPr txBox="1"/>
          <p:nvPr/>
        </p:nvSpPr>
        <p:spPr>
          <a:xfrm>
            <a:off x="4582058" y="2871216"/>
            <a:ext cx="3027578" cy="749808"/>
          </a:xfrm>
          <a:prstGeom prst="rect">
            <a:avLst/>
          </a:prstGeom>
          <a:noFill/>
          <a:ln/>
        </p:spPr>
        <p:txBody>
          <a:bodyPr wrap="square" lIns="0" tIns="0" rIns="0" bIns="0" rtlCol="0" anchor="t"/>
          <a:lstStyle/>
          <a:p>
            <a:pPr algn="l" indent="0" marL="0">
              <a:lnSpc>
                <a:spcPts val="1650"/>
              </a:lnSpc>
              <a:buNone/>
            </a:pPr>
            <a:r>
              <a:rPr lang="en-US" sz="1200" dirty="0">
                <a:solidFill>
                  <a:srgbClr val="3D5A75"/>
                </a:solidFill>
                <a:latin typeface="Arial" pitchFamily="34" charset="0"/>
                <a:ea typeface="Arial" pitchFamily="34" charset="-122"/>
                <a:cs typeface="Arial" pitchFamily="34" charset="-120"/>
              </a:rPr>
              <a:t>Adds colour, a tree view, mouse support and signal sending.</a:t>
            </a:r>
            <a:endParaRPr lang="en-US" sz="1200" dirty="0"/>
          </a:p>
        </p:txBody>
      </p:sp>
      <p:sp>
        <p:nvSpPr>
          <p:cNvPr id="13" name="Text 11"/>
          <p:cNvSpPr txBox="1"/>
          <p:nvPr/>
        </p:nvSpPr>
        <p:spPr>
          <a:xfrm>
            <a:off x="4582058" y="3840480"/>
            <a:ext cx="3027578" cy="219456"/>
          </a:xfrm>
          <a:prstGeom prst="rect">
            <a:avLst/>
          </a:prstGeom>
          <a:noFill/>
          <a:ln/>
        </p:spPr>
        <p:txBody>
          <a:bodyPr wrap="square" lIns="0" tIns="0" rIns="0" bIns="0" rtlCol="0" anchor="ctr"/>
          <a:lstStyle/>
          <a:p>
            <a:pPr algn="l" indent="0" marL="0">
              <a:buNone/>
            </a:pPr>
            <a:r>
              <a:rPr lang="en-US" sz="950" b="1" spc="180" kern="0" dirty="0">
                <a:solidFill>
                  <a:srgbClr val="D64525"/>
                </a:solidFill>
                <a:latin typeface="Courier New" pitchFamily="34" charset="0"/>
                <a:ea typeface="Courier New" pitchFamily="34" charset="-122"/>
                <a:cs typeface="Courier New" pitchFamily="34" charset="-120"/>
              </a:rPr>
              <a:t>LIMITATION</a:t>
            </a:r>
            <a:endParaRPr lang="en-US" sz="950" dirty="0"/>
          </a:p>
        </p:txBody>
      </p:sp>
      <p:sp>
        <p:nvSpPr>
          <p:cNvPr id="14" name="Text 12"/>
          <p:cNvSpPr txBox="1"/>
          <p:nvPr/>
        </p:nvSpPr>
        <p:spPr>
          <a:xfrm>
            <a:off x="4582058" y="4114800"/>
            <a:ext cx="3027578" cy="1005840"/>
          </a:xfrm>
          <a:prstGeom prst="rect">
            <a:avLst/>
          </a:prstGeom>
          <a:noFill/>
          <a:ln/>
        </p:spPr>
        <p:txBody>
          <a:bodyPr wrap="square" lIns="0" tIns="0" rIns="0" bIns="0" rtlCol="0" anchor="t"/>
          <a:lstStyle/>
          <a:p>
            <a:pPr algn="l" indent="0" marL="0">
              <a:lnSpc>
                <a:spcPts val="1550"/>
              </a:lnSpc>
              <a:buNone/>
            </a:pPr>
            <a:r>
              <a:rPr lang="en-US" sz="1150" dirty="0">
                <a:solidFill>
                  <a:srgbClr val="7A8FA3"/>
                </a:solidFill>
                <a:latin typeface="Arial" pitchFamily="34" charset="0"/>
                <a:ea typeface="Arial" pitchFamily="34" charset="-122"/>
                <a:cs typeface="Arial" pitchFamily="34" charset="-120"/>
              </a:rPr>
              <a:t>Still a black box at the point of use: you see the output, never the computation.</a:t>
            </a:r>
            <a:endParaRPr lang="en-US" sz="1150" dirty="0"/>
          </a:p>
        </p:txBody>
      </p:sp>
      <p:sp>
        <p:nvSpPr>
          <p:cNvPr id="15" name="Shape 13"/>
          <p:cNvSpPr/>
          <p:nvPr/>
        </p:nvSpPr>
        <p:spPr>
          <a:xfrm>
            <a:off x="8030261" y="2103120"/>
            <a:ext cx="3503066" cy="3218688"/>
          </a:xfrm>
          <a:prstGeom prst="rect">
            <a:avLst/>
          </a:prstGeom>
          <a:solidFill>
            <a:srgbClr val="FCFBF8"/>
          </a:solidFill>
          <a:ln w="12700">
            <a:solidFill>
              <a:srgbClr val="B9C6D4"/>
            </a:solidFill>
            <a:prstDash val="solid"/>
          </a:ln>
        </p:spPr>
      </p:sp>
      <p:sp>
        <p:nvSpPr>
          <p:cNvPr id="16" name="Text 14"/>
          <p:cNvSpPr txBox="1"/>
          <p:nvPr/>
        </p:nvSpPr>
        <p:spPr>
          <a:xfrm>
            <a:off x="8268005" y="2304288"/>
            <a:ext cx="3027578" cy="475488"/>
          </a:xfrm>
          <a:prstGeom prst="rect">
            <a:avLst/>
          </a:prstGeom>
          <a:noFill/>
          <a:ln/>
        </p:spPr>
        <p:txBody>
          <a:bodyPr wrap="square" lIns="0" tIns="0" rIns="0" bIns="0" rtlCol="0" anchor="ctr"/>
          <a:lstStyle/>
          <a:p>
            <a:pPr indent="0" marL="0">
              <a:buNone/>
            </a:pPr>
            <a:r>
              <a:rPr lang="en-US" sz="3000" b="1" dirty="0">
                <a:solidFill>
                  <a:srgbClr val="17324D"/>
                </a:solidFill>
                <a:latin typeface="Courier New" pitchFamily="34" charset="0"/>
                <a:ea typeface="Courier New" pitchFamily="34" charset="-122"/>
                <a:cs typeface="Courier New" pitchFamily="34" charset="-120"/>
              </a:rPr>
              <a:t>ps</a:t>
            </a:r>
            <a:endParaRPr lang="en-US" sz="3000" dirty="0"/>
          </a:p>
        </p:txBody>
      </p:sp>
      <p:sp>
        <p:nvSpPr>
          <p:cNvPr id="17" name="Text 15"/>
          <p:cNvSpPr txBox="1"/>
          <p:nvPr/>
        </p:nvSpPr>
        <p:spPr>
          <a:xfrm>
            <a:off x="8268005" y="2871216"/>
            <a:ext cx="3027578" cy="749808"/>
          </a:xfrm>
          <a:prstGeom prst="rect">
            <a:avLst/>
          </a:prstGeom>
          <a:noFill/>
          <a:ln/>
        </p:spPr>
        <p:txBody>
          <a:bodyPr wrap="square" lIns="0" tIns="0" rIns="0" bIns="0" rtlCol="0" anchor="t"/>
          <a:lstStyle/>
          <a:p>
            <a:pPr algn="l" indent="0" marL="0">
              <a:lnSpc>
                <a:spcPts val="1650"/>
              </a:lnSpc>
              <a:buNone/>
            </a:pPr>
            <a:r>
              <a:rPr lang="en-US" sz="1200" dirty="0">
                <a:solidFill>
                  <a:srgbClr val="3D5A75"/>
                </a:solidFill>
                <a:latin typeface="Arial" pitchFamily="34" charset="0"/>
                <a:ea typeface="Arial" pitchFamily="34" charset="-122"/>
                <a:cs typeface="Arial" pitchFamily="34" charset="-120"/>
              </a:rPr>
              <a:t>Snapshots process state on demand, scriptable and precise.</a:t>
            </a:r>
            <a:endParaRPr lang="en-US" sz="1200" dirty="0"/>
          </a:p>
        </p:txBody>
      </p:sp>
      <p:sp>
        <p:nvSpPr>
          <p:cNvPr id="18" name="Text 16"/>
          <p:cNvSpPr txBox="1"/>
          <p:nvPr/>
        </p:nvSpPr>
        <p:spPr>
          <a:xfrm>
            <a:off x="8268005" y="3840480"/>
            <a:ext cx="3027578" cy="219456"/>
          </a:xfrm>
          <a:prstGeom prst="rect">
            <a:avLst/>
          </a:prstGeom>
          <a:noFill/>
          <a:ln/>
        </p:spPr>
        <p:txBody>
          <a:bodyPr wrap="square" lIns="0" tIns="0" rIns="0" bIns="0" rtlCol="0" anchor="ctr"/>
          <a:lstStyle/>
          <a:p>
            <a:pPr algn="l" indent="0" marL="0">
              <a:buNone/>
            </a:pPr>
            <a:r>
              <a:rPr lang="en-US" sz="950" b="1" spc="180" kern="0" dirty="0">
                <a:solidFill>
                  <a:srgbClr val="D64525"/>
                </a:solidFill>
                <a:latin typeface="Courier New" pitchFamily="34" charset="0"/>
                <a:ea typeface="Courier New" pitchFamily="34" charset="-122"/>
                <a:cs typeface="Courier New" pitchFamily="34" charset="-120"/>
              </a:rPr>
              <a:t>LIMITATION</a:t>
            </a:r>
            <a:endParaRPr lang="en-US" sz="950" dirty="0"/>
          </a:p>
        </p:txBody>
      </p:sp>
      <p:sp>
        <p:nvSpPr>
          <p:cNvPr id="19" name="Text 17"/>
          <p:cNvSpPr txBox="1"/>
          <p:nvPr/>
        </p:nvSpPr>
        <p:spPr>
          <a:xfrm>
            <a:off x="8268005" y="4114800"/>
            <a:ext cx="3027578" cy="1005840"/>
          </a:xfrm>
          <a:prstGeom prst="rect">
            <a:avLst/>
          </a:prstGeom>
          <a:noFill/>
          <a:ln/>
        </p:spPr>
        <p:txBody>
          <a:bodyPr wrap="square" lIns="0" tIns="0" rIns="0" bIns="0" rtlCol="0" anchor="t"/>
          <a:lstStyle/>
          <a:p>
            <a:pPr algn="l" indent="0" marL="0">
              <a:lnSpc>
                <a:spcPts val="1550"/>
              </a:lnSpc>
              <a:buNone/>
            </a:pPr>
            <a:r>
              <a:rPr lang="en-US" sz="1150" dirty="0">
                <a:solidFill>
                  <a:srgbClr val="7A8FA3"/>
                </a:solidFill>
                <a:latin typeface="Arial" pitchFamily="34" charset="0"/>
                <a:ea typeface="Arial" pitchFamily="34" charset="-122"/>
                <a:cs typeface="Arial" pitchFamily="34" charset="-120"/>
              </a:rPr>
              <a:t>No live view and no built-in control, so it answers one question at one instant.</a:t>
            </a:r>
            <a:endParaRPr lang="en-US" sz="1150" dirty="0"/>
          </a:p>
        </p:txBody>
      </p:sp>
      <p:sp>
        <p:nvSpPr>
          <p:cNvPr id="20" name="Text 18"/>
          <p:cNvSpPr txBox="1"/>
          <p:nvPr/>
        </p:nvSpPr>
        <p:spPr>
          <a:xfrm>
            <a:off x="658368" y="5577840"/>
            <a:ext cx="10874959" cy="274320"/>
          </a:xfrm>
          <a:prstGeom prst="rect">
            <a:avLst/>
          </a:prstGeom>
          <a:noFill/>
          <a:ln/>
        </p:spPr>
        <p:txBody>
          <a:bodyPr wrap="square" lIns="0" tIns="0" rIns="0" bIns="0" rtlCol="0" anchor="t"/>
          <a:lstStyle/>
          <a:p>
            <a:pPr algn="l" indent="0" marL="0">
              <a:lnSpc>
                <a:spcPts val="1900"/>
              </a:lnSpc>
              <a:buNone/>
            </a:pPr>
            <a:r>
              <a:rPr lang="en-US" sz="1250" b="1" dirty="0">
                <a:solidFill>
                  <a:srgbClr val="17324D"/>
                </a:solidFill>
                <a:latin typeface="Arial" pitchFamily="34" charset="0"/>
                <a:ea typeface="Arial" pitchFamily="34" charset="-122"/>
                <a:cs typeface="Arial" pitchFamily="34" charset="-120"/>
              </a:rPr>
              <a:t>Kernel Monitor is not proposed as a replacement. It is proposed as the readable one.</a:t>
            </a:r>
            <a:endParaRPr lang="en-US" sz="1250" dirty="0"/>
          </a:p>
        </p:txBody>
      </p:sp>
      <p:sp>
        <p:nvSpPr>
          <p:cNvPr id="21" name="Text 19"/>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04 / 23</a:t>
            </a:r>
            <a:endParaRPr lang="en-US" sz="1050" dirty="0"/>
          </a:p>
        </p:txBody>
      </p:sp>
      <p:sp>
        <p:nvSpPr>
          <p:cNvPr id="22" name="Text 20"/>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EXISTING SYSTEM</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04  /  SYLLABUS MAPPING</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Course outcomes CO-1 to CO-6</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Every claim below points at a specific part of the program.</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2029968"/>
          <a:ext cx="10874959" cy="3685032"/>
        </p:xfrm>
        <a:graphic>
          <a:graphicData uri="http://schemas.openxmlformats.org/drawingml/2006/table">
            <a:tbl>
              <a:tblPr/>
              <a:tblGrid>
                <a:gridCol w="658368"/>
                <a:gridCol w="3255264"/>
                <a:gridCol w="6958584"/>
              </a:tblGrid>
              <a:tr h="283464">
                <a:tc>
                  <a:txBody>
                    <a:bodyPr/>
                    <a:lstStyle/>
                    <a:p>
                      <a:pPr indent="0" marL="0">
                        <a:buNone/>
                      </a:pPr>
                      <a:r>
                        <a:rPr lang="en-US" sz="1000" b="1" dirty="0">
                          <a:solidFill>
                            <a:srgbClr val="17324D"/>
                          </a:solidFill>
                          <a:latin typeface="Courier New" pitchFamily="34" charset="0"/>
                          <a:ea typeface="Courier New" pitchFamily="34" charset="-122"/>
                          <a:cs typeface="Courier New" pitchFamily="34" charset="-120"/>
                        </a:rPr>
                        <a:t>CO</a:t>
                      </a:r>
                      <a:endParaRPr lang="en-US" sz="100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00" b="1" dirty="0">
                          <a:solidFill>
                            <a:srgbClr val="17324D"/>
                          </a:solidFill>
                          <a:latin typeface="Courier New" pitchFamily="34" charset="0"/>
                          <a:ea typeface="Courier New" pitchFamily="34" charset="-122"/>
                          <a:cs typeface="Courier New" pitchFamily="34" charset="-120"/>
                        </a:rPr>
                        <a:t>SYLLABUS TOPIC</a:t>
                      </a:r>
                      <a:endParaRPr lang="en-US" sz="100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00" b="1" dirty="0">
                          <a:solidFill>
                            <a:srgbClr val="17324D"/>
                          </a:solidFill>
                          <a:latin typeface="Courier New" pitchFamily="34" charset="0"/>
                          <a:ea typeface="Courier New" pitchFamily="34" charset="-122"/>
                          <a:cs typeface="Courier New" pitchFamily="34" charset="-120"/>
                        </a:rPr>
                        <a:t>WHERE IT APPEARS IN THE PROJECT</a:t>
                      </a:r>
                      <a:endParaRPr lang="en-US" sz="100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CO-1</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User space and kernel space; system calls</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The whole tool is user space. It crosses the boundary only via open, read, close and kill.</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CO-1</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Linux architecture and system software stack</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/proc is a kernel filesystem surfaced through the VFS, read with ordinary file I/O.</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CO-2</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Process abstraction, lifecycle and states</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PID, PPID and field 3 of /proc/[pid]/stat drive the list, the tree and the STATE column.</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CO-2</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Scheduling concepts and process pitfalls</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CPU% is a delta of two jiffy samples. zombie.c and orphan.c create both pitfalls.</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CO-3</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Signals, handlers and POSIX signal code</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kill() sends four signals; a sigaction handler catches SIGINT and SIGTERM.</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CO-3</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Pipes, FIFOs, groups, sessions, job control</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pipeline.c, fifo.c, jobctl.c; group, session and foreground show in the detail view.</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CO-4</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Virtual memory, page tables, demand paging</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Minor and major fault rates in the detail view; vmem.c shows pagemap and demand paging.</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CO-4</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Address space, malloc, copy-on-write, errors</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vmem.c: /proc/self/maps, fork copy-on-write, SIGSEGV codes, leak and overflow under ASan.</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CO-5</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VFS, inodes, directory entries and ext4</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fileio.c: statfs magic numbers, hard and soft links, unlink, ext4 journal mode.</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CO-5</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Descriptors, buffered I/O, memory mapping</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fileio.c: dup and offsets, 4081 times fewer system calls with stdio, mmap and msync.</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CO-6</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Threads, mutexes and condition variables</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The collector thread: one mutex, a timed condition variable, a generation counter.</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283464">
                <a:tc>
                  <a:txBody>
                    <a:bodyPr/>
                    <a:lstStyle/>
                    <a:p>
                      <a:pPr indent="0" marL="0">
                        <a:buNone/>
                      </a:pPr>
                      <a:r>
                        <a:rPr lang="en-US" sz="1050" b="1" dirty="0">
                          <a:solidFill>
                            <a:srgbClr val="D64525"/>
                          </a:solidFill>
                          <a:latin typeface="Courier New" pitchFamily="34" charset="0"/>
                          <a:ea typeface="Courier New" pitchFamily="34" charset="-122"/>
                          <a:cs typeface="Courier New" pitchFamily="34" charset="-120"/>
                        </a:rPr>
                        <a:t>CO-6</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17324D"/>
                          </a:solidFill>
                          <a:latin typeface="Arial" pitchFamily="34" charset="0"/>
                          <a:ea typeface="Arial" pitchFamily="34" charset="-122"/>
                          <a:cs typeface="Arial" pitchFamily="34" charset="-120"/>
                        </a:rPr>
                        <a:t>Races, semaphores, deadlock, advanced locks</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40" dirty="0">
                          <a:solidFill>
                            <a:srgbClr val="3D5A75"/>
                          </a:solidFill>
                          <a:latin typeface="Arial" pitchFamily="34" charset="0"/>
                          <a:ea typeface="Arial" pitchFamily="34" charset="-122"/>
                          <a:cs typeface="Arial" pitchFamily="34" charset="-120"/>
                        </a:rPr>
                        <a:t>threadsync.c: lost updates, semaphore, deadlock, read-write lock, barrier.</a:t>
                      </a:r>
                      <a:endParaRPr lang="en-US" sz="1040" dirty="0">
                        <a:latin typeface="Arial" charset="0"/>
                        <a:ea typeface="Arial" charset="0"/>
                        <a:cs typeface="Arial" charset="0"/>
                      </a:endParaRPr>
                    </a:p>
                  </a:txBody>
                  <a:tcPr marL="91440" marR="91440"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bl>
          </a:graphicData>
        </a:graphic>
      </p:graphicFrame>
      <p:sp>
        <p:nvSpPr>
          <p:cNvPr id="6" name="Text 3"/>
          <p:cNvSpPr txBox="1"/>
          <p:nvPr/>
        </p:nvSpPr>
        <p:spPr>
          <a:xfrm>
            <a:off x="658368" y="5760720"/>
            <a:ext cx="10874959" cy="457200"/>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CO-4 to CO-6 are applied in the vmem, fileio and threadsync demo programs, and in the monitor's page fault fields and collector thread. Each demo is a single C file.</a:t>
            </a:r>
            <a:endParaRPr lang="en-US" sz="1080" dirty="0"/>
          </a:p>
        </p:txBody>
      </p:sp>
      <p:sp>
        <p:nvSpPr>
          <p:cNvPr id="7" name="Text 4"/>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05 / 23</a:t>
            </a:r>
            <a:endParaRPr lang="en-US" sz="1050" dirty="0"/>
          </a:p>
        </p:txBody>
      </p:sp>
      <p:sp>
        <p:nvSpPr>
          <p:cNvPr id="8" name="Text 5"/>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SYLLABUS MAPPING</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20"/>
                                        <p:tgtEl>
                                          <p:spTgt spid="6"/>
                                        </p:tgtEl>
                                      </p:cBhvr>
                                    </p:animEffect>
                                    <p:anim calcmode="lin" valueType="num">
                                      <p:cBhvr additive="base">
                                        <p:cTn id="20" dur="420" fill="hold"/>
                                        <p:tgtEl>
                                          <p:spTgt spid="6"/>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05  /  CO-1  ·  THE OS AS A SERVICE LAYER</a:t>
            </a:r>
            <a:endParaRPr lang="en-US" sz="1100" dirty="0"/>
          </a:p>
        </p:txBody>
      </p:sp>
      <p:sp>
        <p:nvSpPr>
          <p:cNvPr id="3" name="Text 1"/>
          <p:cNvSpPr txBox="1"/>
          <p:nvPr/>
        </p:nvSpPr>
        <p:spPr>
          <a:xfrm>
            <a:off x="658368" y="768096"/>
            <a:ext cx="566928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Crossing from user space</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into the kernel</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A handful of system calls is the entire width of the interface.</a:t>
            </a:r>
            <a:endParaRPr lang="en-US" sz="1300" dirty="0"/>
          </a:p>
        </p:txBody>
      </p:sp>
      <p:sp>
        <p:nvSpPr>
          <p:cNvPr id="5" name="Shape 3"/>
          <p:cNvSpPr/>
          <p:nvPr/>
        </p:nvSpPr>
        <p:spPr>
          <a:xfrm>
            <a:off x="658368" y="2395728"/>
            <a:ext cx="5577840" cy="512064"/>
          </a:xfrm>
          <a:prstGeom prst="rect">
            <a:avLst/>
          </a:prstGeom>
          <a:solidFill>
            <a:srgbClr val="FCFBF8"/>
          </a:solidFill>
          <a:ln w="12700">
            <a:solidFill>
              <a:srgbClr val="B9C6D4"/>
            </a:solidFill>
            <a:prstDash val="solid"/>
          </a:ln>
        </p:spPr>
      </p:sp>
      <p:sp>
        <p:nvSpPr>
          <p:cNvPr id="6" name="Text 4"/>
          <p:cNvSpPr txBox="1"/>
          <p:nvPr/>
        </p:nvSpPr>
        <p:spPr>
          <a:xfrm>
            <a:off x="877824" y="2514600"/>
            <a:ext cx="3931920" cy="274320"/>
          </a:xfrm>
          <a:prstGeom prst="rect">
            <a:avLst/>
          </a:prstGeom>
          <a:noFill/>
          <a:ln/>
        </p:spPr>
        <p:txBody>
          <a:bodyPr wrap="square" lIns="0" tIns="0" rIns="0" bIns="0" rtlCol="0" anchor="ctr"/>
          <a:lstStyle/>
          <a:p>
            <a:pPr indent="0" marL="0">
              <a:buNone/>
            </a:pPr>
            <a:r>
              <a:rPr lang="en-US" sz="1250" b="1" dirty="0">
                <a:solidFill>
                  <a:srgbClr val="17324D"/>
                </a:solidFill>
                <a:latin typeface="Courier New" pitchFamily="34" charset="0"/>
                <a:ea typeface="Courier New" pitchFamily="34" charset="-122"/>
                <a:cs typeface="Courier New" pitchFamily="34" charset="-120"/>
              </a:rPr>
              <a:t>kernel-monitor</a:t>
            </a:r>
            <a:endParaRPr lang="en-US" sz="1250" dirty="0"/>
          </a:p>
        </p:txBody>
      </p:sp>
      <p:sp>
        <p:nvSpPr>
          <p:cNvPr id="7" name="Text 5"/>
          <p:cNvSpPr txBox="1"/>
          <p:nvPr/>
        </p:nvSpPr>
        <p:spPr>
          <a:xfrm>
            <a:off x="4773168" y="2532888"/>
            <a:ext cx="1243584" cy="237744"/>
          </a:xfrm>
          <a:prstGeom prst="rect">
            <a:avLst/>
          </a:prstGeom>
          <a:noFill/>
          <a:ln/>
        </p:spPr>
        <p:txBody>
          <a:bodyPr wrap="square" lIns="0" tIns="0" rIns="0" bIns="0" rtlCol="0" anchor="ctr"/>
          <a:lstStyle/>
          <a:p>
            <a:pPr algn="r" indent="0" marL="0">
              <a:lnSpc>
                <a:spcPts val="1700"/>
              </a:lnSpc>
              <a:buNone/>
            </a:pPr>
            <a:r>
              <a:rPr lang="en-US" sz="950" dirty="0">
                <a:solidFill>
                  <a:srgbClr val="7A8FA3"/>
                </a:solidFill>
                <a:latin typeface="Courier New" pitchFamily="34" charset="0"/>
                <a:ea typeface="Courier New" pitchFamily="34" charset="-122"/>
                <a:cs typeface="Courier New" pitchFamily="34" charset="-120"/>
              </a:rPr>
              <a:t>user space</a:t>
            </a:r>
            <a:endParaRPr lang="en-US" sz="950" dirty="0"/>
          </a:p>
        </p:txBody>
      </p:sp>
      <p:sp>
        <p:nvSpPr>
          <p:cNvPr id="8" name="Shape 6"/>
          <p:cNvSpPr/>
          <p:nvPr/>
        </p:nvSpPr>
        <p:spPr>
          <a:xfrm>
            <a:off x="658368" y="3017520"/>
            <a:ext cx="5577840" cy="512064"/>
          </a:xfrm>
          <a:prstGeom prst="rect">
            <a:avLst/>
          </a:prstGeom>
          <a:solidFill>
            <a:srgbClr val="FCFBF8"/>
          </a:solidFill>
          <a:ln w="12700">
            <a:solidFill>
              <a:srgbClr val="B9C6D4"/>
            </a:solidFill>
            <a:prstDash val="solid"/>
          </a:ln>
        </p:spPr>
      </p:sp>
      <p:sp>
        <p:nvSpPr>
          <p:cNvPr id="9" name="Text 7"/>
          <p:cNvSpPr txBox="1"/>
          <p:nvPr/>
        </p:nvSpPr>
        <p:spPr>
          <a:xfrm>
            <a:off x="877824" y="3136392"/>
            <a:ext cx="3931920" cy="274320"/>
          </a:xfrm>
          <a:prstGeom prst="rect">
            <a:avLst/>
          </a:prstGeom>
          <a:noFill/>
          <a:ln/>
        </p:spPr>
        <p:txBody>
          <a:bodyPr wrap="square" lIns="0" tIns="0" rIns="0" bIns="0" rtlCol="0" anchor="ctr"/>
          <a:lstStyle/>
          <a:p>
            <a:pPr indent="0" marL="0">
              <a:buNone/>
            </a:pPr>
            <a:r>
              <a:rPr lang="en-US" sz="1250" b="1" dirty="0">
                <a:solidFill>
                  <a:srgbClr val="17324D"/>
                </a:solidFill>
                <a:latin typeface="Courier New" pitchFamily="34" charset="0"/>
                <a:ea typeface="Courier New" pitchFamily="34" charset="-122"/>
                <a:cs typeface="Courier New" pitchFamily="34" charset="-120"/>
              </a:rPr>
              <a:t>glibc  ·  POSIX wrappers</a:t>
            </a:r>
            <a:endParaRPr lang="en-US" sz="1250" dirty="0"/>
          </a:p>
        </p:txBody>
      </p:sp>
      <p:sp>
        <p:nvSpPr>
          <p:cNvPr id="10" name="Text 8"/>
          <p:cNvSpPr txBox="1"/>
          <p:nvPr/>
        </p:nvSpPr>
        <p:spPr>
          <a:xfrm>
            <a:off x="4773168" y="3154680"/>
            <a:ext cx="1243584" cy="237744"/>
          </a:xfrm>
          <a:prstGeom prst="rect">
            <a:avLst/>
          </a:prstGeom>
          <a:noFill/>
          <a:ln/>
        </p:spPr>
        <p:txBody>
          <a:bodyPr wrap="square" lIns="0" tIns="0" rIns="0" bIns="0" rtlCol="0" anchor="ctr"/>
          <a:lstStyle/>
          <a:p>
            <a:pPr algn="r" indent="0" marL="0">
              <a:lnSpc>
                <a:spcPts val="1700"/>
              </a:lnSpc>
              <a:buNone/>
            </a:pPr>
            <a:r>
              <a:rPr lang="en-US" sz="950" dirty="0">
                <a:solidFill>
                  <a:srgbClr val="7A8FA3"/>
                </a:solidFill>
                <a:latin typeface="Courier New" pitchFamily="34" charset="0"/>
                <a:ea typeface="Courier New" pitchFamily="34" charset="-122"/>
                <a:cs typeface="Courier New" pitchFamily="34" charset="-120"/>
              </a:rPr>
              <a:t>user space</a:t>
            </a:r>
            <a:endParaRPr lang="en-US" sz="950" dirty="0"/>
          </a:p>
        </p:txBody>
      </p:sp>
      <p:sp>
        <p:nvSpPr>
          <p:cNvPr id="11" name="Shape 9"/>
          <p:cNvSpPr/>
          <p:nvPr/>
        </p:nvSpPr>
        <p:spPr>
          <a:xfrm>
            <a:off x="658368" y="3639312"/>
            <a:ext cx="5577840" cy="512064"/>
          </a:xfrm>
          <a:prstGeom prst="rect">
            <a:avLst/>
          </a:prstGeom>
          <a:solidFill>
            <a:srgbClr val="EFE3DC"/>
          </a:solidFill>
          <a:ln w="19050">
            <a:solidFill>
              <a:srgbClr val="D64525"/>
            </a:solidFill>
            <a:prstDash val="solid"/>
          </a:ln>
        </p:spPr>
      </p:sp>
      <p:sp>
        <p:nvSpPr>
          <p:cNvPr id="12" name="Text 10"/>
          <p:cNvSpPr txBox="1"/>
          <p:nvPr/>
        </p:nvSpPr>
        <p:spPr>
          <a:xfrm>
            <a:off x="877824" y="3758184"/>
            <a:ext cx="3931920" cy="274320"/>
          </a:xfrm>
          <a:prstGeom prst="rect">
            <a:avLst/>
          </a:prstGeom>
          <a:noFill/>
          <a:ln/>
        </p:spPr>
        <p:txBody>
          <a:bodyPr wrap="square" lIns="0" tIns="0" rIns="0" bIns="0" rtlCol="0" anchor="ctr"/>
          <a:lstStyle/>
          <a:p>
            <a:pPr indent="0" marL="0">
              <a:buNone/>
            </a:pPr>
            <a:r>
              <a:rPr lang="en-US" sz="1250" b="1" dirty="0">
                <a:solidFill>
                  <a:srgbClr val="D64525"/>
                </a:solidFill>
                <a:latin typeface="Courier New" pitchFamily="34" charset="0"/>
                <a:ea typeface="Courier New" pitchFamily="34" charset="-122"/>
                <a:cs typeface="Courier New" pitchFamily="34" charset="-120"/>
              </a:rPr>
              <a:t>system call boundary</a:t>
            </a:r>
            <a:endParaRPr lang="en-US" sz="1250" dirty="0"/>
          </a:p>
        </p:txBody>
      </p:sp>
      <p:sp>
        <p:nvSpPr>
          <p:cNvPr id="13" name="Shape 11"/>
          <p:cNvSpPr/>
          <p:nvPr/>
        </p:nvSpPr>
        <p:spPr>
          <a:xfrm>
            <a:off x="658368" y="4261104"/>
            <a:ext cx="5577840" cy="512064"/>
          </a:xfrm>
          <a:prstGeom prst="rect">
            <a:avLst/>
          </a:prstGeom>
          <a:solidFill>
            <a:srgbClr val="E4EAF0"/>
          </a:solidFill>
          <a:ln w="12700">
            <a:solidFill>
              <a:srgbClr val="B9C6D4"/>
            </a:solidFill>
            <a:prstDash val="solid"/>
          </a:ln>
        </p:spPr>
      </p:sp>
      <p:sp>
        <p:nvSpPr>
          <p:cNvPr id="14" name="Text 12"/>
          <p:cNvSpPr txBox="1"/>
          <p:nvPr/>
        </p:nvSpPr>
        <p:spPr>
          <a:xfrm>
            <a:off x="877824" y="4379976"/>
            <a:ext cx="3931920" cy="274320"/>
          </a:xfrm>
          <a:prstGeom prst="rect">
            <a:avLst/>
          </a:prstGeom>
          <a:noFill/>
          <a:ln/>
        </p:spPr>
        <p:txBody>
          <a:bodyPr wrap="square" lIns="0" tIns="0" rIns="0" bIns="0" rtlCol="0" anchor="ctr"/>
          <a:lstStyle/>
          <a:p>
            <a:pPr indent="0" marL="0">
              <a:buNone/>
            </a:pPr>
            <a:r>
              <a:rPr lang="en-US" sz="1250" b="1" dirty="0">
                <a:solidFill>
                  <a:srgbClr val="17324D"/>
                </a:solidFill>
                <a:latin typeface="Courier New" pitchFamily="34" charset="0"/>
                <a:ea typeface="Courier New" pitchFamily="34" charset="-122"/>
                <a:cs typeface="Courier New" pitchFamily="34" charset="-120"/>
              </a:rPr>
              <a:t>VFS  ·  procfs</a:t>
            </a:r>
            <a:endParaRPr lang="en-US" sz="1250" dirty="0"/>
          </a:p>
        </p:txBody>
      </p:sp>
      <p:sp>
        <p:nvSpPr>
          <p:cNvPr id="15" name="Text 13"/>
          <p:cNvSpPr txBox="1"/>
          <p:nvPr/>
        </p:nvSpPr>
        <p:spPr>
          <a:xfrm>
            <a:off x="4773168" y="4398264"/>
            <a:ext cx="1243584" cy="237744"/>
          </a:xfrm>
          <a:prstGeom prst="rect">
            <a:avLst/>
          </a:prstGeom>
          <a:noFill/>
          <a:ln/>
        </p:spPr>
        <p:txBody>
          <a:bodyPr wrap="square" lIns="0" tIns="0" rIns="0" bIns="0" rtlCol="0" anchor="ctr"/>
          <a:lstStyle/>
          <a:p>
            <a:pPr algn="r" indent="0" marL="0">
              <a:lnSpc>
                <a:spcPts val="1700"/>
              </a:lnSpc>
              <a:buNone/>
            </a:pPr>
            <a:r>
              <a:rPr lang="en-US" sz="950" dirty="0">
                <a:solidFill>
                  <a:srgbClr val="7A8FA3"/>
                </a:solidFill>
                <a:latin typeface="Courier New" pitchFamily="34" charset="0"/>
                <a:ea typeface="Courier New" pitchFamily="34" charset="-122"/>
                <a:cs typeface="Courier New" pitchFamily="34" charset="-120"/>
              </a:rPr>
              <a:t>kernel space</a:t>
            </a:r>
            <a:endParaRPr lang="en-US" sz="950" dirty="0"/>
          </a:p>
        </p:txBody>
      </p:sp>
      <p:sp>
        <p:nvSpPr>
          <p:cNvPr id="16" name="Shape 14"/>
          <p:cNvSpPr/>
          <p:nvPr/>
        </p:nvSpPr>
        <p:spPr>
          <a:xfrm>
            <a:off x="658368" y="4882896"/>
            <a:ext cx="5577840" cy="512064"/>
          </a:xfrm>
          <a:prstGeom prst="rect">
            <a:avLst/>
          </a:prstGeom>
          <a:solidFill>
            <a:srgbClr val="E4EAF0"/>
          </a:solidFill>
          <a:ln w="12700">
            <a:solidFill>
              <a:srgbClr val="B9C6D4"/>
            </a:solidFill>
            <a:prstDash val="solid"/>
          </a:ln>
        </p:spPr>
      </p:sp>
      <p:sp>
        <p:nvSpPr>
          <p:cNvPr id="17" name="Text 15"/>
          <p:cNvSpPr txBox="1"/>
          <p:nvPr/>
        </p:nvSpPr>
        <p:spPr>
          <a:xfrm>
            <a:off x="877824" y="5001768"/>
            <a:ext cx="3931920" cy="274320"/>
          </a:xfrm>
          <a:prstGeom prst="rect">
            <a:avLst/>
          </a:prstGeom>
          <a:noFill/>
          <a:ln/>
        </p:spPr>
        <p:txBody>
          <a:bodyPr wrap="square" lIns="0" tIns="0" rIns="0" bIns="0" rtlCol="0" anchor="ctr"/>
          <a:lstStyle/>
          <a:p>
            <a:pPr indent="0" marL="0">
              <a:buNone/>
            </a:pPr>
            <a:r>
              <a:rPr lang="en-US" sz="1250" b="1" dirty="0">
                <a:solidFill>
                  <a:srgbClr val="17324D"/>
                </a:solidFill>
                <a:latin typeface="Courier New" pitchFamily="34" charset="0"/>
                <a:ea typeface="Courier New" pitchFamily="34" charset="-122"/>
                <a:cs typeface="Courier New" pitchFamily="34" charset="-120"/>
              </a:rPr>
              <a:t>scheduler  ·  memory  ·  signals</a:t>
            </a:r>
            <a:endParaRPr lang="en-US" sz="1250" dirty="0"/>
          </a:p>
        </p:txBody>
      </p:sp>
      <p:sp>
        <p:nvSpPr>
          <p:cNvPr id="18" name="Text 16"/>
          <p:cNvSpPr txBox="1"/>
          <p:nvPr/>
        </p:nvSpPr>
        <p:spPr>
          <a:xfrm>
            <a:off x="4773168" y="5020056"/>
            <a:ext cx="1243584" cy="237744"/>
          </a:xfrm>
          <a:prstGeom prst="rect">
            <a:avLst/>
          </a:prstGeom>
          <a:noFill/>
          <a:ln/>
        </p:spPr>
        <p:txBody>
          <a:bodyPr wrap="square" lIns="0" tIns="0" rIns="0" bIns="0" rtlCol="0" anchor="ctr"/>
          <a:lstStyle/>
          <a:p>
            <a:pPr algn="r" indent="0" marL="0">
              <a:lnSpc>
                <a:spcPts val="1700"/>
              </a:lnSpc>
              <a:buNone/>
            </a:pPr>
            <a:r>
              <a:rPr lang="en-US" sz="950" dirty="0">
                <a:solidFill>
                  <a:srgbClr val="7A8FA3"/>
                </a:solidFill>
                <a:latin typeface="Courier New" pitchFamily="34" charset="0"/>
                <a:ea typeface="Courier New" pitchFamily="34" charset="-122"/>
                <a:cs typeface="Courier New" pitchFamily="34" charset="-120"/>
              </a:rPr>
              <a:t>kernel space</a:t>
            </a:r>
            <a:endParaRPr lang="en-US" sz="950" dirty="0"/>
          </a:p>
        </p:txBody>
      </p:sp>
      <p:sp>
        <p:nvSpPr>
          <p:cNvPr id="19" name="Shape 17"/>
          <p:cNvSpPr/>
          <p:nvPr/>
        </p:nvSpPr>
        <p:spPr>
          <a:xfrm>
            <a:off x="6693408" y="2395728"/>
            <a:ext cx="4839919" cy="3108960"/>
          </a:xfrm>
          <a:prstGeom prst="rect">
            <a:avLst/>
          </a:prstGeom>
          <a:solidFill>
            <a:srgbClr val="FCFBF8"/>
          </a:solidFill>
          <a:ln w="12700">
            <a:solidFill>
              <a:srgbClr val="B9C6D4"/>
            </a:solidFill>
            <a:prstDash val="solid"/>
          </a:ln>
        </p:spPr>
      </p:sp>
      <p:sp>
        <p:nvSpPr>
          <p:cNvPr id="20" name="Text 18"/>
          <p:cNvSpPr txBox="1"/>
          <p:nvPr/>
        </p:nvSpPr>
        <p:spPr>
          <a:xfrm>
            <a:off x="6912864" y="2596896"/>
            <a:ext cx="420624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SYSTEM CALLS THE PROJECT USES</a:t>
            </a:r>
            <a:endParaRPr lang="en-US" sz="1000" dirty="0"/>
          </a:p>
        </p:txBody>
      </p:sp>
      <p:sp>
        <p:nvSpPr>
          <p:cNvPr id="21" name="Text 19"/>
          <p:cNvSpPr txBox="1"/>
          <p:nvPr/>
        </p:nvSpPr>
        <p:spPr>
          <a:xfrm>
            <a:off x="6912864" y="2962656"/>
            <a:ext cx="4114800" cy="219456"/>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open() read() close()</a:t>
            </a:r>
            <a:endParaRPr lang="en-US" sz="1150" dirty="0"/>
          </a:p>
        </p:txBody>
      </p:sp>
      <p:sp>
        <p:nvSpPr>
          <p:cNvPr id="22" name="Text 20"/>
          <p:cNvSpPr txBox="1"/>
          <p:nvPr/>
        </p:nvSpPr>
        <p:spPr>
          <a:xfrm>
            <a:off x="6912864" y="3163824"/>
            <a:ext cx="4114800" cy="237744"/>
          </a:xfrm>
          <a:prstGeom prst="rect">
            <a:avLst/>
          </a:prstGeom>
          <a:noFill/>
          <a:ln/>
        </p:spPr>
        <p:txBody>
          <a:bodyPr wrap="square" lIns="0" tIns="0" rIns="0" bIns="0" rtlCol="0" anchor="t"/>
          <a:lstStyle/>
          <a:p>
            <a:pPr algn="l" indent="0" marL="0">
              <a:lnSpc>
                <a:spcPts val="1900"/>
              </a:lnSpc>
              <a:buNone/>
            </a:pPr>
            <a:r>
              <a:rPr lang="en-US" sz="1050" dirty="0">
                <a:solidFill>
                  <a:srgbClr val="7A8FA3"/>
                </a:solidFill>
                <a:latin typeface="Arial" pitchFamily="34" charset="0"/>
                <a:ea typeface="Arial" pitchFamily="34" charset="-122"/>
                <a:cs typeface="Arial" pitchFamily="34" charset="-120"/>
              </a:rPr>
              <a:t>Pull text out of /proc files</a:t>
            </a:r>
            <a:endParaRPr lang="en-US" sz="1050" dirty="0"/>
          </a:p>
        </p:txBody>
      </p:sp>
      <p:sp>
        <p:nvSpPr>
          <p:cNvPr id="23" name="Text 21"/>
          <p:cNvSpPr txBox="1"/>
          <p:nvPr/>
        </p:nvSpPr>
        <p:spPr>
          <a:xfrm>
            <a:off x="6912864" y="3465576"/>
            <a:ext cx="4114800" cy="219456"/>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opendir() readdir()</a:t>
            </a:r>
            <a:endParaRPr lang="en-US" sz="1150" dirty="0"/>
          </a:p>
        </p:txBody>
      </p:sp>
      <p:sp>
        <p:nvSpPr>
          <p:cNvPr id="24" name="Text 22"/>
          <p:cNvSpPr txBox="1"/>
          <p:nvPr/>
        </p:nvSpPr>
        <p:spPr>
          <a:xfrm>
            <a:off x="6912864" y="3666744"/>
            <a:ext cx="4114800" cy="237744"/>
          </a:xfrm>
          <a:prstGeom prst="rect">
            <a:avLst/>
          </a:prstGeom>
          <a:noFill/>
          <a:ln/>
        </p:spPr>
        <p:txBody>
          <a:bodyPr wrap="square" lIns="0" tIns="0" rIns="0" bIns="0" rtlCol="0" anchor="t"/>
          <a:lstStyle/>
          <a:p>
            <a:pPr algn="l" indent="0" marL="0">
              <a:lnSpc>
                <a:spcPts val="1900"/>
              </a:lnSpc>
              <a:buNone/>
            </a:pPr>
            <a:r>
              <a:rPr lang="en-US" sz="1050" dirty="0">
                <a:solidFill>
                  <a:srgbClr val="7A8FA3"/>
                </a:solidFill>
                <a:latin typeface="Arial" pitchFamily="34" charset="0"/>
                <a:ea typeface="Arial" pitchFamily="34" charset="-122"/>
                <a:cs typeface="Arial" pitchFamily="34" charset="-120"/>
              </a:rPr>
              <a:t>Enumerate numeric /proc entries as PIDs</a:t>
            </a:r>
            <a:endParaRPr lang="en-US" sz="1050" dirty="0"/>
          </a:p>
        </p:txBody>
      </p:sp>
      <p:sp>
        <p:nvSpPr>
          <p:cNvPr id="25" name="Text 23"/>
          <p:cNvSpPr txBox="1"/>
          <p:nvPr/>
        </p:nvSpPr>
        <p:spPr>
          <a:xfrm>
            <a:off x="6912864" y="3968496"/>
            <a:ext cx="4114800" cy="219456"/>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kill()</a:t>
            </a:r>
            <a:endParaRPr lang="en-US" sz="1150" dirty="0"/>
          </a:p>
        </p:txBody>
      </p:sp>
      <p:sp>
        <p:nvSpPr>
          <p:cNvPr id="26" name="Text 24"/>
          <p:cNvSpPr txBox="1"/>
          <p:nvPr/>
        </p:nvSpPr>
        <p:spPr>
          <a:xfrm>
            <a:off x="6912864" y="4169664"/>
            <a:ext cx="4114800" cy="237744"/>
          </a:xfrm>
          <a:prstGeom prst="rect">
            <a:avLst/>
          </a:prstGeom>
          <a:noFill/>
          <a:ln/>
        </p:spPr>
        <p:txBody>
          <a:bodyPr wrap="square" lIns="0" tIns="0" rIns="0" bIns="0" rtlCol="0" anchor="t"/>
          <a:lstStyle/>
          <a:p>
            <a:pPr algn="l" indent="0" marL="0">
              <a:lnSpc>
                <a:spcPts val="1900"/>
              </a:lnSpc>
              <a:buNone/>
            </a:pPr>
            <a:r>
              <a:rPr lang="en-US" sz="1050" dirty="0">
                <a:solidFill>
                  <a:srgbClr val="7A8FA3"/>
                </a:solidFill>
                <a:latin typeface="Arial" pitchFamily="34" charset="0"/>
                <a:ea typeface="Arial" pitchFamily="34" charset="-122"/>
                <a:cs typeface="Arial" pitchFamily="34" charset="-120"/>
              </a:rPr>
              <a:t>Deliver a signal to a target PID</a:t>
            </a:r>
            <a:endParaRPr lang="en-US" sz="1050" dirty="0"/>
          </a:p>
        </p:txBody>
      </p:sp>
      <p:sp>
        <p:nvSpPr>
          <p:cNvPr id="27" name="Text 25"/>
          <p:cNvSpPr txBox="1"/>
          <p:nvPr/>
        </p:nvSpPr>
        <p:spPr>
          <a:xfrm>
            <a:off x="6912864" y="4471416"/>
            <a:ext cx="4114800" cy="219456"/>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sigaction()</a:t>
            </a:r>
            <a:endParaRPr lang="en-US" sz="1150" dirty="0"/>
          </a:p>
        </p:txBody>
      </p:sp>
      <p:sp>
        <p:nvSpPr>
          <p:cNvPr id="28" name="Text 26"/>
          <p:cNvSpPr txBox="1"/>
          <p:nvPr/>
        </p:nvSpPr>
        <p:spPr>
          <a:xfrm>
            <a:off x="6912864" y="4672584"/>
            <a:ext cx="4114800" cy="237744"/>
          </a:xfrm>
          <a:prstGeom prst="rect">
            <a:avLst/>
          </a:prstGeom>
          <a:noFill/>
          <a:ln/>
        </p:spPr>
        <p:txBody>
          <a:bodyPr wrap="square" lIns="0" tIns="0" rIns="0" bIns="0" rtlCol="0" anchor="t"/>
          <a:lstStyle/>
          <a:p>
            <a:pPr algn="l" indent="0" marL="0">
              <a:lnSpc>
                <a:spcPts val="1900"/>
              </a:lnSpc>
              <a:buNone/>
            </a:pPr>
            <a:r>
              <a:rPr lang="en-US" sz="1050" dirty="0">
                <a:solidFill>
                  <a:srgbClr val="7A8FA3"/>
                </a:solidFill>
                <a:latin typeface="Arial" pitchFamily="34" charset="0"/>
                <a:ea typeface="Arial" pitchFamily="34" charset="-122"/>
                <a:cs typeface="Arial" pitchFamily="34" charset="-120"/>
              </a:rPr>
              <a:t>Install our handler for SIGINT and SIGTERM</a:t>
            </a:r>
            <a:endParaRPr lang="en-US" sz="1050" dirty="0"/>
          </a:p>
        </p:txBody>
      </p:sp>
      <p:sp>
        <p:nvSpPr>
          <p:cNvPr id="29" name="Text 27"/>
          <p:cNvSpPr txBox="1"/>
          <p:nvPr/>
        </p:nvSpPr>
        <p:spPr>
          <a:xfrm>
            <a:off x="6912864" y="4974336"/>
            <a:ext cx="4114800" cy="219456"/>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sysinfo()</a:t>
            </a:r>
            <a:endParaRPr lang="en-US" sz="1150" dirty="0"/>
          </a:p>
        </p:txBody>
      </p:sp>
      <p:sp>
        <p:nvSpPr>
          <p:cNvPr id="30" name="Text 28"/>
          <p:cNvSpPr txBox="1"/>
          <p:nvPr/>
        </p:nvSpPr>
        <p:spPr>
          <a:xfrm>
            <a:off x="6912864" y="5175504"/>
            <a:ext cx="4114800" cy="237744"/>
          </a:xfrm>
          <a:prstGeom prst="rect">
            <a:avLst/>
          </a:prstGeom>
          <a:noFill/>
          <a:ln/>
        </p:spPr>
        <p:txBody>
          <a:bodyPr wrap="square" lIns="0" tIns="0" rIns="0" bIns="0" rtlCol="0" anchor="t"/>
          <a:lstStyle/>
          <a:p>
            <a:pPr algn="l" indent="0" marL="0">
              <a:lnSpc>
                <a:spcPts val="1900"/>
              </a:lnSpc>
              <a:buNone/>
            </a:pPr>
            <a:r>
              <a:rPr lang="en-US" sz="1050" dirty="0">
                <a:solidFill>
                  <a:srgbClr val="7A8FA3"/>
                </a:solidFill>
                <a:latin typeface="Arial" pitchFamily="34" charset="0"/>
                <a:ea typeface="Arial" pitchFamily="34" charset="-122"/>
                <a:cs typeface="Arial" pitchFamily="34" charset="-120"/>
              </a:rPr>
              <a:t>Uptime and total memory for percentage maths</a:t>
            </a:r>
            <a:endParaRPr lang="en-US" sz="1050" dirty="0"/>
          </a:p>
        </p:txBody>
      </p:sp>
      <p:sp>
        <p:nvSpPr>
          <p:cNvPr id="31" name="Text 29"/>
          <p:cNvSpPr txBox="1"/>
          <p:nvPr/>
        </p:nvSpPr>
        <p:spPr>
          <a:xfrm>
            <a:off x="658368" y="5687568"/>
            <a:ext cx="10241280" cy="365760"/>
          </a:xfrm>
          <a:prstGeom prst="rect">
            <a:avLst/>
          </a:prstGeom>
          <a:noFill/>
          <a:ln/>
        </p:spPr>
        <p:txBody>
          <a:bodyPr wrap="square" lIns="0" tIns="0" rIns="0" bIns="0" rtlCol="0" anchor="t"/>
          <a:lstStyle/>
          <a:p>
            <a:pPr algn="l" indent="0" marL="0">
              <a:lnSpc>
                <a:spcPts val="1900"/>
              </a:lnSpc>
              <a:buNone/>
            </a:pPr>
            <a:r>
              <a:rPr lang="en-US" sz="1200" b="1" dirty="0">
                <a:solidFill>
                  <a:srgbClr val="17324D"/>
                </a:solidFill>
                <a:latin typeface="Arial" pitchFamily="34" charset="0"/>
                <a:ea typeface="Arial" pitchFamily="34" charset="-122"/>
                <a:cs typeface="Arial" pitchFamily="34" charset="-120"/>
              </a:rPr>
              <a:t>No kernel module, no driver, no root. Everything above is reachable from an unprivileged process, which is the point CO-1 makes.</a:t>
            </a:r>
            <a:endParaRPr lang="en-US" sz="1200" dirty="0"/>
          </a:p>
        </p:txBody>
      </p:sp>
      <p:sp>
        <p:nvSpPr>
          <p:cNvPr id="32" name="Text 30"/>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06 / 23</a:t>
            </a:r>
            <a:endParaRPr lang="en-US" sz="1050" dirty="0"/>
          </a:p>
        </p:txBody>
      </p:sp>
      <p:sp>
        <p:nvSpPr>
          <p:cNvPr id="33" name="Text 31"/>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CO-1 · SERVICE LAYER</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par>
                                <p:cTn id="109" presetID="10" presetClass="entr" presetSubtype="0" fill="hold" grpId="0" nodeType="withEffect">
                                  <p:stCondLst>
                                    <p:cond delay="18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20"/>
                                        <p:tgtEl>
                                          <p:spTgt spid="28"/>
                                        </p:tgtEl>
                                      </p:cBhvr>
                                    </p:animEffect>
                                    <p:anim calcmode="lin" valueType="num">
                                      <p:cBhvr additive="base">
                                        <p:cTn id="112" dur="420" fill="hold"/>
                                        <p:tgtEl>
                                          <p:spTgt spid="28"/>
                                        </p:tgtEl>
                                        <p:attrNameLst>
                                          <p:attrName>ppt_y</p:attrName>
                                        </p:attrNameLst>
                                      </p:cBhvr>
                                      <p:tavLst>
                                        <p:tav tm="0">
                                          <p:val>
                                            <p:strVal val="ppt_y+0.018"/>
                                          </p:val>
                                        </p:tav>
                                        <p:tav tm="100000">
                                          <p:val>
                                            <p:strVal val="ppt_y"/>
                                          </p:val>
                                        </p:tav>
                                      </p:tavLst>
                                    </p:anim>
                                  </p:childTnLst>
                                </p:cTn>
                              </p:par>
                              <p:par>
                                <p:cTn id="113" presetID="10" presetClass="entr" presetSubtype="0" fill="hold" grpId="0" nodeType="withEffect">
                                  <p:stCondLst>
                                    <p:cond delay="18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420"/>
                                        <p:tgtEl>
                                          <p:spTgt spid="29"/>
                                        </p:tgtEl>
                                      </p:cBhvr>
                                    </p:animEffect>
                                    <p:anim calcmode="lin" valueType="num">
                                      <p:cBhvr additive="base">
                                        <p:cTn id="116" dur="420" fill="hold"/>
                                        <p:tgtEl>
                                          <p:spTgt spid="29"/>
                                        </p:tgtEl>
                                        <p:attrNameLst>
                                          <p:attrName>ppt_y</p:attrName>
                                        </p:attrNameLst>
                                      </p:cBhvr>
                                      <p:tavLst>
                                        <p:tav tm="0">
                                          <p:val>
                                            <p:strVal val="ppt_y+0.018"/>
                                          </p:val>
                                        </p:tav>
                                        <p:tav tm="100000">
                                          <p:val>
                                            <p:strVal val="ppt_y"/>
                                          </p:val>
                                        </p:tav>
                                      </p:tavLst>
                                    </p:anim>
                                  </p:childTnLst>
                                </p:cTn>
                              </p:par>
                              <p:par>
                                <p:cTn id="117" presetID="10" presetClass="entr" presetSubtype="0" fill="hold" grpId="0" nodeType="withEffect">
                                  <p:stCondLst>
                                    <p:cond delay="18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420"/>
                                        <p:tgtEl>
                                          <p:spTgt spid="30"/>
                                        </p:tgtEl>
                                      </p:cBhvr>
                                    </p:animEffect>
                                    <p:anim calcmode="lin" valueType="num">
                                      <p:cBhvr additive="base">
                                        <p:cTn id="120" dur="420" fill="hold"/>
                                        <p:tgtEl>
                                          <p:spTgt spid="30"/>
                                        </p:tgtEl>
                                        <p:attrNameLst>
                                          <p:attrName>ppt_y</p:attrName>
                                        </p:attrNameLst>
                                      </p:cBhvr>
                                      <p:tavLst>
                                        <p:tav tm="0">
                                          <p:val>
                                            <p:strVal val="ppt_y+0.018"/>
                                          </p:val>
                                        </p:tav>
                                        <p:tav tm="100000">
                                          <p:val>
                                            <p:strVal val="ppt_y"/>
                                          </p:val>
                                        </p:tav>
                                      </p:tavLst>
                                    </p:anim>
                                  </p:childTnLst>
                                </p:cTn>
                              </p:par>
                              <p:par>
                                <p:cTn id="121" presetID="10" presetClass="entr" presetSubtype="0" fill="hold" grpId="0" nodeType="withEffect">
                                  <p:stCondLst>
                                    <p:cond delay="180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420"/>
                                        <p:tgtEl>
                                          <p:spTgt spid="31"/>
                                        </p:tgtEl>
                                      </p:cBhvr>
                                    </p:animEffect>
                                    <p:anim calcmode="lin" valueType="num">
                                      <p:cBhvr additive="base">
                                        <p:cTn id="124" dur="420" fill="hold"/>
                                        <p:tgtEl>
                                          <p:spTgt spid="31"/>
                                        </p:tgtEl>
                                        <p:attrNameLst>
                                          <p:attrName>ppt_y</p:attrName>
                                        </p:attrNameLst>
                                      </p:cBhvr>
                                      <p:tavLst>
                                        <p:tav tm="0">
                                          <p:val>
                                            <p:strVal val="ppt_y+0.018"/>
                                          </p:val>
                                        </p:tav>
                                        <p:tav tm="100000">
                                          <p:val>
                                            <p:strVal val="ppt_y"/>
                                          </p:val>
                                        </p:tav>
                                      </p:tavLst>
                                    </p:anim>
                                  </p:childTnLst>
                                </p:cTn>
                              </p:par>
                              <p:par>
                                <p:cTn id="125" presetID="10" presetClass="entr" presetSubtype="0" fill="hold" grpId="0" nodeType="withEffect">
                                  <p:stCondLst>
                                    <p:cond delay="18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20"/>
                                        <p:tgtEl>
                                          <p:spTgt spid="32"/>
                                        </p:tgtEl>
                                      </p:cBhvr>
                                    </p:animEffect>
                                    <p:anim calcmode="lin" valueType="num">
                                      <p:cBhvr additive="base">
                                        <p:cTn id="128" dur="420" fill="hold"/>
                                        <p:tgtEl>
                                          <p:spTgt spid="32"/>
                                        </p:tgtEl>
                                        <p:attrNameLst>
                                          <p:attrName>ppt_y</p:attrName>
                                        </p:attrNameLst>
                                      </p:cBhvr>
                                      <p:tavLst>
                                        <p:tav tm="0">
                                          <p:val>
                                            <p:strVal val="ppt_y+0.018"/>
                                          </p:val>
                                        </p:tav>
                                        <p:tav tm="100000">
                                          <p:val>
                                            <p:strVal val="ppt_y"/>
                                          </p:val>
                                        </p:tav>
                                      </p:tavLst>
                                    </p:anim>
                                  </p:childTnLst>
                                </p:cTn>
                              </p:par>
                              <p:par>
                                <p:cTn id="129" presetID="10" presetClass="entr" presetSubtype="0" fill="hold" grpId="0" nodeType="withEffect">
                                  <p:stCondLst>
                                    <p:cond delay="180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420"/>
                                        <p:tgtEl>
                                          <p:spTgt spid="33"/>
                                        </p:tgtEl>
                                      </p:cBhvr>
                                    </p:animEffect>
                                    <p:anim calcmode="lin" valueType="num">
                                      <p:cBhvr additive="base">
                                        <p:cTn id="132" dur="420" fill="hold"/>
                                        <p:tgtEl>
                                          <p:spTgt spid="33"/>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06  /  CO-2  ·  PROCESS LIFECYCLE</a:t>
            </a:r>
            <a:endParaRPr lang="en-US" sz="1100" dirty="0"/>
          </a:p>
        </p:txBody>
      </p:sp>
      <p:sp>
        <p:nvSpPr>
          <p:cNvPr id="3" name="Text 1"/>
          <p:cNvSpPr txBox="1"/>
          <p:nvPr/>
        </p:nvSpPr>
        <p:spPr>
          <a:xfrm>
            <a:off x="658368" y="768096"/>
            <a:ext cx="585216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Every state the monitor</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can actually show you</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Read from field 3 of /proc/[pid]/stat, one character per state.</a:t>
            </a:r>
            <a:endParaRPr lang="en-US" sz="1300" dirty="0"/>
          </a:p>
        </p:txBody>
      </p:sp>
      <p:sp>
        <p:nvSpPr>
          <p:cNvPr id="5" name="Shape 3"/>
          <p:cNvSpPr/>
          <p:nvPr/>
        </p:nvSpPr>
        <p:spPr>
          <a:xfrm>
            <a:off x="932688" y="2523744"/>
            <a:ext cx="1517904" cy="548640"/>
          </a:xfrm>
          <a:prstGeom prst="rect">
            <a:avLst/>
          </a:prstGeom>
          <a:solidFill>
            <a:srgbClr val="EFE3DC"/>
          </a:solidFill>
          <a:ln w="12700">
            <a:solidFill>
              <a:srgbClr val="B9C6D4"/>
            </a:solidFill>
            <a:prstDash val="solid"/>
          </a:ln>
        </p:spPr>
      </p:sp>
      <p:sp>
        <p:nvSpPr>
          <p:cNvPr id="6" name="Text 4"/>
          <p:cNvSpPr txBox="1"/>
          <p:nvPr/>
        </p:nvSpPr>
        <p:spPr>
          <a:xfrm>
            <a:off x="932688" y="2670048"/>
            <a:ext cx="1517904" cy="274320"/>
          </a:xfrm>
          <a:prstGeom prst="rect">
            <a:avLst/>
          </a:prstGeom>
          <a:noFill/>
          <a:ln/>
        </p:spPr>
        <p:txBody>
          <a:bodyPr wrap="square" lIns="0" tIns="0" rIns="0" bIns="0" rtlCol="0" anchor="ctr"/>
          <a:lstStyle/>
          <a:p>
            <a:pPr algn="ctr" indent="0" marL="0">
              <a:buNone/>
            </a:pPr>
            <a:r>
              <a:rPr lang="en-US" sz="1150" b="1" dirty="0">
                <a:solidFill>
                  <a:srgbClr val="17324D"/>
                </a:solidFill>
                <a:latin typeface="Courier New" pitchFamily="34" charset="0"/>
                <a:ea typeface="Courier New" pitchFamily="34" charset="-122"/>
                <a:cs typeface="Courier New" pitchFamily="34" charset="-120"/>
              </a:rPr>
              <a:t>NEW</a:t>
            </a:r>
            <a:endParaRPr lang="en-US" sz="1150" dirty="0"/>
          </a:p>
        </p:txBody>
      </p:sp>
      <p:sp>
        <p:nvSpPr>
          <p:cNvPr id="7" name="Shape 5"/>
          <p:cNvSpPr/>
          <p:nvPr/>
        </p:nvSpPr>
        <p:spPr>
          <a:xfrm>
            <a:off x="2944368" y="2523744"/>
            <a:ext cx="1517904" cy="548640"/>
          </a:xfrm>
          <a:prstGeom prst="rect">
            <a:avLst/>
          </a:prstGeom>
          <a:solidFill>
            <a:srgbClr val="FCFBF8"/>
          </a:solidFill>
          <a:ln w="12700">
            <a:solidFill>
              <a:srgbClr val="B9C6D4"/>
            </a:solidFill>
            <a:prstDash val="solid"/>
          </a:ln>
        </p:spPr>
      </p:sp>
      <p:sp>
        <p:nvSpPr>
          <p:cNvPr id="8" name="Text 6"/>
          <p:cNvSpPr txBox="1"/>
          <p:nvPr/>
        </p:nvSpPr>
        <p:spPr>
          <a:xfrm>
            <a:off x="2944368" y="2670048"/>
            <a:ext cx="1517904" cy="274320"/>
          </a:xfrm>
          <a:prstGeom prst="rect">
            <a:avLst/>
          </a:prstGeom>
          <a:noFill/>
          <a:ln/>
        </p:spPr>
        <p:txBody>
          <a:bodyPr wrap="square" lIns="0" tIns="0" rIns="0" bIns="0" rtlCol="0" anchor="ctr"/>
          <a:lstStyle/>
          <a:p>
            <a:pPr algn="ctr" indent="0" marL="0">
              <a:buNone/>
            </a:pPr>
            <a:r>
              <a:rPr lang="en-US" sz="1150" b="1" dirty="0">
                <a:solidFill>
                  <a:srgbClr val="17324D"/>
                </a:solidFill>
                <a:latin typeface="Courier New" pitchFamily="34" charset="0"/>
                <a:ea typeface="Courier New" pitchFamily="34" charset="-122"/>
                <a:cs typeface="Courier New" pitchFamily="34" charset="-120"/>
              </a:rPr>
              <a:t>READY</a:t>
            </a:r>
            <a:endParaRPr lang="en-US" sz="1150" dirty="0"/>
          </a:p>
        </p:txBody>
      </p:sp>
      <p:sp>
        <p:nvSpPr>
          <p:cNvPr id="9" name="Shape 7"/>
          <p:cNvSpPr/>
          <p:nvPr/>
        </p:nvSpPr>
        <p:spPr>
          <a:xfrm>
            <a:off x="4956048" y="2523744"/>
            <a:ext cx="1517904" cy="548640"/>
          </a:xfrm>
          <a:prstGeom prst="rect">
            <a:avLst/>
          </a:prstGeom>
          <a:solidFill>
            <a:srgbClr val="E4EAF0"/>
          </a:solidFill>
          <a:ln w="12700">
            <a:solidFill>
              <a:srgbClr val="B9C6D4"/>
            </a:solidFill>
            <a:prstDash val="solid"/>
          </a:ln>
        </p:spPr>
      </p:sp>
      <p:sp>
        <p:nvSpPr>
          <p:cNvPr id="10" name="Text 8"/>
          <p:cNvSpPr txBox="1"/>
          <p:nvPr/>
        </p:nvSpPr>
        <p:spPr>
          <a:xfrm>
            <a:off x="4956048" y="2670048"/>
            <a:ext cx="1517904" cy="274320"/>
          </a:xfrm>
          <a:prstGeom prst="rect">
            <a:avLst/>
          </a:prstGeom>
          <a:noFill/>
          <a:ln/>
        </p:spPr>
        <p:txBody>
          <a:bodyPr wrap="square" lIns="0" tIns="0" rIns="0" bIns="0" rtlCol="0" anchor="ctr"/>
          <a:lstStyle/>
          <a:p>
            <a:pPr algn="ctr" indent="0" marL="0">
              <a:buNone/>
            </a:pPr>
            <a:r>
              <a:rPr lang="en-US" sz="1150" b="1" dirty="0">
                <a:solidFill>
                  <a:srgbClr val="17324D"/>
                </a:solidFill>
                <a:latin typeface="Courier New" pitchFamily="34" charset="0"/>
                <a:ea typeface="Courier New" pitchFamily="34" charset="-122"/>
                <a:cs typeface="Courier New" pitchFamily="34" charset="-120"/>
              </a:rPr>
              <a:t>RUNNING</a:t>
            </a:r>
            <a:endParaRPr lang="en-US" sz="1150" dirty="0"/>
          </a:p>
        </p:txBody>
      </p:sp>
      <p:sp>
        <p:nvSpPr>
          <p:cNvPr id="11" name="Shape 9"/>
          <p:cNvSpPr/>
          <p:nvPr/>
        </p:nvSpPr>
        <p:spPr>
          <a:xfrm>
            <a:off x="4956048" y="3547872"/>
            <a:ext cx="1517904" cy="548640"/>
          </a:xfrm>
          <a:prstGeom prst="rect">
            <a:avLst/>
          </a:prstGeom>
          <a:solidFill>
            <a:srgbClr val="FCFBF8"/>
          </a:solidFill>
          <a:ln w="12700">
            <a:solidFill>
              <a:srgbClr val="B9C6D4"/>
            </a:solidFill>
            <a:prstDash val="solid"/>
          </a:ln>
        </p:spPr>
      </p:sp>
      <p:sp>
        <p:nvSpPr>
          <p:cNvPr id="12" name="Text 10"/>
          <p:cNvSpPr txBox="1"/>
          <p:nvPr/>
        </p:nvSpPr>
        <p:spPr>
          <a:xfrm>
            <a:off x="4956048" y="3694176"/>
            <a:ext cx="1517904" cy="274320"/>
          </a:xfrm>
          <a:prstGeom prst="rect">
            <a:avLst/>
          </a:prstGeom>
          <a:noFill/>
          <a:ln/>
        </p:spPr>
        <p:txBody>
          <a:bodyPr wrap="square" lIns="0" tIns="0" rIns="0" bIns="0" rtlCol="0" anchor="ctr"/>
          <a:lstStyle/>
          <a:p>
            <a:pPr algn="ctr" indent="0" marL="0">
              <a:buNone/>
            </a:pPr>
            <a:r>
              <a:rPr lang="en-US" sz="1150" b="1" dirty="0">
                <a:solidFill>
                  <a:srgbClr val="17324D"/>
                </a:solidFill>
                <a:latin typeface="Courier New" pitchFamily="34" charset="0"/>
                <a:ea typeface="Courier New" pitchFamily="34" charset="-122"/>
                <a:cs typeface="Courier New" pitchFamily="34" charset="-120"/>
              </a:rPr>
              <a:t>SLEEPING</a:t>
            </a:r>
            <a:endParaRPr lang="en-US" sz="1150" dirty="0"/>
          </a:p>
        </p:txBody>
      </p:sp>
      <p:sp>
        <p:nvSpPr>
          <p:cNvPr id="13" name="Shape 11"/>
          <p:cNvSpPr/>
          <p:nvPr/>
        </p:nvSpPr>
        <p:spPr>
          <a:xfrm>
            <a:off x="2944368" y="3547872"/>
            <a:ext cx="1517904" cy="548640"/>
          </a:xfrm>
          <a:prstGeom prst="rect">
            <a:avLst/>
          </a:prstGeom>
          <a:solidFill>
            <a:srgbClr val="FCFBF8"/>
          </a:solidFill>
          <a:ln w="12700">
            <a:solidFill>
              <a:srgbClr val="B9C6D4"/>
            </a:solidFill>
            <a:prstDash val="solid"/>
          </a:ln>
        </p:spPr>
      </p:sp>
      <p:sp>
        <p:nvSpPr>
          <p:cNvPr id="14" name="Text 12"/>
          <p:cNvSpPr txBox="1"/>
          <p:nvPr/>
        </p:nvSpPr>
        <p:spPr>
          <a:xfrm>
            <a:off x="2944368" y="3694176"/>
            <a:ext cx="1517904" cy="274320"/>
          </a:xfrm>
          <a:prstGeom prst="rect">
            <a:avLst/>
          </a:prstGeom>
          <a:noFill/>
          <a:ln/>
        </p:spPr>
        <p:txBody>
          <a:bodyPr wrap="square" lIns="0" tIns="0" rIns="0" bIns="0" rtlCol="0" anchor="ctr"/>
          <a:lstStyle/>
          <a:p>
            <a:pPr algn="ctr" indent="0" marL="0">
              <a:buNone/>
            </a:pPr>
            <a:r>
              <a:rPr lang="en-US" sz="1150" b="1" dirty="0">
                <a:solidFill>
                  <a:srgbClr val="17324D"/>
                </a:solidFill>
                <a:latin typeface="Courier New" pitchFamily="34" charset="0"/>
                <a:ea typeface="Courier New" pitchFamily="34" charset="-122"/>
                <a:cs typeface="Courier New" pitchFamily="34" charset="-120"/>
              </a:rPr>
              <a:t>STOPPED</a:t>
            </a:r>
            <a:endParaRPr lang="en-US" sz="1150" dirty="0"/>
          </a:p>
        </p:txBody>
      </p:sp>
      <p:sp>
        <p:nvSpPr>
          <p:cNvPr id="15" name="Shape 13"/>
          <p:cNvSpPr/>
          <p:nvPr/>
        </p:nvSpPr>
        <p:spPr>
          <a:xfrm>
            <a:off x="4956048" y="4572000"/>
            <a:ext cx="1517904" cy="548640"/>
          </a:xfrm>
          <a:prstGeom prst="rect">
            <a:avLst/>
          </a:prstGeom>
          <a:solidFill>
            <a:srgbClr val="F3DED6"/>
          </a:solidFill>
          <a:ln w="22225">
            <a:solidFill>
              <a:srgbClr val="D64525"/>
            </a:solidFill>
            <a:prstDash val="solid"/>
          </a:ln>
        </p:spPr>
      </p:sp>
      <p:sp>
        <p:nvSpPr>
          <p:cNvPr id="16" name="Text 14"/>
          <p:cNvSpPr txBox="1"/>
          <p:nvPr/>
        </p:nvSpPr>
        <p:spPr>
          <a:xfrm>
            <a:off x="4956048" y="4718304"/>
            <a:ext cx="1517904" cy="274320"/>
          </a:xfrm>
          <a:prstGeom prst="rect">
            <a:avLst/>
          </a:prstGeom>
          <a:noFill/>
          <a:ln/>
        </p:spPr>
        <p:txBody>
          <a:bodyPr wrap="square" lIns="0" tIns="0" rIns="0" bIns="0" rtlCol="0" anchor="ctr"/>
          <a:lstStyle/>
          <a:p>
            <a:pPr algn="ctr" indent="0" marL="0">
              <a:buNone/>
            </a:pPr>
            <a:r>
              <a:rPr lang="en-US" sz="1150" b="1" dirty="0">
                <a:solidFill>
                  <a:srgbClr val="D64525"/>
                </a:solidFill>
                <a:latin typeface="Courier New" pitchFamily="34" charset="0"/>
                <a:ea typeface="Courier New" pitchFamily="34" charset="-122"/>
                <a:cs typeface="Courier New" pitchFamily="34" charset="-120"/>
              </a:rPr>
              <a:t>ZOMBIE</a:t>
            </a:r>
            <a:endParaRPr lang="en-US" sz="1150" dirty="0"/>
          </a:p>
        </p:txBody>
      </p:sp>
      <p:sp>
        <p:nvSpPr>
          <p:cNvPr id="17" name="Shape 15"/>
          <p:cNvSpPr/>
          <p:nvPr/>
        </p:nvSpPr>
        <p:spPr>
          <a:xfrm>
            <a:off x="6967728" y="4572000"/>
            <a:ext cx="1517904" cy="548640"/>
          </a:xfrm>
          <a:prstGeom prst="rect">
            <a:avLst/>
          </a:prstGeom>
          <a:solidFill>
            <a:srgbClr val="FCFBF8"/>
          </a:solidFill>
          <a:ln w="12700">
            <a:solidFill>
              <a:srgbClr val="B9C6D4"/>
            </a:solidFill>
            <a:prstDash val="solid"/>
          </a:ln>
        </p:spPr>
      </p:sp>
      <p:sp>
        <p:nvSpPr>
          <p:cNvPr id="18" name="Text 16"/>
          <p:cNvSpPr txBox="1"/>
          <p:nvPr/>
        </p:nvSpPr>
        <p:spPr>
          <a:xfrm>
            <a:off x="6967728" y="4718304"/>
            <a:ext cx="1517904" cy="274320"/>
          </a:xfrm>
          <a:prstGeom prst="rect">
            <a:avLst/>
          </a:prstGeom>
          <a:noFill/>
          <a:ln/>
        </p:spPr>
        <p:txBody>
          <a:bodyPr wrap="square" lIns="0" tIns="0" rIns="0" bIns="0" rtlCol="0" anchor="ctr"/>
          <a:lstStyle/>
          <a:p>
            <a:pPr algn="ctr" indent="0" marL="0">
              <a:buNone/>
            </a:pPr>
            <a:r>
              <a:rPr lang="en-US" sz="1150" b="1" dirty="0">
                <a:solidFill>
                  <a:srgbClr val="17324D"/>
                </a:solidFill>
                <a:latin typeface="Courier New" pitchFamily="34" charset="0"/>
                <a:ea typeface="Courier New" pitchFamily="34" charset="-122"/>
                <a:cs typeface="Courier New" pitchFamily="34" charset="-120"/>
              </a:rPr>
              <a:t>REAPED</a:t>
            </a:r>
            <a:endParaRPr lang="en-US" sz="1150" dirty="0"/>
          </a:p>
        </p:txBody>
      </p:sp>
      <p:sp>
        <p:nvSpPr>
          <p:cNvPr id="19" name="Shape 17"/>
          <p:cNvSpPr/>
          <p:nvPr/>
        </p:nvSpPr>
        <p:spPr>
          <a:xfrm>
            <a:off x="2450592" y="2798064"/>
            <a:ext cx="493776" cy="0"/>
          </a:xfrm>
          <a:prstGeom prst="line">
            <a:avLst/>
          </a:prstGeom>
          <a:noFill/>
          <a:ln w="15875">
            <a:solidFill>
              <a:srgbClr val="3D5A75"/>
            </a:solidFill>
            <a:prstDash val="solid"/>
            <a:tailEnd type="triangle"/>
          </a:ln>
        </p:spPr>
      </p:sp>
      <p:sp>
        <p:nvSpPr>
          <p:cNvPr id="20" name="Text 18"/>
          <p:cNvSpPr txBox="1"/>
          <p:nvPr/>
        </p:nvSpPr>
        <p:spPr>
          <a:xfrm>
            <a:off x="2395728" y="2542032"/>
            <a:ext cx="1188720" cy="219456"/>
          </a:xfrm>
          <a:prstGeom prst="rect">
            <a:avLst/>
          </a:prstGeom>
          <a:noFill/>
          <a:ln/>
        </p:spPr>
        <p:txBody>
          <a:bodyPr wrap="square" lIns="0" tIns="0" rIns="0" bIns="0" rtlCol="0" anchor="ctr"/>
          <a:lstStyle/>
          <a:p>
            <a:pPr algn="ctr" indent="0" marL="0">
              <a:lnSpc>
                <a:spcPts val="1700"/>
              </a:lnSpc>
              <a:buNone/>
            </a:pPr>
            <a:r>
              <a:rPr lang="en-US" sz="950" dirty="0">
                <a:solidFill>
                  <a:srgbClr val="D64525"/>
                </a:solidFill>
                <a:latin typeface="Courier New" pitchFamily="34" charset="0"/>
                <a:ea typeface="Courier New" pitchFamily="34" charset="-122"/>
                <a:cs typeface="Courier New" pitchFamily="34" charset="-120"/>
              </a:rPr>
              <a:t>fork()</a:t>
            </a:r>
            <a:endParaRPr lang="en-US" sz="950" dirty="0"/>
          </a:p>
        </p:txBody>
      </p:sp>
      <p:sp>
        <p:nvSpPr>
          <p:cNvPr id="21" name="Shape 19"/>
          <p:cNvSpPr/>
          <p:nvPr/>
        </p:nvSpPr>
        <p:spPr>
          <a:xfrm>
            <a:off x="4462272" y="2798064"/>
            <a:ext cx="493776" cy="0"/>
          </a:xfrm>
          <a:prstGeom prst="line">
            <a:avLst/>
          </a:prstGeom>
          <a:noFill/>
          <a:ln w="15875">
            <a:solidFill>
              <a:srgbClr val="3D5A75"/>
            </a:solidFill>
            <a:prstDash val="solid"/>
            <a:tailEnd type="triangle"/>
          </a:ln>
        </p:spPr>
      </p:sp>
      <p:sp>
        <p:nvSpPr>
          <p:cNvPr id="22" name="Text 20"/>
          <p:cNvSpPr txBox="1"/>
          <p:nvPr/>
        </p:nvSpPr>
        <p:spPr>
          <a:xfrm>
            <a:off x="4407408" y="2542032"/>
            <a:ext cx="1188720" cy="219456"/>
          </a:xfrm>
          <a:prstGeom prst="rect">
            <a:avLst/>
          </a:prstGeom>
          <a:noFill/>
          <a:ln/>
        </p:spPr>
        <p:txBody>
          <a:bodyPr wrap="square" lIns="0" tIns="0" rIns="0" bIns="0" rtlCol="0" anchor="ctr"/>
          <a:lstStyle/>
          <a:p>
            <a:pPr algn="ctr" indent="0" marL="0">
              <a:lnSpc>
                <a:spcPts val="1700"/>
              </a:lnSpc>
              <a:buNone/>
            </a:pPr>
            <a:r>
              <a:rPr lang="en-US" sz="950" dirty="0">
                <a:solidFill>
                  <a:srgbClr val="D64525"/>
                </a:solidFill>
                <a:latin typeface="Courier New" pitchFamily="34" charset="0"/>
                <a:ea typeface="Courier New" pitchFamily="34" charset="-122"/>
                <a:cs typeface="Courier New" pitchFamily="34" charset="-120"/>
              </a:rPr>
              <a:t>scheduled</a:t>
            </a:r>
            <a:endParaRPr lang="en-US" sz="950" dirty="0"/>
          </a:p>
        </p:txBody>
      </p:sp>
      <p:sp>
        <p:nvSpPr>
          <p:cNvPr id="23" name="Shape 21"/>
          <p:cNvSpPr/>
          <p:nvPr/>
        </p:nvSpPr>
        <p:spPr>
          <a:xfrm>
            <a:off x="5715000" y="3072384"/>
            <a:ext cx="0" cy="475488"/>
          </a:xfrm>
          <a:prstGeom prst="line">
            <a:avLst/>
          </a:prstGeom>
          <a:noFill/>
          <a:ln w="15875">
            <a:solidFill>
              <a:srgbClr val="3D5A75"/>
            </a:solidFill>
            <a:prstDash val="solid"/>
            <a:tailEnd type="triangle"/>
          </a:ln>
        </p:spPr>
      </p:sp>
      <p:sp>
        <p:nvSpPr>
          <p:cNvPr id="24" name="Text 22"/>
          <p:cNvSpPr txBox="1"/>
          <p:nvPr/>
        </p:nvSpPr>
        <p:spPr>
          <a:xfrm>
            <a:off x="5824728" y="3182112"/>
            <a:ext cx="1188720" cy="219456"/>
          </a:xfrm>
          <a:prstGeom prst="rect">
            <a:avLst/>
          </a:prstGeom>
          <a:noFill/>
          <a:ln/>
        </p:spPr>
        <p:txBody>
          <a:bodyPr wrap="square" lIns="0" tIns="0" rIns="0" bIns="0" rtlCol="0" anchor="ctr"/>
          <a:lstStyle/>
          <a:p>
            <a:pPr algn="l" indent="0" marL="0">
              <a:lnSpc>
                <a:spcPts val="1700"/>
              </a:lnSpc>
              <a:buNone/>
            </a:pPr>
            <a:r>
              <a:rPr lang="en-US" sz="950" dirty="0">
                <a:solidFill>
                  <a:srgbClr val="D64525"/>
                </a:solidFill>
                <a:latin typeface="Courier New" pitchFamily="34" charset="0"/>
                <a:ea typeface="Courier New" pitchFamily="34" charset="-122"/>
                <a:cs typeface="Courier New" pitchFamily="34" charset="-120"/>
              </a:rPr>
              <a:t>preempt</a:t>
            </a:r>
            <a:endParaRPr lang="en-US" sz="950" dirty="0"/>
          </a:p>
        </p:txBody>
      </p:sp>
      <p:sp>
        <p:nvSpPr>
          <p:cNvPr id="25" name="Shape 23"/>
          <p:cNvSpPr/>
          <p:nvPr/>
        </p:nvSpPr>
        <p:spPr>
          <a:xfrm>
            <a:off x="5715000" y="4096512"/>
            <a:ext cx="0" cy="475488"/>
          </a:xfrm>
          <a:prstGeom prst="line">
            <a:avLst/>
          </a:prstGeom>
          <a:noFill/>
          <a:ln w="15875">
            <a:solidFill>
              <a:srgbClr val="3D5A75"/>
            </a:solidFill>
            <a:prstDash val="solid"/>
            <a:tailEnd type="triangle"/>
          </a:ln>
        </p:spPr>
      </p:sp>
      <p:sp>
        <p:nvSpPr>
          <p:cNvPr id="26" name="Text 24"/>
          <p:cNvSpPr txBox="1"/>
          <p:nvPr/>
        </p:nvSpPr>
        <p:spPr>
          <a:xfrm>
            <a:off x="5824728" y="4206240"/>
            <a:ext cx="1188720" cy="219456"/>
          </a:xfrm>
          <a:prstGeom prst="rect">
            <a:avLst/>
          </a:prstGeom>
          <a:noFill/>
          <a:ln/>
        </p:spPr>
        <p:txBody>
          <a:bodyPr wrap="square" lIns="0" tIns="0" rIns="0" bIns="0" rtlCol="0" anchor="ctr"/>
          <a:lstStyle/>
          <a:p>
            <a:pPr algn="l" indent="0" marL="0">
              <a:lnSpc>
                <a:spcPts val="1700"/>
              </a:lnSpc>
              <a:buNone/>
            </a:pPr>
            <a:r>
              <a:rPr lang="en-US" sz="950" dirty="0">
                <a:solidFill>
                  <a:srgbClr val="D64525"/>
                </a:solidFill>
                <a:latin typeface="Courier New" pitchFamily="34" charset="0"/>
                <a:ea typeface="Courier New" pitchFamily="34" charset="-122"/>
                <a:cs typeface="Courier New" pitchFamily="34" charset="-120"/>
              </a:rPr>
              <a:t>exit()</a:t>
            </a:r>
            <a:endParaRPr lang="en-US" sz="950" dirty="0"/>
          </a:p>
        </p:txBody>
      </p:sp>
      <p:sp>
        <p:nvSpPr>
          <p:cNvPr id="27" name="Shape 25"/>
          <p:cNvSpPr/>
          <p:nvPr/>
        </p:nvSpPr>
        <p:spPr>
          <a:xfrm>
            <a:off x="6473952" y="4846320"/>
            <a:ext cx="493776" cy="0"/>
          </a:xfrm>
          <a:prstGeom prst="line">
            <a:avLst/>
          </a:prstGeom>
          <a:noFill/>
          <a:ln w="15875">
            <a:solidFill>
              <a:srgbClr val="3D5A75"/>
            </a:solidFill>
            <a:prstDash val="solid"/>
            <a:tailEnd type="triangle"/>
          </a:ln>
        </p:spPr>
      </p:sp>
      <p:sp>
        <p:nvSpPr>
          <p:cNvPr id="28" name="Text 26"/>
          <p:cNvSpPr txBox="1"/>
          <p:nvPr/>
        </p:nvSpPr>
        <p:spPr>
          <a:xfrm>
            <a:off x="6419088" y="4590288"/>
            <a:ext cx="1188720" cy="219456"/>
          </a:xfrm>
          <a:prstGeom prst="rect">
            <a:avLst/>
          </a:prstGeom>
          <a:noFill/>
          <a:ln/>
        </p:spPr>
        <p:txBody>
          <a:bodyPr wrap="square" lIns="0" tIns="0" rIns="0" bIns="0" rtlCol="0" anchor="ctr"/>
          <a:lstStyle/>
          <a:p>
            <a:pPr algn="ctr" indent="0" marL="0">
              <a:lnSpc>
                <a:spcPts val="1700"/>
              </a:lnSpc>
              <a:buNone/>
            </a:pPr>
            <a:r>
              <a:rPr lang="en-US" sz="950" dirty="0">
                <a:solidFill>
                  <a:srgbClr val="D64525"/>
                </a:solidFill>
                <a:latin typeface="Courier New" pitchFamily="34" charset="0"/>
                <a:ea typeface="Courier New" pitchFamily="34" charset="-122"/>
                <a:cs typeface="Courier New" pitchFamily="34" charset="-120"/>
              </a:rPr>
              <a:t>wait()</a:t>
            </a:r>
            <a:endParaRPr lang="en-US" sz="950" dirty="0"/>
          </a:p>
        </p:txBody>
      </p:sp>
      <p:sp>
        <p:nvSpPr>
          <p:cNvPr id="29" name="Shape 27"/>
          <p:cNvSpPr/>
          <p:nvPr/>
        </p:nvSpPr>
        <p:spPr>
          <a:xfrm>
            <a:off x="8833104" y="2468880"/>
            <a:ext cx="2700223" cy="3017520"/>
          </a:xfrm>
          <a:prstGeom prst="rect">
            <a:avLst/>
          </a:prstGeom>
          <a:solidFill>
            <a:srgbClr val="FCFBF8"/>
          </a:solidFill>
          <a:ln w="12700">
            <a:solidFill>
              <a:srgbClr val="B9C6D4"/>
            </a:solidFill>
            <a:prstDash val="solid"/>
          </a:ln>
        </p:spPr>
      </p:sp>
      <p:sp>
        <p:nvSpPr>
          <p:cNvPr id="30" name="Text 28"/>
          <p:cNvSpPr txBox="1"/>
          <p:nvPr/>
        </p:nvSpPr>
        <p:spPr>
          <a:xfrm>
            <a:off x="9052560" y="2670048"/>
            <a:ext cx="228600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STATE CHARACTERS</a:t>
            </a:r>
            <a:endParaRPr lang="en-US" sz="1000" dirty="0"/>
          </a:p>
        </p:txBody>
      </p:sp>
      <p:sp>
        <p:nvSpPr>
          <p:cNvPr id="31" name="Text 29"/>
          <p:cNvSpPr txBox="1"/>
          <p:nvPr/>
        </p:nvSpPr>
        <p:spPr>
          <a:xfrm>
            <a:off x="9052560" y="3035808"/>
            <a:ext cx="274320" cy="219456"/>
          </a:xfrm>
          <a:prstGeom prst="rect">
            <a:avLst/>
          </a:prstGeom>
          <a:noFill/>
          <a:ln/>
        </p:spPr>
        <p:txBody>
          <a:bodyPr wrap="square" lIns="0" tIns="0" rIns="0" bIns="0" rtlCol="0" anchor="ctr"/>
          <a:lstStyle/>
          <a:p>
            <a:pPr algn="l" indent="0" marL="0">
              <a:lnSpc>
                <a:spcPts val="1700"/>
              </a:lnSpc>
              <a:buNone/>
            </a:pPr>
            <a:r>
              <a:rPr lang="en-US" sz="1300" b="1" dirty="0">
                <a:solidFill>
                  <a:srgbClr val="17324D"/>
                </a:solidFill>
                <a:latin typeface="Courier New" pitchFamily="34" charset="0"/>
                <a:ea typeface="Courier New" pitchFamily="34" charset="-122"/>
                <a:cs typeface="Courier New" pitchFamily="34" charset="-120"/>
              </a:rPr>
              <a:t>R</a:t>
            </a:r>
            <a:endParaRPr lang="en-US" sz="1300" dirty="0"/>
          </a:p>
        </p:txBody>
      </p:sp>
      <p:sp>
        <p:nvSpPr>
          <p:cNvPr id="32" name="Text 30"/>
          <p:cNvSpPr txBox="1"/>
          <p:nvPr/>
        </p:nvSpPr>
        <p:spPr>
          <a:xfrm>
            <a:off x="9418320" y="3054096"/>
            <a:ext cx="1737360" cy="219456"/>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Running</a:t>
            </a:r>
            <a:endParaRPr lang="en-US" sz="1100" dirty="0"/>
          </a:p>
        </p:txBody>
      </p:sp>
      <p:sp>
        <p:nvSpPr>
          <p:cNvPr id="33" name="Text 31"/>
          <p:cNvSpPr txBox="1"/>
          <p:nvPr/>
        </p:nvSpPr>
        <p:spPr>
          <a:xfrm>
            <a:off x="9052560" y="3419856"/>
            <a:ext cx="274320" cy="219456"/>
          </a:xfrm>
          <a:prstGeom prst="rect">
            <a:avLst/>
          </a:prstGeom>
          <a:noFill/>
          <a:ln/>
        </p:spPr>
        <p:txBody>
          <a:bodyPr wrap="square" lIns="0" tIns="0" rIns="0" bIns="0" rtlCol="0" anchor="ctr"/>
          <a:lstStyle/>
          <a:p>
            <a:pPr algn="l" indent="0" marL="0">
              <a:lnSpc>
                <a:spcPts val="1700"/>
              </a:lnSpc>
              <a:buNone/>
            </a:pPr>
            <a:r>
              <a:rPr lang="en-US" sz="1300" b="1" dirty="0">
                <a:solidFill>
                  <a:srgbClr val="17324D"/>
                </a:solidFill>
                <a:latin typeface="Courier New" pitchFamily="34" charset="0"/>
                <a:ea typeface="Courier New" pitchFamily="34" charset="-122"/>
                <a:cs typeface="Courier New" pitchFamily="34" charset="-120"/>
              </a:rPr>
              <a:t>S</a:t>
            </a:r>
            <a:endParaRPr lang="en-US" sz="1300" dirty="0"/>
          </a:p>
        </p:txBody>
      </p:sp>
      <p:sp>
        <p:nvSpPr>
          <p:cNvPr id="34" name="Text 32"/>
          <p:cNvSpPr txBox="1"/>
          <p:nvPr/>
        </p:nvSpPr>
        <p:spPr>
          <a:xfrm>
            <a:off x="9418320" y="3438144"/>
            <a:ext cx="1737360" cy="219456"/>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Sleeping</a:t>
            </a:r>
            <a:endParaRPr lang="en-US" sz="1100" dirty="0"/>
          </a:p>
        </p:txBody>
      </p:sp>
      <p:sp>
        <p:nvSpPr>
          <p:cNvPr id="35" name="Text 33"/>
          <p:cNvSpPr txBox="1"/>
          <p:nvPr/>
        </p:nvSpPr>
        <p:spPr>
          <a:xfrm>
            <a:off x="9052560" y="3803904"/>
            <a:ext cx="274320" cy="219456"/>
          </a:xfrm>
          <a:prstGeom prst="rect">
            <a:avLst/>
          </a:prstGeom>
          <a:noFill/>
          <a:ln/>
        </p:spPr>
        <p:txBody>
          <a:bodyPr wrap="square" lIns="0" tIns="0" rIns="0" bIns="0" rtlCol="0" anchor="ctr"/>
          <a:lstStyle/>
          <a:p>
            <a:pPr algn="l" indent="0" marL="0">
              <a:lnSpc>
                <a:spcPts val="1700"/>
              </a:lnSpc>
              <a:buNone/>
            </a:pPr>
            <a:r>
              <a:rPr lang="en-US" sz="1300" b="1" dirty="0">
                <a:solidFill>
                  <a:srgbClr val="17324D"/>
                </a:solidFill>
                <a:latin typeface="Courier New" pitchFamily="34" charset="0"/>
                <a:ea typeface="Courier New" pitchFamily="34" charset="-122"/>
                <a:cs typeface="Courier New" pitchFamily="34" charset="-120"/>
              </a:rPr>
              <a:t>D</a:t>
            </a:r>
            <a:endParaRPr lang="en-US" sz="1300" dirty="0"/>
          </a:p>
        </p:txBody>
      </p:sp>
      <p:sp>
        <p:nvSpPr>
          <p:cNvPr id="36" name="Text 34"/>
          <p:cNvSpPr txBox="1"/>
          <p:nvPr/>
        </p:nvSpPr>
        <p:spPr>
          <a:xfrm>
            <a:off x="9418320" y="3822192"/>
            <a:ext cx="1737360" cy="219456"/>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Disk sleep</a:t>
            </a:r>
            <a:endParaRPr lang="en-US" sz="1100" dirty="0"/>
          </a:p>
        </p:txBody>
      </p:sp>
      <p:sp>
        <p:nvSpPr>
          <p:cNvPr id="37" name="Text 35"/>
          <p:cNvSpPr txBox="1"/>
          <p:nvPr/>
        </p:nvSpPr>
        <p:spPr>
          <a:xfrm>
            <a:off x="9052560" y="4187952"/>
            <a:ext cx="274320" cy="219456"/>
          </a:xfrm>
          <a:prstGeom prst="rect">
            <a:avLst/>
          </a:prstGeom>
          <a:noFill/>
          <a:ln/>
        </p:spPr>
        <p:txBody>
          <a:bodyPr wrap="square" lIns="0" tIns="0" rIns="0" bIns="0" rtlCol="0" anchor="ctr"/>
          <a:lstStyle/>
          <a:p>
            <a:pPr algn="l" indent="0" marL="0">
              <a:lnSpc>
                <a:spcPts val="1700"/>
              </a:lnSpc>
              <a:buNone/>
            </a:pPr>
            <a:r>
              <a:rPr lang="en-US" sz="1300" b="1" dirty="0">
                <a:solidFill>
                  <a:srgbClr val="17324D"/>
                </a:solidFill>
                <a:latin typeface="Courier New" pitchFamily="34" charset="0"/>
                <a:ea typeface="Courier New" pitchFamily="34" charset="-122"/>
                <a:cs typeface="Courier New" pitchFamily="34" charset="-120"/>
              </a:rPr>
              <a:t>T</a:t>
            </a:r>
            <a:endParaRPr lang="en-US" sz="1300" dirty="0"/>
          </a:p>
        </p:txBody>
      </p:sp>
      <p:sp>
        <p:nvSpPr>
          <p:cNvPr id="38" name="Text 36"/>
          <p:cNvSpPr txBox="1"/>
          <p:nvPr/>
        </p:nvSpPr>
        <p:spPr>
          <a:xfrm>
            <a:off x="9418320" y="4206240"/>
            <a:ext cx="1737360" cy="219456"/>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Stopped</a:t>
            </a:r>
            <a:endParaRPr lang="en-US" sz="1100" dirty="0"/>
          </a:p>
        </p:txBody>
      </p:sp>
      <p:sp>
        <p:nvSpPr>
          <p:cNvPr id="39" name="Text 37"/>
          <p:cNvSpPr txBox="1"/>
          <p:nvPr/>
        </p:nvSpPr>
        <p:spPr>
          <a:xfrm>
            <a:off x="9052560" y="4572000"/>
            <a:ext cx="274320" cy="219456"/>
          </a:xfrm>
          <a:prstGeom prst="rect">
            <a:avLst/>
          </a:prstGeom>
          <a:noFill/>
          <a:ln/>
        </p:spPr>
        <p:txBody>
          <a:bodyPr wrap="square" lIns="0" tIns="0" rIns="0" bIns="0" rtlCol="0" anchor="ctr"/>
          <a:lstStyle/>
          <a:p>
            <a:pPr algn="l" indent="0" marL="0">
              <a:lnSpc>
                <a:spcPts val="1700"/>
              </a:lnSpc>
              <a:buNone/>
            </a:pPr>
            <a:r>
              <a:rPr lang="en-US" sz="1300" b="1" dirty="0">
                <a:solidFill>
                  <a:srgbClr val="D64525"/>
                </a:solidFill>
                <a:latin typeface="Courier New" pitchFamily="34" charset="0"/>
                <a:ea typeface="Courier New" pitchFamily="34" charset="-122"/>
                <a:cs typeface="Courier New" pitchFamily="34" charset="-120"/>
              </a:rPr>
              <a:t>Z</a:t>
            </a:r>
            <a:endParaRPr lang="en-US" sz="1300" dirty="0"/>
          </a:p>
        </p:txBody>
      </p:sp>
      <p:sp>
        <p:nvSpPr>
          <p:cNvPr id="40" name="Text 38"/>
          <p:cNvSpPr txBox="1"/>
          <p:nvPr/>
        </p:nvSpPr>
        <p:spPr>
          <a:xfrm>
            <a:off x="9418320" y="4590288"/>
            <a:ext cx="1737360" cy="219456"/>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Zombie</a:t>
            </a:r>
            <a:endParaRPr lang="en-US" sz="1100" dirty="0"/>
          </a:p>
        </p:txBody>
      </p:sp>
      <p:sp>
        <p:nvSpPr>
          <p:cNvPr id="41" name="Text 39"/>
          <p:cNvSpPr txBox="1"/>
          <p:nvPr/>
        </p:nvSpPr>
        <p:spPr>
          <a:xfrm>
            <a:off x="9052560" y="4956048"/>
            <a:ext cx="274320" cy="219456"/>
          </a:xfrm>
          <a:prstGeom prst="rect">
            <a:avLst/>
          </a:prstGeom>
          <a:noFill/>
          <a:ln/>
        </p:spPr>
        <p:txBody>
          <a:bodyPr wrap="square" lIns="0" tIns="0" rIns="0" bIns="0" rtlCol="0" anchor="ctr"/>
          <a:lstStyle/>
          <a:p>
            <a:pPr algn="l" indent="0" marL="0">
              <a:lnSpc>
                <a:spcPts val="1700"/>
              </a:lnSpc>
              <a:buNone/>
            </a:pPr>
            <a:r>
              <a:rPr lang="en-US" sz="1300" b="1" dirty="0">
                <a:solidFill>
                  <a:srgbClr val="17324D"/>
                </a:solidFill>
                <a:latin typeface="Courier New" pitchFamily="34" charset="0"/>
                <a:ea typeface="Courier New" pitchFamily="34" charset="-122"/>
                <a:cs typeface="Courier New" pitchFamily="34" charset="-120"/>
              </a:rPr>
              <a:t>I</a:t>
            </a:r>
            <a:endParaRPr lang="en-US" sz="1300" dirty="0"/>
          </a:p>
        </p:txBody>
      </p:sp>
      <p:sp>
        <p:nvSpPr>
          <p:cNvPr id="42" name="Text 40"/>
          <p:cNvSpPr txBox="1"/>
          <p:nvPr/>
        </p:nvSpPr>
        <p:spPr>
          <a:xfrm>
            <a:off x="9418320" y="4974336"/>
            <a:ext cx="1737360" cy="219456"/>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Idle</a:t>
            </a:r>
            <a:endParaRPr lang="en-US" sz="1100" dirty="0"/>
          </a:p>
        </p:txBody>
      </p:sp>
      <p:sp>
        <p:nvSpPr>
          <p:cNvPr id="43" name="Text 41"/>
          <p:cNvSpPr txBox="1"/>
          <p:nvPr/>
        </p:nvSpPr>
        <p:spPr>
          <a:xfrm>
            <a:off x="658368" y="5687568"/>
            <a:ext cx="7863840" cy="365760"/>
          </a:xfrm>
          <a:prstGeom prst="rect">
            <a:avLst/>
          </a:prstGeom>
          <a:noFill/>
          <a:ln/>
        </p:spPr>
        <p:txBody>
          <a:bodyPr wrap="square" lIns="0" tIns="0" rIns="0" bIns="0" rtlCol="0" anchor="t"/>
          <a:lstStyle/>
          <a:p>
            <a:pPr algn="l" indent="0" marL="0">
              <a:lnSpc>
                <a:spcPts val="1900"/>
              </a:lnSpc>
              <a:buNone/>
            </a:pPr>
            <a:r>
              <a:rPr lang="en-US" sz="1200" b="1" dirty="0">
                <a:solidFill>
                  <a:srgbClr val="17324D"/>
                </a:solidFill>
                <a:latin typeface="Arial" pitchFamily="34" charset="0"/>
                <a:ea typeface="Arial" pitchFamily="34" charset="-122"/>
                <a:cs typeface="Arial" pitchFamily="34" charset="-120"/>
              </a:rPr>
              <a:t>ZOMBIE is the only state a correct program can leave behind by accident, which is why CO-2 lists it under process management pitfalls.</a:t>
            </a:r>
            <a:endParaRPr lang="en-US" sz="1200" dirty="0"/>
          </a:p>
        </p:txBody>
      </p:sp>
      <p:sp>
        <p:nvSpPr>
          <p:cNvPr id="44" name="Text 42"/>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07 / 23</a:t>
            </a:r>
            <a:endParaRPr lang="en-US" sz="1050" dirty="0"/>
          </a:p>
        </p:txBody>
      </p:sp>
      <p:sp>
        <p:nvSpPr>
          <p:cNvPr id="45" name="Text 43"/>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CO-2 · LIFECYCLE</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par>
                                <p:cTn id="109" presetID="10" presetClass="entr" presetSubtype="0" fill="hold" grpId="0" nodeType="withEffect">
                                  <p:stCondLst>
                                    <p:cond delay="18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20"/>
                                        <p:tgtEl>
                                          <p:spTgt spid="28"/>
                                        </p:tgtEl>
                                      </p:cBhvr>
                                    </p:animEffect>
                                    <p:anim calcmode="lin" valueType="num">
                                      <p:cBhvr additive="base">
                                        <p:cTn id="112" dur="420" fill="hold"/>
                                        <p:tgtEl>
                                          <p:spTgt spid="28"/>
                                        </p:tgtEl>
                                        <p:attrNameLst>
                                          <p:attrName>ppt_y</p:attrName>
                                        </p:attrNameLst>
                                      </p:cBhvr>
                                      <p:tavLst>
                                        <p:tav tm="0">
                                          <p:val>
                                            <p:strVal val="ppt_y+0.018"/>
                                          </p:val>
                                        </p:tav>
                                        <p:tav tm="100000">
                                          <p:val>
                                            <p:strVal val="ppt_y"/>
                                          </p:val>
                                        </p:tav>
                                      </p:tavLst>
                                    </p:anim>
                                  </p:childTnLst>
                                </p:cTn>
                              </p:par>
                              <p:par>
                                <p:cTn id="113" presetID="10" presetClass="entr" presetSubtype="0" fill="hold" grpId="0" nodeType="withEffect">
                                  <p:stCondLst>
                                    <p:cond delay="18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420"/>
                                        <p:tgtEl>
                                          <p:spTgt spid="29"/>
                                        </p:tgtEl>
                                      </p:cBhvr>
                                    </p:animEffect>
                                    <p:anim calcmode="lin" valueType="num">
                                      <p:cBhvr additive="base">
                                        <p:cTn id="116" dur="420" fill="hold"/>
                                        <p:tgtEl>
                                          <p:spTgt spid="29"/>
                                        </p:tgtEl>
                                        <p:attrNameLst>
                                          <p:attrName>ppt_y</p:attrName>
                                        </p:attrNameLst>
                                      </p:cBhvr>
                                      <p:tavLst>
                                        <p:tav tm="0">
                                          <p:val>
                                            <p:strVal val="ppt_y+0.018"/>
                                          </p:val>
                                        </p:tav>
                                        <p:tav tm="100000">
                                          <p:val>
                                            <p:strVal val="ppt_y"/>
                                          </p:val>
                                        </p:tav>
                                      </p:tavLst>
                                    </p:anim>
                                  </p:childTnLst>
                                </p:cTn>
                              </p:par>
                              <p:par>
                                <p:cTn id="117" presetID="10" presetClass="entr" presetSubtype="0" fill="hold" grpId="0" nodeType="withEffect">
                                  <p:stCondLst>
                                    <p:cond delay="18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420"/>
                                        <p:tgtEl>
                                          <p:spTgt spid="30"/>
                                        </p:tgtEl>
                                      </p:cBhvr>
                                    </p:animEffect>
                                    <p:anim calcmode="lin" valueType="num">
                                      <p:cBhvr additive="base">
                                        <p:cTn id="120" dur="420" fill="hold"/>
                                        <p:tgtEl>
                                          <p:spTgt spid="30"/>
                                        </p:tgtEl>
                                        <p:attrNameLst>
                                          <p:attrName>ppt_y</p:attrName>
                                        </p:attrNameLst>
                                      </p:cBhvr>
                                      <p:tavLst>
                                        <p:tav tm="0">
                                          <p:val>
                                            <p:strVal val="ppt_y+0.018"/>
                                          </p:val>
                                        </p:tav>
                                        <p:tav tm="100000">
                                          <p:val>
                                            <p:strVal val="ppt_y"/>
                                          </p:val>
                                        </p:tav>
                                      </p:tavLst>
                                    </p:anim>
                                  </p:childTnLst>
                                </p:cTn>
                              </p:par>
                              <p:par>
                                <p:cTn id="121" presetID="10" presetClass="entr" presetSubtype="0" fill="hold" grpId="0" nodeType="withEffect">
                                  <p:stCondLst>
                                    <p:cond delay="180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420"/>
                                        <p:tgtEl>
                                          <p:spTgt spid="31"/>
                                        </p:tgtEl>
                                      </p:cBhvr>
                                    </p:animEffect>
                                    <p:anim calcmode="lin" valueType="num">
                                      <p:cBhvr additive="base">
                                        <p:cTn id="124" dur="420" fill="hold"/>
                                        <p:tgtEl>
                                          <p:spTgt spid="31"/>
                                        </p:tgtEl>
                                        <p:attrNameLst>
                                          <p:attrName>ppt_y</p:attrName>
                                        </p:attrNameLst>
                                      </p:cBhvr>
                                      <p:tavLst>
                                        <p:tav tm="0">
                                          <p:val>
                                            <p:strVal val="ppt_y+0.018"/>
                                          </p:val>
                                        </p:tav>
                                        <p:tav tm="100000">
                                          <p:val>
                                            <p:strVal val="ppt_y"/>
                                          </p:val>
                                        </p:tav>
                                      </p:tavLst>
                                    </p:anim>
                                  </p:childTnLst>
                                </p:cTn>
                              </p:par>
                              <p:par>
                                <p:cTn id="125" presetID="10" presetClass="entr" presetSubtype="0" fill="hold" grpId="0" nodeType="withEffect">
                                  <p:stCondLst>
                                    <p:cond delay="18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20"/>
                                        <p:tgtEl>
                                          <p:spTgt spid="32"/>
                                        </p:tgtEl>
                                      </p:cBhvr>
                                    </p:animEffect>
                                    <p:anim calcmode="lin" valueType="num">
                                      <p:cBhvr additive="base">
                                        <p:cTn id="128" dur="420" fill="hold"/>
                                        <p:tgtEl>
                                          <p:spTgt spid="32"/>
                                        </p:tgtEl>
                                        <p:attrNameLst>
                                          <p:attrName>ppt_y</p:attrName>
                                        </p:attrNameLst>
                                      </p:cBhvr>
                                      <p:tavLst>
                                        <p:tav tm="0">
                                          <p:val>
                                            <p:strVal val="ppt_y+0.018"/>
                                          </p:val>
                                        </p:tav>
                                        <p:tav tm="100000">
                                          <p:val>
                                            <p:strVal val="ppt_y"/>
                                          </p:val>
                                        </p:tav>
                                      </p:tavLst>
                                    </p:anim>
                                  </p:childTnLst>
                                </p:cTn>
                              </p:par>
                              <p:par>
                                <p:cTn id="129" presetID="10" presetClass="entr" presetSubtype="0" fill="hold" grpId="0" nodeType="withEffect">
                                  <p:stCondLst>
                                    <p:cond delay="180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420"/>
                                        <p:tgtEl>
                                          <p:spTgt spid="33"/>
                                        </p:tgtEl>
                                      </p:cBhvr>
                                    </p:animEffect>
                                    <p:anim calcmode="lin" valueType="num">
                                      <p:cBhvr additive="base">
                                        <p:cTn id="132" dur="420" fill="hold"/>
                                        <p:tgtEl>
                                          <p:spTgt spid="33"/>
                                        </p:tgtEl>
                                        <p:attrNameLst>
                                          <p:attrName>ppt_y</p:attrName>
                                        </p:attrNameLst>
                                      </p:cBhvr>
                                      <p:tavLst>
                                        <p:tav tm="0">
                                          <p:val>
                                            <p:strVal val="ppt_y+0.018"/>
                                          </p:val>
                                        </p:tav>
                                        <p:tav tm="100000">
                                          <p:val>
                                            <p:strVal val="ppt_y"/>
                                          </p:val>
                                        </p:tav>
                                      </p:tavLst>
                                    </p:anim>
                                  </p:childTnLst>
                                </p:cTn>
                              </p:par>
                              <p:par>
                                <p:cTn id="133" presetID="10" presetClass="entr" presetSubtype="0" fill="hold" grpId="0" nodeType="withEffect">
                                  <p:stCondLst>
                                    <p:cond delay="1800"/>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420"/>
                                        <p:tgtEl>
                                          <p:spTgt spid="34"/>
                                        </p:tgtEl>
                                      </p:cBhvr>
                                    </p:animEffect>
                                    <p:anim calcmode="lin" valueType="num">
                                      <p:cBhvr additive="base">
                                        <p:cTn id="136" dur="420" fill="hold"/>
                                        <p:tgtEl>
                                          <p:spTgt spid="34"/>
                                        </p:tgtEl>
                                        <p:attrNameLst>
                                          <p:attrName>ppt_y</p:attrName>
                                        </p:attrNameLst>
                                      </p:cBhvr>
                                      <p:tavLst>
                                        <p:tav tm="0">
                                          <p:val>
                                            <p:strVal val="ppt_y+0.018"/>
                                          </p:val>
                                        </p:tav>
                                        <p:tav tm="100000">
                                          <p:val>
                                            <p:strVal val="ppt_y"/>
                                          </p:val>
                                        </p:tav>
                                      </p:tavLst>
                                    </p:anim>
                                  </p:childTnLst>
                                </p:cTn>
                              </p:par>
                              <p:par>
                                <p:cTn id="137" presetID="10" presetClass="entr" presetSubtype="0" fill="hold" grpId="0" nodeType="withEffect">
                                  <p:stCondLst>
                                    <p:cond delay="180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9" dur="420"/>
                                        <p:tgtEl>
                                          <p:spTgt spid="35"/>
                                        </p:tgtEl>
                                      </p:cBhvr>
                                    </p:animEffect>
                                    <p:anim calcmode="lin" valueType="num">
                                      <p:cBhvr additive="base">
                                        <p:cTn id="140" dur="420" fill="hold"/>
                                        <p:tgtEl>
                                          <p:spTgt spid="35"/>
                                        </p:tgtEl>
                                        <p:attrNameLst>
                                          <p:attrName>ppt_y</p:attrName>
                                        </p:attrNameLst>
                                      </p:cBhvr>
                                      <p:tavLst>
                                        <p:tav tm="0">
                                          <p:val>
                                            <p:strVal val="ppt_y+0.018"/>
                                          </p:val>
                                        </p:tav>
                                        <p:tav tm="100000">
                                          <p:val>
                                            <p:strVal val="ppt_y"/>
                                          </p:val>
                                        </p:tav>
                                      </p:tavLst>
                                    </p:anim>
                                  </p:childTnLst>
                                </p:cTn>
                              </p:par>
                              <p:par>
                                <p:cTn id="141" presetID="10" presetClass="entr" presetSubtype="0" fill="hold" grpId="0" nodeType="withEffect">
                                  <p:stCondLst>
                                    <p:cond delay="1800"/>
                                  </p:stCondLst>
                                  <p:childTnLst>
                                    <p:set>
                                      <p:cBhvr>
                                        <p:cTn id="142" dur="1" fill="hold">
                                          <p:stCondLst>
                                            <p:cond delay="0"/>
                                          </p:stCondLst>
                                        </p:cTn>
                                        <p:tgtEl>
                                          <p:spTgt spid="36"/>
                                        </p:tgtEl>
                                        <p:attrNameLst>
                                          <p:attrName>style.visibility</p:attrName>
                                        </p:attrNameLst>
                                      </p:cBhvr>
                                      <p:to>
                                        <p:strVal val="visible"/>
                                      </p:to>
                                    </p:set>
                                    <p:animEffect transition="in" filter="fade">
                                      <p:cBhvr>
                                        <p:cTn id="143" dur="420"/>
                                        <p:tgtEl>
                                          <p:spTgt spid="36"/>
                                        </p:tgtEl>
                                      </p:cBhvr>
                                    </p:animEffect>
                                    <p:anim calcmode="lin" valueType="num">
                                      <p:cBhvr additive="base">
                                        <p:cTn id="144" dur="420" fill="hold"/>
                                        <p:tgtEl>
                                          <p:spTgt spid="36"/>
                                        </p:tgtEl>
                                        <p:attrNameLst>
                                          <p:attrName>ppt_y</p:attrName>
                                        </p:attrNameLst>
                                      </p:cBhvr>
                                      <p:tavLst>
                                        <p:tav tm="0">
                                          <p:val>
                                            <p:strVal val="ppt_y+0.018"/>
                                          </p:val>
                                        </p:tav>
                                        <p:tav tm="100000">
                                          <p:val>
                                            <p:strVal val="ppt_y"/>
                                          </p:val>
                                        </p:tav>
                                      </p:tavLst>
                                    </p:anim>
                                  </p:childTnLst>
                                </p:cTn>
                              </p:par>
                              <p:par>
                                <p:cTn id="145" presetID="10" presetClass="entr" presetSubtype="0" fill="hold" grpId="0" nodeType="withEffect">
                                  <p:stCondLst>
                                    <p:cond delay="180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420"/>
                                        <p:tgtEl>
                                          <p:spTgt spid="37"/>
                                        </p:tgtEl>
                                      </p:cBhvr>
                                    </p:animEffect>
                                    <p:anim calcmode="lin" valueType="num">
                                      <p:cBhvr additive="base">
                                        <p:cTn id="148" dur="420" fill="hold"/>
                                        <p:tgtEl>
                                          <p:spTgt spid="37"/>
                                        </p:tgtEl>
                                        <p:attrNameLst>
                                          <p:attrName>ppt_y</p:attrName>
                                        </p:attrNameLst>
                                      </p:cBhvr>
                                      <p:tavLst>
                                        <p:tav tm="0">
                                          <p:val>
                                            <p:strVal val="ppt_y+0.018"/>
                                          </p:val>
                                        </p:tav>
                                        <p:tav tm="100000">
                                          <p:val>
                                            <p:strVal val="ppt_y"/>
                                          </p:val>
                                        </p:tav>
                                      </p:tavLst>
                                    </p:anim>
                                  </p:childTnLst>
                                </p:cTn>
                              </p:par>
                              <p:par>
                                <p:cTn id="149" presetID="10" presetClass="entr" presetSubtype="0" fill="hold" grpId="0" nodeType="withEffect">
                                  <p:stCondLst>
                                    <p:cond delay="180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420"/>
                                        <p:tgtEl>
                                          <p:spTgt spid="38"/>
                                        </p:tgtEl>
                                      </p:cBhvr>
                                    </p:animEffect>
                                    <p:anim calcmode="lin" valueType="num">
                                      <p:cBhvr additive="base">
                                        <p:cTn id="152" dur="420" fill="hold"/>
                                        <p:tgtEl>
                                          <p:spTgt spid="38"/>
                                        </p:tgtEl>
                                        <p:attrNameLst>
                                          <p:attrName>ppt_y</p:attrName>
                                        </p:attrNameLst>
                                      </p:cBhvr>
                                      <p:tavLst>
                                        <p:tav tm="0">
                                          <p:val>
                                            <p:strVal val="ppt_y+0.018"/>
                                          </p:val>
                                        </p:tav>
                                        <p:tav tm="100000">
                                          <p:val>
                                            <p:strVal val="ppt_y"/>
                                          </p:val>
                                        </p:tav>
                                      </p:tavLst>
                                    </p:anim>
                                  </p:childTnLst>
                                </p:cTn>
                              </p:par>
                              <p:par>
                                <p:cTn id="153" presetID="10" presetClass="entr" presetSubtype="0" fill="hold" grpId="0" nodeType="withEffect">
                                  <p:stCondLst>
                                    <p:cond delay="1800"/>
                                  </p:stCondLst>
                                  <p:childTnLst>
                                    <p:set>
                                      <p:cBhvr>
                                        <p:cTn id="154" dur="1" fill="hold">
                                          <p:stCondLst>
                                            <p:cond delay="0"/>
                                          </p:stCondLst>
                                        </p:cTn>
                                        <p:tgtEl>
                                          <p:spTgt spid="39"/>
                                        </p:tgtEl>
                                        <p:attrNameLst>
                                          <p:attrName>style.visibility</p:attrName>
                                        </p:attrNameLst>
                                      </p:cBhvr>
                                      <p:to>
                                        <p:strVal val="visible"/>
                                      </p:to>
                                    </p:set>
                                    <p:animEffect transition="in" filter="fade">
                                      <p:cBhvr>
                                        <p:cTn id="155" dur="420"/>
                                        <p:tgtEl>
                                          <p:spTgt spid="39"/>
                                        </p:tgtEl>
                                      </p:cBhvr>
                                    </p:animEffect>
                                    <p:anim calcmode="lin" valueType="num">
                                      <p:cBhvr additive="base">
                                        <p:cTn id="156" dur="420" fill="hold"/>
                                        <p:tgtEl>
                                          <p:spTgt spid="39"/>
                                        </p:tgtEl>
                                        <p:attrNameLst>
                                          <p:attrName>ppt_y</p:attrName>
                                        </p:attrNameLst>
                                      </p:cBhvr>
                                      <p:tavLst>
                                        <p:tav tm="0">
                                          <p:val>
                                            <p:strVal val="ppt_y+0.018"/>
                                          </p:val>
                                        </p:tav>
                                        <p:tav tm="100000">
                                          <p:val>
                                            <p:strVal val="ppt_y"/>
                                          </p:val>
                                        </p:tav>
                                      </p:tavLst>
                                    </p:anim>
                                  </p:childTnLst>
                                </p:cTn>
                              </p:par>
                              <p:par>
                                <p:cTn id="157" presetID="10" presetClass="entr" presetSubtype="0" fill="hold" grpId="0" nodeType="withEffect">
                                  <p:stCondLst>
                                    <p:cond delay="1800"/>
                                  </p:stCondLst>
                                  <p:childTnLst>
                                    <p:set>
                                      <p:cBhvr>
                                        <p:cTn id="158" dur="1" fill="hold">
                                          <p:stCondLst>
                                            <p:cond delay="0"/>
                                          </p:stCondLst>
                                        </p:cTn>
                                        <p:tgtEl>
                                          <p:spTgt spid="40"/>
                                        </p:tgtEl>
                                        <p:attrNameLst>
                                          <p:attrName>style.visibility</p:attrName>
                                        </p:attrNameLst>
                                      </p:cBhvr>
                                      <p:to>
                                        <p:strVal val="visible"/>
                                      </p:to>
                                    </p:set>
                                    <p:animEffect transition="in" filter="fade">
                                      <p:cBhvr>
                                        <p:cTn id="159" dur="420"/>
                                        <p:tgtEl>
                                          <p:spTgt spid="40"/>
                                        </p:tgtEl>
                                      </p:cBhvr>
                                    </p:animEffect>
                                    <p:anim calcmode="lin" valueType="num">
                                      <p:cBhvr additive="base">
                                        <p:cTn id="160" dur="420" fill="hold"/>
                                        <p:tgtEl>
                                          <p:spTgt spid="40"/>
                                        </p:tgtEl>
                                        <p:attrNameLst>
                                          <p:attrName>ppt_y</p:attrName>
                                        </p:attrNameLst>
                                      </p:cBhvr>
                                      <p:tavLst>
                                        <p:tav tm="0">
                                          <p:val>
                                            <p:strVal val="ppt_y+0.018"/>
                                          </p:val>
                                        </p:tav>
                                        <p:tav tm="100000">
                                          <p:val>
                                            <p:strVal val="ppt_y"/>
                                          </p:val>
                                        </p:tav>
                                      </p:tavLst>
                                    </p:anim>
                                  </p:childTnLst>
                                </p:cTn>
                              </p:par>
                              <p:par>
                                <p:cTn id="161" presetID="10" presetClass="entr" presetSubtype="0" fill="hold" grpId="0" nodeType="withEffect">
                                  <p:stCondLst>
                                    <p:cond delay="1800"/>
                                  </p:stCondLst>
                                  <p:childTnLst>
                                    <p:set>
                                      <p:cBhvr>
                                        <p:cTn id="162" dur="1" fill="hold">
                                          <p:stCondLst>
                                            <p:cond delay="0"/>
                                          </p:stCondLst>
                                        </p:cTn>
                                        <p:tgtEl>
                                          <p:spTgt spid="41"/>
                                        </p:tgtEl>
                                        <p:attrNameLst>
                                          <p:attrName>style.visibility</p:attrName>
                                        </p:attrNameLst>
                                      </p:cBhvr>
                                      <p:to>
                                        <p:strVal val="visible"/>
                                      </p:to>
                                    </p:set>
                                    <p:animEffect transition="in" filter="fade">
                                      <p:cBhvr>
                                        <p:cTn id="163" dur="420"/>
                                        <p:tgtEl>
                                          <p:spTgt spid="41"/>
                                        </p:tgtEl>
                                      </p:cBhvr>
                                    </p:animEffect>
                                    <p:anim calcmode="lin" valueType="num">
                                      <p:cBhvr additive="base">
                                        <p:cTn id="164" dur="420" fill="hold"/>
                                        <p:tgtEl>
                                          <p:spTgt spid="41"/>
                                        </p:tgtEl>
                                        <p:attrNameLst>
                                          <p:attrName>ppt_y</p:attrName>
                                        </p:attrNameLst>
                                      </p:cBhvr>
                                      <p:tavLst>
                                        <p:tav tm="0">
                                          <p:val>
                                            <p:strVal val="ppt_y+0.018"/>
                                          </p:val>
                                        </p:tav>
                                        <p:tav tm="100000">
                                          <p:val>
                                            <p:strVal val="ppt_y"/>
                                          </p:val>
                                        </p:tav>
                                      </p:tavLst>
                                    </p:anim>
                                  </p:childTnLst>
                                </p:cTn>
                              </p:par>
                              <p:par>
                                <p:cTn id="165" presetID="10" presetClass="entr" presetSubtype="0" fill="hold" grpId="0" nodeType="withEffect">
                                  <p:stCondLst>
                                    <p:cond delay="1800"/>
                                  </p:stCondLst>
                                  <p:childTnLst>
                                    <p:set>
                                      <p:cBhvr>
                                        <p:cTn id="166" dur="1" fill="hold">
                                          <p:stCondLst>
                                            <p:cond delay="0"/>
                                          </p:stCondLst>
                                        </p:cTn>
                                        <p:tgtEl>
                                          <p:spTgt spid="42"/>
                                        </p:tgtEl>
                                        <p:attrNameLst>
                                          <p:attrName>style.visibility</p:attrName>
                                        </p:attrNameLst>
                                      </p:cBhvr>
                                      <p:to>
                                        <p:strVal val="visible"/>
                                      </p:to>
                                    </p:set>
                                    <p:animEffect transition="in" filter="fade">
                                      <p:cBhvr>
                                        <p:cTn id="167" dur="420"/>
                                        <p:tgtEl>
                                          <p:spTgt spid="42"/>
                                        </p:tgtEl>
                                      </p:cBhvr>
                                    </p:animEffect>
                                    <p:anim calcmode="lin" valueType="num">
                                      <p:cBhvr additive="base">
                                        <p:cTn id="168" dur="420" fill="hold"/>
                                        <p:tgtEl>
                                          <p:spTgt spid="42"/>
                                        </p:tgtEl>
                                        <p:attrNameLst>
                                          <p:attrName>ppt_y</p:attrName>
                                        </p:attrNameLst>
                                      </p:cBhvr>
                                      <p:tavLst>
                                        <p:tav tm="0">
                                          <p:val>
                                            <p:strVal val="ppt_y+0.018"/>
                                          </p:val>
                                        </p:tav>
                                        <p:tav tm="100000">
                                          <p:val>
                                            <p:strVal val="ppt_y"/>
                                          </p:val>
                                        </p:tav>
                                      </p:tavLst>
                                    </p:anim>
                                  </p:childTnLst>
                                </p:cTn>
                              </p:par>
                              <p:par>
                                <p:cTn id="169" presetID="10" presetClass="entr" presetSubtype="0" fill="hold" grpId="0" nodeType="withEffect">
                                  <p:stCondLst>
                                    <p:cond delay="1800"/>
                                  </p:stCondLst>
                                  <p:childTnLst>
                                    <p:set>
                                      <p:cBhvr>
                                        <p:cTn id="170" dur="1" fill="hold">
                                          <p:stCondLst>
                                            <p:cond delay="0"/>
                                          </p:stCondLst>
                                        </p:cTn>
                                        <p:tgtEl>
                                          <p:spTgt spid="43"/>
                                        </p:tgtEl>
                                        <p:attrNameLst>
                                          <p:attrName>style.visibility</p:attrName>
                                        </p:attrNameLst>
                                      </p:cBhvr>
                                      <p:to>
                                        <p:strVal val="visible"/>
                                      </p:to>
                                    </p:set>
                                    <p:animEffect transition="in" filter="fade">
                                      <p:cBhvr>
                                        <p:cTn id="171" dur="420"/>
                                        <p:tgtEl>
                                          <p:spTgt spid="43"/>
                                        </p:tgtEl>
                                      </p:cBhvr>
                                    </p:animEffect>
                                    <p:anim calcmode="lin" valueType="num">
                                      <p:cBhvr additive="base">
                                        <p:cTn id="172" dur="420" fill="hold"/>
                                        <p:tgtEl>
                                          <p:spTgt spid="43"/>
                                        </p:tgtEl>
                                        <p:attrNameLst>
                                          <p:attrName>ppt_y</p:attrName>
                                        </p:attrNameLst>
                                      </p:cBhvr>
                                      <p:tavLst>
                                        <p:tav tm="0">
                                          <p:val>
                                            <p:strVal val="ppt_y+0.018"/>
                                          </p:val>
                                        </p:tav>
                                        <p:tav tm="100000">
                                          <p:val>
                                            <p:strVal val="ppt_y"/>
                                          </p:val>
                                        </p:tav>
                                      </p:tavLst>
                                    </p:anim>
                                  </p:childTnLst>
                                </p:cTn>
                              </p:par>
                              <p:par>
                                <p:cTn id="173" presetID="10" presetClass="entr" presetSubtype="0" fill="hold" grpId="0" nodeType="withEffect">
                                  <p:stCondLst>
                                    <p:cond delay="1800"/>
                                  </p:stCondLst>
                                  <p:childTnLst>
                                    <p:set>
                                      <p:cBhvr>
                                        <p:cTn id="174" dur="1" fill="hold">
                                          <p:stCondLst>
                                            <p:cond delay="0"/>
                                          </p:stCondLst>
                                        </p:cTn>
                                        <p:tgtEl>
                                          <p:spTgt spid="44"/>
                                        </p:tgtEl>
                                        <p:attrNameLst>
                                          <p:attrName>style.visibility</p:attrName>
                                        </p:attrNameLst>
                                      </p:cBhvr>
                                      <p:to>
                                        <p:strVal val="visible"/>
                                      </p:to>
                                    </p:set>
                                    <p:animEffect transition="in" filter="fade">
                                      <p:cBhvr>
                                        <p:cTn id="175" dur="420"/>
                                        <p:tgtEl>
                                          <p:spTgt spid="44"/>
                                        </p:tgtEl>
                                      </p:cBhvr>
                                    </p:animEffect>
                                    <p:anim calcmode="lin" valueType="num">
                                      <p:cBhvr additive="base">
                                        <p:cTn id="176" dur="420" fill="hold"/>
                                        <p:tgtEl>
                                          <p:spTgt spid="44"/>
                                        </p:tgtEl>
                                        <p:attrNameLst>
                                          <p:attrName>ppt_y</p:attrName>
                                        </p:attrNameLst>
                                      </p:cBhvr>
                                      <p:tavLst>
                                        <p:tav tm="0">
                                          <p:val>
                                            <p:strVal val="ppt_y+0.018"/>
                                          </p:val>
                                        </p:tav>
                                        <p:tav tm="100000">
                                          <p:val>
                                            <p:strVal val="ppt_y"/>
                                          </p:val>
                                        </p:tav>
                                      </p:tavLst>
                                    </p:anim>
                                  </p:childTnLst>
                                </p:cTn>
                              </p:par>
                              <p:par>
                                <p:cTn id="177" presetID="10" presetClass="entr" presetSubtype="0" fill="hold" grpId="0" nodeType="withEffect">
                                  <p:stCondLst>
                                    <p:cond delay="1800"/>
                                  </p:stCondLst>
                                  <p:childTnLst>
                                    <p:set>
                                      <p:cBhvr>
                                        <p:cTn id="178" dur="1" fill="hold">
                                          <p:stCondLst>
                                            <p:cond delay="0"/>
                                          </p:stCondLst>
                                        </p:cTn>
                                        <p:tgtEl>
                                          <p:spTgt spid="45"/>
                                        </p:tgtEl>
                                        <p:attrNameLst>
                                          <p:attrName>style.visibility</p:attrName>
                                        </p:attrNameLst>
                                      </p:cBhvr>
                                      <p:to>
                                        <p:strVal val="visible"/>
                                      </p:to>
                                    </p:set>
                                    <p:animEffect transition="in" filter="fade">
                                      <p:cBhvr>
                                        <p:cTn id="179" dur="420"/>
                                        <p:tgtEl>
                                          <p:spTgt spid="45"/>
                                        </p:tgtEl>
                                      </p:cBhvr>
                                    </p:animEffect>
                                    <p:anim calcmode="lin" valueType="num">
                                      <p:cBhvr additive="base">
                                        <p:cTn id="180" dur="420" fill="hold"/>
                                        <p:tgtEl>
                                          <p:spTgt spid="45"/>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07  /  CO-2  ·  PROCESS MANAGEMENT PITFALLS</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100" b="1" dirty="0">
                <a:solidFill>
                  <a:srgbClr val="17324D"/>
                </a:solidFill>
                <a:latin typeface="Cambria" pitchFamily="34" charset="0"/>
                <a:ea typeface="Cambria" pitchFamily="34" charset="-122"/>
                <a:cs typeface="Cambria" pitchFamily="34" charset="-120"/>
              </a:rPr>
              <a:t>Zombie and orphan, created on purpose</a:t>
            </a:r>
            <a:endParaRPr lang="en-US" sz="31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Two demo programs, so both conditions can be shown live.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2084832"/>
          <a:ext cx="5888736" cy="914400"/>
        </p:xfrm>
        <a:graphic>
          <a:graphicData uri="http://schemas.openxmlformats.org/drawingml/2006/table">
            <a:tbl>
              <a:tblPr/>
              <a:tblGrid>
                <a:gridCol w="1408176"/>
                <a:gridCol w="2331720"/>
                <a:gridCol w="2148840"/>
              </a:tblGrid>
              <a:tr h="384048">
                <a:tc>
                  <a:txBody>
                    <a:bodyPr/>
                    <a:lstStyle/>
                    <a:p>
                      <a:pPr indent="0" marL="0">
                        <a:buNone/>
                      </a:pPr>
                      <a:endParaRPr lang="en-US" sz="1050" dirty="0">
                        <a:latin typeface="Courier New" charset="0"/>
                        <a:ea typeface="Courier New" charset="0"/>
                        <a:cs typeface="Courier New"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50" b="1" dirty="0">
                          <a:solidFill>
                            <a:srgbClr val="17324D"/>
                          </a:solidFill>
                          <a:latin typeface="Courier New" pitchFamily="34" charset="0"/>
                          <a:ea typeface="Courier New" pitchFamily="34" charset="-122"/>
                          <a:cs typeface="Courier New" pitchFamily="34" charset="-120"/>
                        </a:rPr>
                        <a:t>ZOMBIE</a:t>
                      </a:r>
                      <a:endParaRPr lang="en-US" sz="1050" dirty="0">
                        <a:latin typeface="Courier New" charset="0"/>
                        <a:ea typeface="Courier New" charset="0"/>
                        <a:cs typeface="Courier New"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050" b="1" dirty="0">
                          <a:solidFill>
                            <a:srgbClr val="17324D"/>
                          </a:solidFill>
                          <a:latin typeface="Courier New" pitchFamily="34" charset="0"/>
                          <a:ea typeface="Courier New" pitchFamily="34" charset="-122"/>
                          <a:cs typeface="Courier New" pitchFamily="34" charset="-120"/>
                        </a:rPr>
                        <a:t>ORPHAN</a:t>
                      </a:r>
                      <a:endParaRPr lang="en-US" sz="1050" dirty="0">
                        <a:latin typeface="Courier New" charset="0"/>
                        <a:ea typeface="Courier New" charset="0"/>
                        <a:cs typeface="Courier New"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384048">
                <a:tc>
                  <a:txBody>
                    <a:bodyPr/>
                    <a:lstStyle/>
                    <a:p>
                      <a:pPr indent="0" marL="0">
                        <a:buNone/>
                      </a:pPr>
                      <a:r>
                        <a:rPr lang="en-US" sz="1100" b="1" dirty="0">
                          <a:solidFill>
                            <a:srgbClr val="17324D"/>
                          </a:solidFill>
                          <a:latin typeface="Arial" pitchFamily="34" charset="0"/>
                          <a:ea typeface="Arial" pitchFamily="34" charset="-122"/>
                          <a:cs typeface="Arial" pitchFamily="34" charset="-120"/>
                        </a:rPr>
                        <a:t>Child</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has terminated</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still running</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384048">
                <a:tc>
                  <a:txBody>
                    <a:bodyPr/>
                    <a:lstStyle/>
                    <a:p>
                      <a:pPr indent="0" marL="0">
                        <a:buNone/>
                      </a:pPr>
                      <a:r>
                        <a:rPr lang="en-US" sz="1100" b="1" dirty="0">
                          <a:solidFill>
                            <a:srgbClr val="17324D"/>
                          </a:solidFill>
                          <a:latin typeface="Arial" pitchFamily="34" charset="0"/>
                          <a:ea typeface="Arial" pitchFamily="34" charset="-122"/>
                          <a:cs typeface="Arial" pitchFamily="34" charset="-120"/>
                        </a:rPr>
                        <a:t>Parent</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alive, never called wait()</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has terminated</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384048">
                <a:tc>
                  <a:txBody>
                    <a:bodyPr/>
                    <a:lstStyle/>
                    <a:p>
                      <a:pPr indent="0" marL="0">
                        <a:buNone/>
                      </a:pPr>
                      <a:r>
                        <a:rPr lang="en-US" sz="1100" b="1" dirty="0">
                          <a:solidFill>
                            <a:srgbClr val="17324D"/>
                          </a:solidFill>
                          <a:latin typeface="Arial" pitchFamily="34" charset="0"/>
                          <a:ea typeface="Arial" pitchFamily="34" charset="-122"/>
                          <a:cs typeface="Arial" pitchFamily="34" charset="-120"/>
                        </a:rPr>
                        <a:t>Kernel holds</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exit status and the PID</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nothing unusual</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384048">
                <a:tc>
                  <a:txBody>
                    <a:bodyPr/>
                    <a:lstStyle/>
                    <a:p>
                      <a:pPr indent="0" marL="0">
                        <a:buNone/>
                      </a:pPr>
                      <a:r>
                        <a:rPr lang="en-US" sz="1100" b="1" dirty="0">
                          <a:solidFill>
                            <a:srgbClr val="17324D"/>
                          </a:solidFill>
                          <a:latin typeface="Arial" pitchFamily="34" charset="0"/>
                          <a:ea typeface="Arial" pitchFamily="34" charset="-122"/>
                          <a:cs typeface="Arial" pitchFamily="34" charset="-120"/>
                        </a:rPr>
                        <a:t>Resolved by</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parent calling wait()</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re-parenting, automatic</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r h="384048">
                <a:tc>
                  <a:txBody>
                    <a:bodyPr/>
                    <a:lstStyle/>
                    <a:p>
                      <a:pPr indent="0" marL="0">
                        <a:buNone/>
                      </a:pPr>
                      <a:r>
                        <a:rPr lang="en-US" sz="1100" b="1" dirty="0">
                          <a:solidFill>
                            <a:srgbClr val="17324D"/>
                          </a:solidFill>
                          <a:latin typeface="Arial" pitchFamily="34" charset="0"/>
                          <a:ea typeface="Arial" pitchFamily="34" charset="-122"/>
                          <a:cs typeface="Arial" pitchFamily="34" charset="-120"/>
                        </a:rPr>
                        <a:t>A defect?</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yes, it leaks PIDs</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c>
                  <a:txBody>
                    <a:bodyPr/>
                    <a:lstStyle/>
                    <a:p>
                      <a:pPr indent="0" marL="0">
                        <a:buNone/>
                      </a:pPr>
                      <a:r>
                        <a:rPr lang="en-US" sz="1100" dirty="0">
                          <a:solidFill>
                            <a:srgbClr val="3D5A75"/>
                          </a:solidFill>
                          <a:latin typeface="Arial" pitchFamily="34" charset="0"/>
                          <a:ea typeface="Arial" pitchFamily="34" charset="-122"/>
                          <a:cs typeface="Arial" pitchFamily="34" charset="-120"/>
                        </a:rPr>
                        <a:t>no, kernel handles it</a:t>
                      </a:r>
                      <a:endParaRPr lang="en-US" sz="1100" dirty="0">
                        <a:latin typeface="Arial" charset="0"/>
                        <a:ea typeface="Arial" charset="0"/>
                        <a:cs typeface="Arial" charset="0"/>
                      </a:endParaRPr>
                    </a:p>
                  </a:txBody>
                  <a:tcPr marL="82296" marR="82296" marT="27432" marB="27432" anchor="ctr">
                    <a:lnL w="9525" cap="flat" cmpd="sng" algn="ctr">
                      <a:solidFill>
                        <a:srgbClr val="B9C6D4"/>
                      </a:solidFill>
                      <a:prstDash val="solid"/>
                      <a:round/>
                      <a:headEnd type="none" w="med" len="med"/>
                      <a:tailEnd type="none" w="med" len="med"/>
                    </a:lnL>
                    <a:lnR w="9525" cap="flat" cmpd="sng" algn="ctr">
                      <a:solidFill>
                        <a:srgbClr val="B9C6D4"/>
                      </a:solidFill>
                      <a:prstDash val="solid"/>
                      <a:round/>
                      <a:headEnd type="none" w="med" len="med"/>
                      <a:tailEnd type="none" w="med" len="med"/>
                    </a:lnR>
                    <a:lnT w="9525" cap="flat" cmpd="sng" algn="ctr">
                      <a:solidFill>
                        <a:srgbClr val="B9C6D4"/>
                      </a:solidFill>
                      <a:prstDash val="solid"/>
                      <a:round/>
                      <a:headEnd type="none" w="med" len="med"/>
                      <a:tailEnd type="none" w="med" len="med"/>
                    </a:lnT>
                    <a:lnB w="9525" cap="flat" cmpd="sng" algn="ctr">
                      <a:solidFill>
                        <a:srgbClr val="B9C6D4"/>
                      </a:solidFill>
                      <a:prstDash val="solid"/>
                      <a:round/>
                      <a:headEnd type="none" w="med" len="med"/>
                      <a:tailEnd type="none" w="med" len="med"/>
                    </a:lnB>
                    <a:solidFill>
                      <a:srgbClr val="FCFBF8"/>
                    </a:solidFill>
                  </a:tcPr>
                </a:tc>
              </a:tr>
            </a:tbl>
          </a:graphicData>
        </a:graphic>
      </p:graphicFrame>
      <p:sp>
        <p:nvSpPr>
          <p:cNvPr id="6" name="Text 3"/>
          <p:cNvSpPr txBox="1"/>
          <p:nvPr/>
        </p:nvSpPr>
        <p:spPr>
          <a:xfrm>
            <a:off x="658368" y="4590288"/>
            <a:ext cx="5852160" cy="457200"/>
          </a:xfrm>
          <a:prstGeom prst="rect">
            <a:avLst/>
          </a:prstGeom>
          <a:noFill/>
          <a:ln/>
        </p:spPr>
        <p:txBody>
          <a:bodyPr wrap="square" lIns="0" tIns="0" rIns="0" bIns="0" rtlCol="0" anchor="t"/>
          <a:lstStyle/>
          <a:p>
            <a:pPr algn="l" indent="0" marL="0">
              <a:lnSpc>
                <a:spcPts val="1700"/>
              </a:lnSpc>
              <a:buNone/>
            </a:pPr>
            <a:r>
              <a:rPr lang="en-US" sz="1250" b="1" dirty="0">
                <a:solidFill>
                  <a:srgbClr val="17324D"/>
                </a:solidFill>
                <a:latin typeface="Arial" pitchFamily="34" charset="0"/>
                <a:ea typeface="Arial" pitchFamily="34" charset="-122"/>
                <a:cs typeface="Arial" pitchFamily="34" charset="-120"/>
              </a:rPr>
              <a:t>A zombie is dead with a live negligent parent. An orphan is alive with a dead parent. The zombie is the bug.</a:t>
            </a:r>
            <a:endParaRPr lang="en-US" sz="1250" dirty="0"/>
          </a:p>
        </p:txBody>
      </p:sp>
      <p:sp>
        <p:nvSpPr>
          <p:cNvPr id="7" name="Text 4"/>
          <p:cNvSpPr txBox="1"/>
          <p:nvPr/>
        </p:nvSpPr>
        <p:spPr>
          <a:xfrm>
            <a:off x="658368" y="5175504"/>
            <a:ext cx="585216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MEASURED CAVEAT  ·  WSL</a:t>
            </a:r>
            <a:endParaRPr lang="en-US" sz="1000" dirty="0"/>
          </a:p>
        </p:txBody>
      </p:sp>
      <p:sp>
        <p:nvSpPr>
          <p:cNvPr id="8" name="Text 5"/>
          <p:cNvSpPr txBox="1"/>
          <p:nvPr/>
        </p:nvSpPr>
        <p:spPr>
          <a:xfrm>
            <a:off x="658368" y="5449824"/>
            <a:ext cx="5852160" cy="914400"/>
          </a:xfrm>
          <a:prstGeom prst="rect">
            <a:avLst/>
          </a:prstGeom>
          <a:noFill/>
          <a:ln/>
        </p:spPr>
        <p:txBody>
          <a:bodyPr wrap="square" lIns="0" tIns="0" rIns="0" bIns="0" rtlCol="0" anchor="t"/>
          <a:lstStyle/>
          <a:p>
            <a:pPr algn="l" indent="0" marL="0">
              <a:lnSpc>
                <a:spcPts val="1450"/>
              </a:lnSpc>
              <a:buNone/>
            </a:pPr>
            <a:r>
              <a:rPr lang="en-US" sz="1080" dirty="0">
                <a:solidFill>
                  <a:srgbClr val="7A8FA3"/>
                </a:solidFill>
                <a:latin typeface="Arial" pitchFamily="34" charset="0"/>
                <a:ea typeface="Arial" pitchFamily="34" charset="-122"/>
                <a:cs typeface="Arial" pitchFamily="34" charset="-120"/>
              </a:rPr>
              <a:t>The textbook answer is that an orphan is re-parented to PID 1. The kernel actually gives it to the nearest ancestor registered as a child subreaper, and only falls back to PID 1 if there is none. Under WSL that ancestor is Relay, so the observed PPID is not 1. On a bare-metal Linux install it is.</a:t>
            </a:r>
            <a:endParaRPr lang="en-US" sz="1080" dirty="0"/>
          </a:p>
        </p:txBody>
      </p:sp>
      <p:pic>
        <p:nvPicPr>
          <p:cNvPr id="9" name="Image 0" descr="C:/Users/aniketh/AppData/Local/Temp/claude/C--Users-aniketh-Projects/c1252df5-518a-4ed2-aa88-eb82b56e2d29/scratchpad/assets/shot_zombie.png">    </p:cNvPr>
          <p:cNvPicPr>
            <a:picLocks noChangeAspect="1"/>
          </p:cNvPicPr>
          <p:nvPr/>
        </p:nvPicPr>
        <p:blipFill>
          <a:blip r:embed="rId2"/>
          <a:stretch>
            <a:fillRect/>
          </a:stretch>
        </p:blipFill>
        <p:spPr>
          <a:xfrm>
            <a:off x="6766560" y="2084832"/>
            <a:ext cx="4754880" cy="1563624"/>
          </a:xfrm>
          <a:prstGeom prst="rect">
            <a:avLst/>
          </a:prstGeom>
        </p:spPr>
      </p:pic>
      <p:pic>
        <p:nvPicPr>
          <p:cNvPr id="10" name="Image 1" descr="C:/Users/aniketh/AppData/Local/Temp/claude/C--Users-aniketh-Projects/c1252df5-518a-4ed2-aa88-eb82b56e2d29/scratchpad/assets/shot_orphan.png">    </p:cNvPr>
          <p:cNvPicPr>
            <a:picLocks noChangeAspect="1"/>
          </p:cNvPicPr>
          <p:nvPr/>
        </p:nvPicPr>
        <p:blipFill>
          <a:blip r:embed="rId3"/>
          <a:stretch>
            <a:fillRect/>
          </a:stretch>
        </p:blipFill>
        <p:spPr>
          <a:xfrm>
            <a:off x="6766560" y="3803904"/>
            <a:ext cx="4754880" cy="2761488"/>
          </a:xfrm>
          <a:prstGeom prst="rect">
            <a:avLst/>
          </a:prstGeom>
        </p:spPr>
      </p:pic>
      <p:sp>
        <p:nvSpPr>
          <p:cNvPr id="11" name="Text 6"/>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08 / 23</a:t>
            </a:r>
            <a:endParaRPr lang="en-US" sz="1050" dirty="0"/>
          </a:p>
        </p:txBody>
      </p:sp>
      <p:sp>
        <p:nvSpPr>
          <p:cNvPr id="12" name="Text 7"/>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CO-2 · PITFALLS</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anim calcmode="lin" valueType="num">
                                      <p:cBhvr additive="base">
                                        <p:cTn id="20" dur="420" fill="hold"/>
                                        <p:tgtEl>
                                          <p:spTgt spid="9"/>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08  /  CO-3  ·  SIGNALS AND ASYNCHRONOUS NOTIFICATION</a:t>
            </a:r>
            <a:endParaRPr lang="en-US" sz="1100" dirty="0"/>
          </a:p>
        </p:txBody>
      </p:sp>
      <p:sp>
        <p:nvSpPr>
          <p:cNvPr id="3" name="Text 1"/>
          <p:cNvSpPr txBox="1"/>
          <p:nvPr/>
        </p:nvSpPr>
        <p:spPr>
          <a:xfrm>
            <a:off x="658368" y="768096"/>
            <a:ext cx="603504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Signals are the kernel's</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interrupt for processes</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One kill() call, four different contracts.</a:t>
            </a:r>
            <a:endParaRPr lang="en-US" sz="1300" dirty="0"/>
          </a:p>
        </p:txBody>
      </p:sp>
      <p:sp>
        <p:nvSpPr>
          <p:cNvPr id="5" name="Shape 3"/>
          <p:cNvSpPr/>
          <p:nvPr/>
        </p:nvSpPr>
        <p:spPr>
          <a:xfrm>
            <a:off x="658368" y="2395728"/>
            <a:ext cx="5327752" cy="1481328"/>
          </a:xfrm>
          <a:prstGeom prst="rect">
            <a:avLst/>
          </a:prstGeom>
          <a:solidFill>
            <a:srgbClr val="FCFBF8"/>
          </a:solidFill>
          <a:ln w="12700">
            <a:solidFill>
              <a:srgbClr val="B9C6D4"/>
            </a:solidFill>
            <a:prstDash val="solid"/>
          </a:ln>
        </p:spPr>
      </p:sp>
      <p:sp>
        <p:nvSpPr>
          <p:cNvPr id="6" name="Text 4"/>
          <p:cNvSpPr txBox="1"/>
          <p:nvPr/>
        </p:nvSpPr>
        <p:spPr>
          <a:xfrm>
            <a:off x="896112" y="2578608"/>
            <a:ext cx="2560320" cy="384048"/>
          </a:xfrm>
          <a:prstGeom prst="rect">
            <a:avLst/>
          </a:prstGeom>
          <a:noFill/>
          <a:ln/>
        </p:spPr>
        <p:txBody>
          <a:bodyPr wrap="square" lIns="0" tIns="0" rIns="0" bIns="0" rtlCol="0" anchor="ctr"/>
          <a:lstStyle/>
          <a:p>
            <a:pPr indent="0" marL="0">
              <a:buNone/>
            </a:pPr>
            <a:r>
              <a:rPr lang="en-US" sz="2200" b="1" dirty="0">
                <a:solidFill>
                  <a:srgbClr val="17324D"/>
                </a:solidFill>
                <a:latin typeface="Courier New" pitchFamily="34" charset="0"/>
                <a:ea typeface="Courier New" pitchFamily="34" charset="-122"/>
                <a:cs typeface="Courier New" pitchFamily="34" charset="-120"/>
              </a:rPr>
              <a:t>SIGTERM</a:t>
            </a:r>
            <a:endParaRPr lang="en-US" sz="2200" dirty="0"/>
          </a:p>
        </p:txBody>
      </p:sp>
      <p:sp>
        <p:nvSpPr>
          <p:cNvPr id="7" name="Text 5"/>
          <p:cNvSpPr txBox="1"/>
          <p:nvPr/>
        </p:nvSpPr>
        <p:spPr>
          <a:xfrm>
            <a:off x="4212184" y="2670048"/>
            <a:ext cx="877824" cy="237744"/>
          </a:xfrm>
          <a:prstGeom prst="rect">
            <a:avLst/>
          </a:prstGeom>
          <a:noFill/>
          <a:ln/>
        </p:spPr>
        <p:txBody>
          <a:bodyPr wrap="square" lIns="0" tIns="0" rIns="0" bIns="0" rtlCol="0" anchor="ctr"/>
          <a:lstStyle/>
          <a:p>
            <a:pPr algn="r" indent="0" marL="0">
              <a:lnSpc>
                <a:spcPts val="1700"/>
              </a:lnSpc>
              <a:buNone/>
            </a:pPr>
            <a:r>
              <a:rPr lang="en-US" sz="1000" dirty="0">
                <a:solidFill>
                  <a:srgbClr val="7A8FA3"/>
                </a:solidFill>
                <a:latin typeface="Courier New" pitchFamily="34" charset="0"/>
                <a:ea typeface="Courier New" pitchFamily="34" charset="-122"/>
                <a:cs typeface="Courier New" pitchFamily="34" charset="-120"/>
              </a:rPr>
              <a:t>no. 15</a:t>
            </a:r>
            <a:endParaRPr lang="en-US" sz="1000" dirty="0"/>
          </a:p>
        </p:txBody>
      </p:sp>
      <p:sp>
        <p:nvSpPr>
          <p:cNvPr id="8" name="Text 6"/>
          <p:cNvSpPr txBox="1"/>
          <p:nvPr/>
        </p:nvSpPr>
        <p:spPr>
          <a:xfrm>
            <a:off x="5181448" y="2633472"/>
            <a:ext cx="566928" cy="274320"/>
          </a:xfrm>
          <a:prstGeom prst="rect">
            <a:avLst/>
          </a:prstGeom>
          <a:noFill/>
          <a:ln/>
        </p:spPr>
        <p:txBody>
          <a:bodyPr wrap="square" lIns="0" tIns="0" rIns="0" bIns="0" rtlCol="0" anchor="ctr"/>
          <a:lstStyle/>
          <a:p>
            <a:pPr algn="r" indent="0" marL="0">
              <a:lnSpc>
                <a:spcPts val="1700"/>
              </a:lnSpc>
              <a:buNone/>
            </a:pPr>
            <a:r>
              <a:rPr lang="en-US" sz="1400" b="1" dirty="0">
                <a:solidFill>
                  <a:srgbClr val="D64525"/>
                </a:solidFill>
                <a:latin typeface="Courier New" pitchFamily="34" charset="0"/>
                <a:ea typeface="Courier New" pitchFamily="34" charset="-122"/>
                <a:cs typeface="Courier New" pitchFamily="34" charset="-120"/>
              </a:rPr>
              <a:t>[K]</a:t>
            </a:r>
            <a:endParaRPr lang="en-US" sz="1400" dirty="0"/>
          </a:p>
        </p:txBody>
      </p:sp>
      <p:sp>
        <p:nvSpPr>
          <p:cNvPr id="9" name="Text 7"/>
          <p:cNvSpPr txBox="1"/>
          <p:nvPr/>
        </p:nvSpPr>
        <p:spPr>
          <a:xfrm>
            <a:off x="896112" y="3072384"/>
            <a:ext cx="4852264" cy="713232"/>
          </a:xfrm>
          <a:prstGeom prst="rect">
            <a:avLst/>
          </a:prstGeom>
          <a:noFill/>
          <a:ln/>
        </p:spPr>
        <p:txBody>
          <a:bodyPr wrap="square" lIns="0" tIns="0" rIns="0" bIns="0" rtlCol="0" anchor="t"/>
          <a:lstStyle/>
          <a:p>
            <a:pPr algn="l" indent="0" marL="0">
              <a:lnSpc>
                <a:spcPts val="1550"/>
              </a:lnSpc>
              <a:buNone/>
            </a:pPr>
            <a:r>
              <a:rPr lang="en-US" sz="1150" dirty="0">
                <a:solidFill>
                  <a:srgbClr val="3D5A75"/>
                </a:solidFill>
                <a:latin typeface="Arial" pitchFamily="34" charset="0"/>
                <a:ea typeface="Arial" pitchFamily="34" charset="-122"/>
                <a:cs typeface="Arial" pitchFamily="34" charset="-120"/>
              </a:rPr>
              <a:t>Asks the process to stop. It can catch the signal, release resources and exit on its own terms.</a:t>
            </a:r>
            <a:endParaRPr lang="en-US" sz="1150" dirty="0"/>
          </a:p>
        </p:txBody>
      </p:sp>
      <p:sp>
        <p:nvSpPr>
          <p:cNvPr id="10" name="Shape 8"/>
          <p:cNvSpPr/>
          <p:nvPr/>
        </p:nvSpPr>
        <p:spPr>
          <a:xfrm>
            <a:off x="6205576" y="2395728"/>
            <a:ext cx="5327752" cy="1481328"/>
          </a:xfrm>
          <a:prstGeom prst="rect">
            <a:avLst/>
          </a:prstGeom>
          <a:solidFill>
            <a:srgbClr val="FCFBF8"/>
          </a:solidFill>
          <a:ln w="12700">
            <a:solidFill>
              <a:srgbClr val="B9C6D4"/>
            </a:solidFill>
            <a:prstDash val="solid"/>
          </a:ln>
        </p:spPr>
      </p:sp>
      <p:sp>
        <p:nvSpPr>
          <p:cNvPr id="11" name="Text 9"/>
          <p:cNvSpPr txBox="1"/>
          <p:nvPr/>
        </p:nvSpPr>
        <p:spPr>
          <a:xfrm>
            <a:off x="6443320" y="2578608"/>
            <a:ext cx="2560320" cy="384048"/>
          </a:xfrm>
          <a:prstGeom prst="rect">
            <a:avLst/>
          </a:prstGeom>
          <a:noFill/>
          <a:ln/>
        </p:spPr>
        <p:txBody>
          <a:bodyPr wrap="square" lIns="0" tIns="0" rIns="0" bIns="0" rtlCol="0" anchor="ctr"/>
          <a:lstStyle/>
          <a:p>
            <a:pPr indent="0" marL="0">
              <a:buNone/>
            </a:pPr>
            <a:r>
              <a:rPr lang="en-US" sz="2200" b="1" dirty="0">
                <a:solidFill>
                  <a:srgbClr val="17324D"/>
                </a:solidFill>
                <a:latin typeface="Courier New" pitchFamily="34" charset="0"/>
                <a:ea typeface="Courier New" pitchFamily="34" charset="-122"/>
                <a:cs typeface="Courier New" pitchFamily="34" charset="-120"/>
              </a:rPr>
              <a:t>SIGKILL</a:t>
            </a:r>
            <a:endParaRPr lang="en-US" sz="2200" dirty="0"/>
          </a:p>
        </p:txBody>
      </p:sp>
      <p:sp>
        <p:nvSpPr>
          <p:cNvPr id="12" name="Text 10"/>
          <p:cNvSpPr txBox="1"/>
          <p:nvPr/>
        </p:nvSpPr>
        <p:spPr>
          <a:xfrm>
            <a:off x="9759391" y="2670048"/>
            <a:ext cx="877824" cy="237744"/>
          </a:xfrm>
          <a:prstGeom prst="rect">
            <a:avLst/>
          </a:prstGeom>
          <a:noFill/>
          <a:ln/>
        </p:spPr>
        <p:txBody>
          <a:bodyPr wrap="square" lIns="0" tIns="0" rIns="0" bIns="0" rtlCol="0" anchor="ctr"/>
          <a:lstStyle/>
          <a:p>
            <a:pPr algn="r" indent="0" marL="0">
              <a:lnSpc>
                <a:spcPts val="1700"/>
              </a:lnSpc>
              <a:buNone/>
            </a:pPr>
            <a:r>
              <a:rPr lang="en-US" sz="1000" dirty="0">
                <a:solidFill>
                  <a:srgbClr val="7A8FA3"/>
                </a:solidFill>
                <a:latin typeface="Courier New" pitchFamily="34" charset="0"/>
                <a:ea typeface="Courier New" pitchFamily="34" charset="-122"/>
                <a:cs typeface="Courier New" pitchFamily="34" charset="-120"/>
              </a:rPr>
              <a:t>no. 9</a:t>
            </a:r>
            <a:endParaRPr lang="en-US" sz="1000" dirty="0"/>
          </a:p>
        </p:txBody>
      </p:sp>
      <p:sp>
        <p:nvSpPr>
          <p:cNvPr id="13" name="Text 11"/>
          <p:cNvSpPr txBox="1"/>
          <p:nvPr/>
        </p:nvSpPr>
        <p:spPr>
          <a:xfrm>
            <a:off x="10728655" y="2633472"/>
            <a:ext cx="566928" cy="274320"/>
          </a:xfrm>
          <a:prstGeom prst="rect">
            <a:avLst/>
          </a:prstGeom>
          <a:noFill/>
          <a:ln/>
        </p:spPr>
        <p:txBody>
          <a:bodyPr wrap="square" lIns="0" tIns="0" rIns="0" bIns="0" rtlCol="0" anchor="ctr"/>
          <a:lstStyle/>
          <a:p>
            <a:pPr algn="r" indent="0" marL="0">
              <a:lnSpc>
                <a:spcPts val="1700"/>
              </a:lnSpc>
              <a:buNone/>
            </a:pPr>
            <a:r>
              <a:rPr lang="en-US" sz="1400" b="1" dirty="0">
                <a:solidFill>
                  <a:srgbClr val="D64525"/>
                </a:solidFill>
                <a:latin typeface="Courier New" pitchFamily="34" charset="0"/>
                <a:ea typeface="Courier New" pitchFamily="34" charset="-122"/>
                <a:cs typeface="Courier New" pitchFamily="34" charset="-120"/>
              </a:rPr>
              <a:t>[X]</a:t>
            </a:r>
            <a:endParaRPr lang="en-US" sz="1400" dirty="0"/>
          </a:p>
        </p:txBody>
      </p:sp>
      <p:sp>
        <p:nvSpPr>
          <p:cNvPr id="14" name="Text 12"/>
          <p:cNvSpPr txBox="1"/>
          <p:nvPr/>
        </p:nvSpPr>
        <p:spPr>
          <a:xfrm>
            <a:off x="6443320" y="3072384"/>
            <a:ext cx="4852264" cy="713232"/>
          </a:xfrm>
          <a:prstGeom prst="rect">
            <a:avLst/>
          </a:prstGeom>
          <a:noFill/>
          <a:ln/>
        </p:spPr>
        <p:txBody>
          <a:bodyPr wrap="square" lIns="0" tIns="0" rIns="0" bIns="0" rtlCol="0" anchor="t"/>
          <a:lstStyle/>
          <a:p>
            <a:pPr algn="l" indent="0" marL="0">
              <a:lnSpc>
                <a:spcPts val="1550"/>
              </a:lnSpc>
              <a:buNone/>
            </a:pPr>
            <a:r>
              <a:rPr lang="en-US" sz="1150" dirty="0">
                <a:solidFill>
                  <a:srgbClr val="3D5A75"/>
                </a:solidFill>
                <a:latin typeface="Arial" pitchFamily="34" charset="0"/>
                <a:ea typeface="Arial" pitchFamily="34" charset="-122"/>
                <a:cs typeface="Arial" pitchFamily="34" charset="-120"/>
              </a:rPr>
              <a:t>Cannot be caught, blocked or ignored. The process gets no chance to clean up, so it is a last resort.</a:t>
            </a:r>
            <a:endParaRPr lang="en-US" sz="1150" dirty="0"/>
          </a:p>
        </p:txBody>
      </p:sp>
      <p:sp>
        <p:nvSpPr>
          <p:cNvPr id="15" name="Shape 13"/>
          <p:cNvSpPr/>
          <p:nvPr/>
        </p:nvSpPr>
        <p:spPr>
          <a:xfrm>
            <a:off x="658368" y="4078224"/>
            <a:ext cx="5327752" cy="1481328"/>
          </a:xfrm>
          <a:prstGeom prst="rect">
            <a:avLst/>
          </a:prstGeom>
          <a:solidFill>
            <a:srgbClr val="FCFBF8"/>
          </a:solidFill>
          <a:ln w="12700">
            <a:solidFill>
              <a:srgbClr val="B9C6D4"/>
            </a:solidFill>
            <a:prstDash val="solid"/>
          </a:ln>
        </p:spPr>
      </p:sp>
      <p:sp>
        <p:nvSpPr>
          <p:cNvPr id="16" name="Text 14"/>
          <p:cNvSpPr txBox="1"/>
          <p:nvPr/>
        </p:nvSpPr>
        <p:spPr>
          <a:xfrm>
            <a:off x="896112" y="4261104"/>
            <a:ext cx="2560320" cy="384048"/>
          </a:xfrm>
          <a:prstGeom prst="rect">
            <a:avLst/>
          </a:prstGeom>
          <a:noFill/>
          <a:ln/>
        </p:spPr>
        <p:txBody>
          <a:bodyPr wrap="square" lIns="0" tIns="0" rIns="0" bIns="0" rtlCol="0" anchor="ctr"/>
          <a:lstStyle/>
          <a:p>
            <a:pPr indent="0" marL="0">
              <a:buNone/>
            </a:pPr>
            <a:r>
              <a:rPr lang="en-US" sz="2200" b="1" dirty="0">
                <a:solidFill>
                  <a:srgbClr val="17324D"/>
                </a:solidFill>
                <a:latin typeface="Courier New" pitchFamily="34" charset="0"/>
                <a:ea typeface="Courier New" pitchFamily="34" charset="-122"/>
                <a:cs typeface="Courier New" pitchFamily="34" charset="-120"/>
              </a:rPr>
              <a:t>SIGSTOP</a:t>
            </a:r>
            <a:endParaRPr lang="en-US" sz="2200" dirty="0"/>
          </a:p>
        </p:txBody>
      </p:sp>
      <p:sp>
        <p:nvSpPr>
          <p:cNvPr id="17" name="Text 15"/>
          <p:cNvSpPr txBox="1"/>
          <p:nvPr/>
        </p:nvSpPr>
        <p:spPr>
          <a:xfrm>
            <a:off x="4212184" y="4352544"/>
            <a:ext cx="877824" cy="237744"/>
          </a:xfrm>
          <a:prstGeom prst="rect">
            <a:avLst/>
          </a:prstGeom>
          <a:noFill/>
          <a:ln/>
        </p:spPr>
        <p:txBody>
          <a:bodyPr wrap="square" lIns="0" tIns="0" rIns="0" bIns="0" rtlCol="0" anchor="ctr"/>
          <a:lstStyle/>
          <a:p>
            <a:pPr algn="r" indent="0" marL="0">
              <a:lnSpc>
                <a:spcPts val="1700"/>
              </a:lnSpc>
              <a:buNone/>
            </a:pPr>
            <a:r>
              <a:rPr lang="en-US" sz="1000" dirty="0">
                <a:solidFill>
                  <a:srgbClr val="7A8FA3"/>
                </a:solidFill>
                <a:latin typeface="Courier New" pitchFamily="34" charset="0"/>
                <a:ea typeface="Courier New" pitchFamily="34" charset="-122"/>
                <a:cs typeface="Courier New" pitchFamily="34" charset="-120"/>
              </a:rPr>
              <a:t>no. 19</a:t>
            </a:r>
            <a:endParaRPr lang="en-US" sz="1000" dirty="0"/>
          </a:p>
        </p:txBody>
      </p:sp>
      <p:sp>
        <p:nvSpPr>
          <p:cNvPr id="18" name="Text 16"/>
          <p:cNvSpPr txBox="1"/>
          <p:nvPr/>
        </p:nvSpPr>
        <p:spPr>
          <a:xfrm>
            <a:off x="5181448" y="4315968"/>
            <a:ext cx="566928" cy="274320"/>
          </a:xfrm>
          <a:prstGeom prst="rect">
            <a:avLst/>
          </a:prstGeom>
          <a:noFill/>
          <a:ln/>
        </p:spPr>
        <p:txBody>
          <a:bodyPr wrap="square" lIns="0" tIns="0" rIns="0" bIns="0" rtlCol="0" anchor="ctr"/>
          <a:lstStyle/>
          <a:p>
            <a:pPr algn="r" indent="0" marL="0">
              <a:lnSpc>
                <a:spcPts val="1700"/>
              </a:lnSpc>
              <a:buNone/>
            </a:pPr>
            <a:r>
              <a:rPr lang="en-US" sz="1400" b="1" dirty="0">
                <a:solidFill>
                  <a:srgbClr val="D64525"/>
                </a:solidFill>
                <a:latin typeface="Courier New" pitchFamily="34" charset="0"/>
                <a:ea typeface="Courier New" pitchFamily="34" charset="-122"/>
                <a:cs typeface="Courier New" pitchFamily="34" charset="-120"/>
              </a:rPr>
              <a:t>[S]</a:t>
            </a:r>
            <a:endParaRPr lang="en-US" sz="1400" dirty="0"/>
          </a:p>
        </p:txBody>
      </p:sp>
      <p:sp>
        <p:nvSpPr>
          <p:cNvPr id="19" name="Text 17"/>
          <p:cNvSpPr txBox="1"/>
          <p:nvPr/>
        </p:nvSpPr>
        <p:spPr>
          <a:xfrm>
            <a:off x="896112" y="4754880"/>
            <a:ext cx="4852264" cy="713232"/>
          </a:xfrm>
          <a:prstGeom prst="rect">
            <a:avLst/>
          </a:prstGeom>
          <a:noFill/>
          <a:ln/>
        </p:spPr>
        <p:txBody>
          <a:bodyPr wrap="square" lIns="0" tIns="0" rIns="0" bIns="0" rtlCol="0" anchor="t"/>
          <a:lstStyle/>
          <a:p>
            <a:pPr algn="l" indent="0" marL="0">
              <a:lnSpc>
                <a:spcPts val="1550"/>
              </a:lnSpc>
              <a:buNone/>
            </a:pPr>
            <a:r>
              <a:rPr lang="en-US" sz="1150" dirty="0">
                <a:solidFill>
                  <a:srgbClr val="3D5A75"/>
                </a:solidFill>
                <a:latin typeface="Arial" pitchFamily="34" charset="0"/>
                <a:ea typeface="Arial" pitchFamily="34" charset="-122"/>
                <a:cs typeface="Arial" pitchFamily="34" charset="-120"/>
              </a:rPr>
              <a:t>Suspends the process without killing it. Also uncatchable. This is job control, not termination.</a:t>
            </a:r>
            <a:endParaRPr lang="en-US" sz="1150" dirty="0"/>
          </a:p>
        </p:txBody>
      </p:sp>
      <p:sp>
        <p:nvSpPr>
          <p:cNvPr id="20" name="Shape 18"/>
          <p:cNvSpPr/>
          <p:nvPr/>
        </p:nvSpPr>
        <p:spPr>
          <a:xfrm>
            <a:off x="6205576" y="4078224"/>
            <a:ext cx="5327752" cy="1481328"/>
          </a:xfrm>
          <a:prstGeom prst="rect">
            <a:avLst/>
          </a:prstGeom>
          <a:solidFill>
            <a:srgbClr val="FCFBF8"/>
          </a:solidFill>
          <a:ln w="12700">
            <a:solidFill>
              <a:srgbClr val="B9C6D4"/>
            </a:solidFill>
            <a:prstDash val="solid"/>
          </a:ln>
        </p:spPr>
      </p:sp>
      <p:sp>
        <p:nvSpPr>
          <p:cNvPr id="21" name="Text 19"/>
          <p:cNvSpPr txBox="1"/>
          <p:nvPr/>
        </p:nvSpPr>
        <p:spPr>
          <a:xfrm>
            <a:off x="6443320" y="4261104"/>
            <a:ext cx="2560320" cy="384048"/>
          </a:xfrm>
          <a:prstGeom prst="rect">
            <a:avLst/>
          </a:prstGeom>
          <a:noFill/>
          <a:ln/>
        </p:spPr>
        <p:txBody>
          <a:bodyPr wrap="square" lIns="0" tIns="0" rIns="0" bIns="0" rtlCol="0" anchor="ctr"/>
          <a:lstStyle/>
          <a:p>
            <a:pPr indent="0" marL="0">
              <a:buNone/>
            </a:pPr>
            <a:r>
              <a:rPr lang="en-US" sz="2200" b="1" dirty="0">
                <a:solidFill>
                  <a:srgbClr val="17324D"/>
                </a:solidFill>
                <a:latin typeface="Courier New" pitchFamily="34" charset="0"/>
                <a:ea typeface="Courier New" pitchFamily="34" charset="-122"/>
                <a:cs typeface="Courier New" pitchFamily="34" charset="-120"/>
              </a:rPr>
              <a:t>SIGCONT</a:t>
            </a:r>
            <a:endParaRPr lang="en-US" sz="2200" dirty="0"/>
          </a:p>
        </p:txBody>
      </p:sp>
      <p:sp>
        <p:nvSpPr>
          <p:cNvPr id="22" name="Text 20"/>
          <p:cNvSpPr txBox="1"/>
          <p:nvPr/>
        </p:nvSpPr>
        <p:spPr>
          <a:xfrm>
            <a:off x="9759391" y="4352544"/>
            <a:ext cx="877824" cy="237744"/>
          </a:xfrm>
          <a:prstGeom prst="rect">
            <a:avLst/>
          </a:prstGeom>
          <a:noFill/>
          <a:ln/>
        </p:spPr>
        <p:txBody>
          <a:bodyPr wrap="square" lIns="0" tIns="0" rIns="0" bIns="0" rtlCol="0" anchor="ctr"/>
          <a:lstStyle/>
          <a:p>
            <a:pPr algn="r" indent="0" marL="0">
              <a:lnSpc>
                <a:spcPts val="1700"/>
              </a:lnSpc>
              <a:buNone/>
            </a:pPr>
            <a:r>
              <a:rPr lang="en-US" sz="1000" dirty="0">
                <a:solidFill>
                  <a:srgbClr val="7A8FA3"/>
                </a:solidFill>
                <a:latin typeface="Courier New" pitchFamily="34" charset="0"/>
                <a:ea typeface="Courier New" pitchFamily="34" charset="-122"/>
                <a:cs typeface="Courier New" pitchFamily="34" charset="-120"/>
              </a:rPr>
              <a:t>no. 18</a:t>
            </a:r>
            <a:endParaRPr lang="en-US" sz="1000" dirty="0"/>
          </a:p>
        </p:txBody>
      </p:sp>
      <p:sp>
        <p:nvSpPr>
          <p:cNvPr id="23" name="Text 21"/>
          <p:cNvSpPr txBox="1"/>
          <p:nvPr/>
        </p:nvSpPr>
        <p:spPr>
          <a:xfrm>
            <a:off x="10728655" y="4315968"/>
            <a:ext cx="566928" cy="274320"/>
          </a:xfrm>
          <a:prstGeom prst="rect">
            <a:avLst/>
          </a:prstGeom>
          <a:noFill/>
          <a:ln/>
        </p:spPr>
        <p:txBody>
          <a:bodyPr wrap="square" lIns="0" tIns="0" rIns="0" bIns="0" rtlCol="0" anchor="ctr"/>
          <a:lstStyle/>
          <a:p>
            <a:pPr algn="r" indent="0" marL="0">
              <a:lnSpc>
                <a:spcPts val="1700"/>
              </a:lnSpc>
              <a:buNone/>
            </a:pPr>
            <a:r>
              <a:rPr lang="en-US" sz="1400" b="1" dirty="0">
                <a:solidFill>
                  <a:srgbClr val="D64525"/>
                </a:solidFill>
                <a:latin typeface="Courier New" pitchFamily="34" charset="0"/>
                <a:ea typeface="Courier New" pitchFamily="34" charset="-122"/>
                <a:cs typeface="Courier New" pitchFamily="34" charset="-120"/>
              </a:rPr>
              <a:t>[C]</a:t>
            </a:r>
            <a:endParaRPr lang="en-US" sz="1400" dirty="0"/>
          </a:p>
        </p:txBody>
      </p:sp>
      <p:sp>
        <p:nvSpPr>
          <p:cNvPr id="24" name="Text 22"/>
          <p:cNvSpPr txBox="1"/>
          <p:nvPr/>
        </p:nvSpPr>
        <p:spPr>
          <a:xfrm>
            <a:off x="6443320" y="4754880"/>
            <a:ext cx="4852264" cy="713232"/>
          </a:xfrm>
          <a:prstGeom prst="rect">
            <a:avLst/>
          </a:prstGeom>
          <a:noFill/>
          <a:ln/>
        </p:spPr>
        <p:txBody>
          <a:bodyPr wrap="square" lIns="0" tIns="0" rIns="0" bIns="0" rtlCol="0" anchor="t"/>
          <a:lstStyle/>
          <a:p>
            <a:pPr algn="l" indent="0" marL="0">
              <a:lnSpc>
                <a:spcPts val="1550"/>
              </a:lnSpc>
              <a:buNone/>
            </a:pPr>
            <a:r>
              <a:rPr lang="en-US" sz="1150" dirty="0">
                <a:solidFill>
                  <a:srgbClr val="3D5A75"/>
                </a:solidFill>
                <a:latin typeface="Arial" pitchFamily="34" charset="0"/>
                <a:ea typeface="Arial" pitchFamily="34" charset="-122"/>
                <a:cs typeface="Arial" pitchFamily="34" charset="-120"/>
              </a:rPr>
              <a:t>Resumes a stopped process. Pairs with SIGSTOP for pause and resume workflows.</a:t>
            </a:r>
            <a:endParaRPr lang="en-US" sz="1150" dirty="0"/>
          </a:p>
        </p:txBody>
      </p:sp>
      <p:sp>
        <p:nvSpPr>
          <p:cNvPr id="25" name="Text 23"/>
          <p:cNvSpPr txBox="1"/>
          <p:nvPr/>
        </p:nvSpPr>
        <p:spPr>
          <a:xfrm>
            <a:off x="658368" y="5724144"/>
            <a:ext cx="10241280" cy="365760"/>
          </a:xfrm>
          <a:prstGeom prst="rect">
            <a:avLst/>
          </a:prstGeom>
          <a:noFill/>
          <a:ln/>
        </p:spPr>
        <p:txBody>
          <a:bodyPr wrap="square" lIns="0" tIns="0" rIns="0" bIns="0" rtlCol="0" anchor="t"/>
          <a:lstStyle/>
          <a:p>
            <a:pPr algn="l" indent="0" marL="0">
              <a:lnSpc>
                <a:spcPts val="1900"/>
              </a:lnSpc>
              <a:buNone/>
            </a:pPr>
            <a:r>
              <a:rPr lang="en-US" sz="1200" b="1" dirty="0">
                <a:solidFill>
                  <a:srgbClr val="17324D"/>
                </a:solidFill>
                <a:latin typeface="Arial" pitchFamily="34" charset="0"/>
                <a:ea typeface="Arial" pitchFamily="34" charset="-122"/>
                <a:cs typeface="Arial" pitchFamily="34" charset="-120"/>
              </a:rPr>
              <a:t>SIGKILL and SIGSTOP are the two a process cannot refuse, because the kernel acts on them without ever delivering them to the process.</a:t>
            </a:r>
            <a:endParaRPr lang="en-US" sz="1200" dirty="0"/>
          </a:p>
        </p:txBody>
      </p:sp>
      <p:sp>
        <p:nvSpPr>
          <p:cNvPr id="26" name="Text 24"/>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09 / 23</a:t>
            </a:r>
            <a:endParaRPr lang="en-US" sz="1050" dirty="0"/>
          </a:p>
        </p:txBody>
      </p:sp>
      <p:sp>
        <p:nvSpPr>
          <p:cNvPr id="27" name="Text 25"/>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CO-3 · SIGNALS</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09  /  CO-3  ·  HANDLERS, GROUPS AND JOB CONTROL</a:t>
            </a:r>
            <a:endParaRPr lang="en-US" sz="1100" dirty="0"/>
          </a:p>
        </p:txBody>
      </p:sp>
      <p:sp>
        <p:nvSpPr>
          <p:cNvPr id="3" name="Text 1"/>
          <p:cNvSpPr txBox="1"/>
          <p:nvPr/>
        </p:nvSpPr>
        <p:spPr>
          <a:xfrm>
            <a:off x="658368" y="768096"/>
            <a:ext cx="603504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The monitor is also a</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signal-handling program</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It does not only send signals. It receives them correctly.</a:t>
            </a:r>
            <a:endParaRPr lang="en-US" sz="1300" dirty="0"/>
          </a:p>
        </p:txBody>
      </p:sp>
      <p:sp>
        <p:nvSpPr>
          <p:cNvPr id="5" name="Shape 3"/>
          <p:cNvSpPr/>
          <p:nvPr/>
        </p:nvSpPr>
        <p:spPr>
          <a:xfrm>
            <a:off x="658368" y="2395728"/>
            <a:ext cx="5797296" cy="2139696"/>
          </a:xfrm>
          <a:prstGeom prst="rect">
            <a:avLst/>
          </a:prstGeom>
          <a:solidFill>
            <a:srgbClr val="0F1419"/>
          </a:solidFill>
          <a:ln w="12700">
            <a:solidFill>
              <a:srgbClr val="0F1419"/>
            </a:solidFill>
            <a:prstDash val="solid"/>
          </a:ln>
        </p:spPr>
      </p:sp>
      <p:sp>
        <p:nvSpPr>
          <p:cNvPr id="6" name="Text 4"/>
          <p:cNvSpPr txBox="1"/>
          <p:nvPr/>
        </p:nvSpPr>
        <p:spPr>
          <a:xfrm>
            <a:off x="896112" y="2615184"/>
            <a:ext cx="5394960" cy="1737360"/>
          </a:xfrm>
          <a:prstGeom prst="rect">
            <a:avLst/>
          </a:prstGeom>
          <a:noFill/>
          <a:ln/>
        </p:spPr>
        <p:txBody>
          <a:bodyPr wrap="square" lIns="0" tIns="0" rIns="0" bIns="0" rtlCol="0" anchor="ctr"/>
          <a:lstStyle/>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static volatile sig_atomic_t g_running = 1;</a:t>
            </a:r>
            <a:endParaRPr lang="en-US" sz="1100" dirty="0"/>
          </a:p>
          <a:p>
            <a:pPr algn="l" indent="0" marL="0">
              <a:lnSpc>
                <a:spcPts val="1650"/>
              </a:lnSpc>
              <a:buNone/>
            </a:pP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static void signal_handler(int signal) {</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    if (signal == SIGINT || signal == SIGTERM) {</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        g_running = 0;</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    }</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a:t>
            </a:r>
            <a:endParaRPr lang="en-US" sz="1100" dirty="0"/>
          </a:p>
        </p:txBody>
      </p:sp>
      <p:sp>
        <p:nvSpPr>
          <p:cNvPr id="7" name="Text 5"/>
          <p:cNvSpPr txBox="1"/>
          <p:nvPr/>
        </p:nvSpPr>
        <p:spPr>
          <a:xfrm>
            <a:off x="658368" y="4700016"/>
            <a:ext cx="5760720" cy="1005840"/>
          </a:xfrm>
          <a:prstGeom prst="rect">
            <a:avLst/>
          </a:prstGeom>
          <a:noFill/>
          <a:ln/>
        </p:spPr>
        <p:txBody>
          <a:bodyPr wrap="square" lIns="0" tIns="0" rIns="0" bIns="0" rtlCol="0" anchor="t"/>
          <a:lstStyle/>
          <a:p>
            <a:pPr algn="l" indent="0" marL="0">
              <a:lnSpc>
                <a:spcPts val="1700"/>
              </a:lnSpc>
              <a:buNone/>
            </a:pPr>
            <a:r>
              <a:rPr lang="en-US" sz="1200" dirty="0">
                <a:solidFill>
                  <a:srgbClr val="3D5A75"/>
                </a:solidFill>
                <a:latin typeface="Arial" pitchFamily="34" charset="0"/>
                <a:ea typeface="Arial" pitchFamily="34" charset="-122"/>
                <a:cs typeface="Arial" pitchFamily="34" charset="-120"/>
              </a:rPr>
              <a:t>A handler can interrupt at any machine instruction, so the flag it writes must be written atomically and never cached in a register. That is exactly what volatile sig_atomic_t guarantees. The handler does no work itself: it sets the flag and returns, and the main loop exits on its next pass.</a:t>
            </a:r>
            <a:endParaRPr lang="en-US" sz="1200" dirty="0"/>
          </a:p>
        </p:txBody>
      </p:sp>
      <p:sp>
        <p:nvSpPr>
          <p:cNvPr id="8" name="Shape 6"/>
          <p:cNvSpPr/>
          <p:nvPr/>
        </p:nvSpPr>
        <p:spPr>
          <a:xfrm>
            <a:off x="6620256" y="2395728"/>
            <a:ext cx="4913071" cy="1042416"/>
          </a:xfrm>
          <a:prstGeom prst="rect">
            <a:avLst/>
          </a:prstGeom>
          <a:solidFill>
            <a:srgbClr val="FCFBF8"/>
          </a:solidFill>
          <a:ln w="12700">
            <a:solidFill>
              <a:srgbClr val="B9C6D4"/>
            </a:solidFill>
            <a:prstDash val="solid"/>
          </a:ln>
        </p:spPr>
      </p:sp>
      <p:sp>
        <p:nvSpPr>
          <p:cNvPr id="9" name="Text 7"/>
          <p:cNvSpPr txBox="1"/>
          <p:nvPr/>
        </p:nvSpPr>
        <p:spPr>
          <a:xfrm>
            <a:off x="6839712" y="2560320"/>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Process groups</a:t>
            </a:r>
            <a:endParaRPr lang="en-US" sz="1350" dirty="0"/>
          </a:p>
        </p:txBody>
      </p:sp>
      <p:sp>
        <p:nvSpPr>
          <p:cNvPr id="10" name="Text 8"/>
          <p:cNvSpPr txBox="1"/>
          <p:nvPr/>
        </p:nvSpPr>
        <p:spPr>
          <a:xfrm>
            <a:off x="6839712" y="2871216"/>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A signal can address a whole group, which is how Ctrl+C reaches every process in a pipeline at once.</a:t>
            </a:r>
            <a:endParaRPr lang="en-US" sz="1080" dirty="0"/>
          </a:p>
        </p:txBody>
      </p:sp>
      <p:sp>
        <p:nvSpPr>
          <p:cNvPr id="11" name="Shape 9"/>
          <p:cNvSpPr/>
          <p:nvPr/>
        </p:nvSpPr>
        <p:spPr>
          <a:xfrm>
            <a:off x="6620256" y="3566160"/>
            <a:ext cx="4913071" cy="1042416"/>
          </a:xfrm>
          <a:prstGeom prst="rect">
            <a:avLst/>
          </a:prstGeom>
          <a:solidFill>
            <a:srgbClr val="FCFBF8"/>
          </a:solidFill>
          <a:ln w="12700">
            <a:solidFill>
              <a:srgbClr val="B9C6D4"/>
            </a:solidFill>
            <a:prstDash val="solid"/>
          </a:ln>
        </p:spPr>
      </p:sp>
      <p:sp>
        <p:nvSpPr>
          <p:cNvPr id="12" name="Text 10"/>
          <p:cNvSpPr txBox="1"/>
          <p:nvPr/>
        </p:nvSpPr>
        <p:spPr>
          <a:xfrm>
            <a:off x="6839712" y="3730752"/>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Sessions</a:t>
            </a:r>
            <a:endParaRPr lang="en-US" sz="1350" dirty="0"/>
          </a:p>
        </p:txBody>
      </p:sp>
      <p:sp>
        <p:nvSpPr>
          <p:cNvPr id="13" name="Text 11"/>
          <p:cNvSpPr txBox="1"/>
          <p:nvPr/>
        </p:nvSpPr>
        <p:spPr>
          <a:xfrm>
            <a:off x="6839712" y="4041648"/>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The tree view shows real session leaders. Under WSL, SessionLeader and Relay are the ancestors of every shell.</a:t>
            </a:r>
            <a:endParaRPr lang="en-US" sz="1080" dirty="0"/>
          </a:p>
        </p:txBody>
      </p:sp>
      <p:sp>
        <p:nvSpPr>
          <p:cNvPr id="14" name="Shape 12"/>
          <p:cNvSpPr/>
          <p:nvPr/>
        </p:nvSpPr>
        <p:spPr>
          <a:xfrm>
            <a:off x="6620256" y="4736592"/>
            <a:ext cx="4913071" cy="1042416"/>
          </a:xfrm>
          <a:prstGeom prst="rect">
            <a:avLst/>
          </a:prstGeom>
          <a:solidFill>
            <a:srgbClr val="FCFBF8"/>
          </a:solidFill>
          <a:ln w="12700">
            <a:solidFill>
              <a:srgbClr val="B9C6D4"/>
            </a:solidFill>
            <a:prstDash val="solid"/>
          </a:ln>
        </p:spPr>
      </p:sp>
      <p:sp>
        <p:nvSpPr>
          <p:cNvPr id="15" name="Text 13"/>
          <p:cNvSpPr txBox="1"/>
          <p:nvPr/>
        </p:nvSpPr>
        <p:spPr>
          <a:xfrm>
            <a:off x="6839712" y="4901184"/>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Job control</a:t>
            </a:r>
            <a:endParaRPr lang="en-US" sz="1350" dirty="0"/>
          </a:p>
        </p:txBody>
      </p:sp>
      <p:sp>
        <p:nvSpPr>
          <p:cNvPr id="16" name="Text 14"/>
          <p:cNvSpPr txBox="1"/>
          <p:nvPr/>
        </p:nvSpPr>
        <p:spPr>
          <a:xfrm>
            <a:off x="6839712" y="5212080"/>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SIGSTOP and SIGCONT on the S and C keys are the same mechanism a shell uses for Ctrl+Z, bg and fg.</a:t>
            </a:r>
            <a:endParaRPr lang="en-US" sz="1080" dirty="0"/>
          </a:p>
        </p:txBody>
      </p:sp>
      <p:sp>
        <p:nvSpPr>
          <p:cNvPr id="17" name="Text 15"/>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10 / 23</a:t>
            </a:r>
            <a:endParaRPr lang="en-US" sz="1050" dirty="0"/>
          </a:p>
        </p:txBody>
      </p:sp>
      <p:sp>
        <p:nvSpPr>
          <p:cNvPr id="18" name="Text 16"/>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CO-3 · HANDLERS</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13  /  PROPOSED SYSTEM</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What Kernel Monitor does</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Five stages, repeated for as long as it runs.</a:t>
            </a:r>
            <a:endParaRPr lang="en-US" sz="1300" dirty="0"/>
          </a:p>
        </p:txBody>
      </p:sp>
      <p:sp>
        <p:nvSpPr>
          <p:cNvPr id="5" name="Shape 3"/>
          <p:cNvSpPr/>
          <p:nvPr/>
        </p:nvSpPr>
        <p:spPr>
          <a:xfrm>
            <a:off x="658368" y="2048256"/>
            <a:ext cx="10874959" cy="658368"/>
          </a:xfrm>
          <a:prstGeom prst="rect">
            <a:avLst/>
          </a:prstGeom>
          <a:solidFill>
            <a:srgbClr val="FCFBF8"/>
          </a:solidFill>
          <a:ln w="12700">
            <a:solidFill>
              <a:srgbClr val="B9C6D4"/>
            </a:solidFill>
            <a:prstDash val="solid"/>
          </a:ln>
        </p:spPr>
      </p:sp>
      <p:sp>
        <p:nvSpPr>
          <p:cNvPr id="6" name="Text 4"/>
          <p:cNvSpPr txBox="1"/>
          <p:nvPr/>
        </p:nvSpPr>
        <p:spPr>
          <a:xfrm>
            <a:off x="914400" y="2249424"/>
            <a:ext cx="457200" cy="274320"/>
          </a:xfrm>
          <a:prstGeom prst="rect">
            <a:avLst/>
          </a:prstGeom>
          <a:noFill/>
          <a:ln/>
        </p:spPr>
        <p:txBody>
          <a:bodyPr wrap="square" lIns="0" tIns="0" rIns="0" bIns="0" rtlCol="0" anchor="ctr"/>
          <a:lstStyle/>
          <a:p>
            <a:pPr algn="l" indent="0" marL="0">
              <a:lnSpc>
                <a:spcPts val="1700"/>
              </a:lnSpc>
              <a:buNone/>
            </a:pPr>
            <a:r>
              <a:rPr lang="en-US" sz="1600" b="1" dirty="0">
                <a:solidFill>
                  <a:srgbClr val="D64525"/>
                </a:solidFill>
                <a:latin typeface="Courier New" pitchFamily="34" charset="0"/>
                <a:ea typeface="Courier New" pitchFamily="34" charset="-122"/>
                <a:cs typeface="Courier New" pitchFamily="34" charset="-120"/>
              </a:rPr>
              <a:t>01</a:t>
            </a:r>
            <a:endParaRPr lang="en-US" sz="1600" dirty="0"/>
          </a:p>
        </p:txBody>
      </p:sp>
      <p:sp>
        <p:nvSpPr>
          <p:cNvPr id="7" name="Text 5"/>
          <p:cNvSpPr txBox="1"/>
          <p:nvPr/>
        </p:nvSpPr>
        <p:spPr>
          <a:xfrm>
            <a:off x="1572768" y="2231136"/>
            <a:ext cx="3200400" cy="292608"/>
          </a:xfrm>
          <a:prstGeom prst="rect">
            <a:avLst/>
          </a:prstGeom>
          <a:noFill/>
          <a:ln/>
        </p:spPr>
        <p:txBody>
          <a:bodyPr wrap="square" lIns="0" tIns="0" rIns="0" bIns="0" rtlCol="0" anchor="ctr"/>
          <a:lstStyle/>
          <a:p>
            <a:pPr indent="0" marL="0">
              <a:buNone/>
            </a:pPr>
            <a:r>
              <a:rPr lang="en-US" sz="1400" b="1" dirty="0">
                <a:solidFill>
                  <a:srgbClr val="17324D"/>
                </a:solidFill>
                <a:latin typeface="Cambria" pitchFamily="34" charset="0"/>
                <a:ea typeface="Cambria" pitchFamily="34" charset="-122"/>
                <a:cs typeface="Cambria" pitchFamily="34" charset="-120"/>
              </a:rPr>
              <a:t>Read live kernel state</a:t>
            </a:r>
            <a:endParaRPr lang="en-US" sz="1400" dirty="0"/>
          </a:p>
        </p:txBody>
      </p:sp>
      <p:sp>
        <p:nvSpPr>
          <p:cNvPr id="8" name="Text 6"/>
          <p:cNvSpPr txBox="1"/>
          <p:nvPr/>
        </p:nvSpPr>
        <p:spPr>
          <a:xfrm>
            <a:off x="4956048" y="2267712"/>
            <a:ext cx="6309360" cy="310896"/>
          </a:xfrm>
          <a:prstGeom prst="rect">
            <a:avLst/>
          </a:prstGeom>
          <a:noFill/>
          <a:ln/>
        </p:spPr>
        <p:txBody>
          <a:bodyPr wrap="square" lIns="0" tIns="0" rIns="0" bIns="0" rtlCol="0" anchor="t"/>
          <a:lstStyle/>
          <a:p>
            <a:pPr algn="l" indent="0" marL="0">
              <a:lnSpc>
                <a:spcPts val="1900"/>
              </a:lnSpc>
              <a:buNone/>
            </a:pPr>
            <a:r>
              <a:rPr lang="en-US" sz="1150" dirty="0">
                <a:solidFill>
                  <a:srgbClr val="3D5A75"/>
                </a:solidFill>
                <a:latin typeface="Arial" pitchFamily="34" charset="0"/>
                <a:ea typeface="Arial" pitchFamily="34" charset="-122"/>
                <a:cs typeface="Arial" pitchFamily="34" charset="-120"/>
              </a:rPr>
              <a:t>Continuously read /proc/stat, /proc/meminfo, /proc/uptime and every /proc/[pid]/ entry.</a:t>
            </a:r>
            <a:endParaRPr lang="en-US" sz="1150" dirty="0"/>
          </a:p>
        </p:txBody>
      </p:sp>
      <p:sp>
        <p:nvSpPr>
          <p:cNvPr id="9" name="Shape 7"/>
          <p:cNvSpPr/>
          <p:nvPr/>
        </p:nvSpPr>
        <p:spPr>
          <a:xfrm>
            <a:off x="658368" y="2816352"/>
            <a:ext cx="10874959" cy="658368"/>
          </a:xfrm>
          <a:prstGeom prst="rect">
            <a:avLst/>
          </a:prstGeom>
          <a:solidFill>
            <a:srgbClr val="FCFBF8"/>
          </a:solidFill>
          <a:ln w="12700">
            <a:solidFill>
              <a:srgbClr val="B9C6D4"/>
            </a:solidFill>
            <a:prstDash val="solid"/>
          </a:ln>
        </p:spPr>
      </p:sp>
      <p:sp>
        <p:nvSpPr>
          <p:cNvPr id="10" name="Text 8"/>
          <p:cNvSpPr txBox="1"/>
          <p:nvPr/>
        </p:nvSpPr>
        <p:spPr>
          <a:xfrm>
            <a:off x="914400" y="3017520"/>
            <a:ext cx="457200" cy="274320"/>
          </a:xfrm>
          <a:prstGeom prst="rect">
            <a:avLst/>
          </a:prstGeom>
          <a:noFill/>
          <a:ln/>
        </p:spPr>
        <p:txBody>
          <a:bodyPr wrap="square" lIns="0" tIns="0" rIns="0" bIns="0" rtlCol="0" anchor="ctr"/>
          <a:lstStyle/>
          <a:p>
            <a:pPr algn="l" indent="0" marL="0">
              <a:lnSpc>
                <a:spcPts val="1700"/>
              </a:lnSpc>
              <a:buNone/>
            </a:pPr>
            <a:r>
              <a:rPr lang="en-US" sz="1600" b="1" dirty="0">
                <a:solidFill>
                  <a:srgbClr val="D64525"/>
                </a:solidFill>
                <a:latin typeface="Courier New" pitchFamily="34" charset="0"/>
                <a:ea typeface="Courier New" pitchFamily="34" charset="-122"/>
                <a:cs typeface="Courier New" pitchFamily="34" charset="-120"/>
              </a:rPr>
              <a:t>02</a:t>
            </a:r>
            <a:endParaRPr lang="en-US" sz="1600" dirty="0"/>
          </a:p>
        </p:txBody>
      </p:sp>
      <p:sp>
        <p:nvSpPr>
          <p:cNvPr id="11" name="Text 9"/>
          <p:cNvSpPr txBox="1"/>
          <p:nvPr/>
        </p:nvSpPr>
        <p:spPr>
          <a:xfrm>
            <a:off x="1572768" y="2999232"/>
            <a:ext cx="3200400" cy="292608"/>
          </a:xfrm>
          <a:prstGeom prst="rect">
            <a:avLst/>
          </a:prstGeom>
          <a:noFill/>
          <a:ln/>
        </p:spPr>
        <p:txBody>
          <a:bodyPr wrap="square" lIns="0" tIns="0" rIns="0" bIns="0" rtlCol="0" anchor="ctr"/>
          <a:lstStyle/>
          <a:p>
            <a:pPr indent="0" marL="0">
              <a:buNone/>
            </a:pPr>
            <a:r>
              <a:rPr lang="en-US" sz="1400" b="1" dirty="0">
                <a:solidFill>
                  <a:srgbClr val="17324D"/>
                </a:solidFill>
                <a:latin typeface="Cambria" pitchFamily="34" charset="0"/>
                <a:ea typeface="Cambria" pitchFamily="34" charset="-122"/>
                <a:cs typeface="Cambria" pitchFamily="34" charset="-120"/>
              </a:rPr>
              <a:t>Parse and compute metrics</a:t>
            </a:r>
            <a:endParaRPr lang="en-US" sz="1400" dirty="0"/>
          </a:p>
        </p:txBody>
      </p:sp>
      <p:sp>
        <p:nvSpPr>
          <p:cNvPr id="12" name="Text 10"/>
          <p:cNvSpPr txBox="1"/>
          <p:nvPr/>
        </p:nvSpPr>
        <p:spPr>
          <a:xfrm>
            <a:off x="4956048" y="3035808"/>
            <a:ext cx="6309360" cy="310896"/>
          </a:xfrm>
          <a:prstGeom prst="rect">
            <a:avLst/>
          </a:prstGeom>
          <a:noFill/>
          <a:ln/>
        </p:spPr>
        <p:txBody>
          <a:bodyPr wrap="square" lIns="0" tIns="0" rIns="0" bIns="0" rtlCol="0" anchor="t"/>
          <a:lstStyle/>
          <a:p>
            <a:pPr algn="l" indent="0" marL="0">
              <a:lnSpc>
                <a:spcPts val="1900"/>
              </a:lnSpc>
              <a:buNone/>
            </a:pPr>
            <a:r>
              <a:rPr lang="en-US" sz="1150" dirty="0">
                <a:solidFill>
                  <a:srgbClr val="3D5A75"/>
                </a:solidFill>
                <a:latin typeface="Arial" pitchFamily="34" charset="0"/>
                <a:ea typeface="Arial" pitchFamily="34" charset="-122"/>
                <a:cs typeface="Arial" pitchFamily="34" charset="-120"/>
              </a:rPr>
              <a:t>Turn cumulative jiffy counters into CPU% and memory% by differencing two timed samples.</a:t>
            </a:r>
            <a:endParaRPr lang="en-US" sz="1150" dirty="0"/>
          </a:p>
        </p:txBody>
      </p:sp>
      <p:sp>
        <p:nvSpPr>
          <p:cNvPr id="13" name="Shape 11"/>
          <p:cNvSpPr/>
          <p:nvPr/>
        </p:nvSpPr>
        <p:spPr>
          <a:xfrm>
            <a:off x="658368" y="3584448"/>
            <a:ext cx="10874959" cy="658368"/>
          </a:xfrm>
          <a:prstGeom prst="rect">
            <a:avLst/>
          </a:prstGeom>
          <a:solidFill>
            <a:srgbClr val="FCFBF8"/>
          </a:solidFill>
          <a:ln w="12700">
            <a:solidFill>
              <a:srgbClr val="B9C6D4"/>
            </a:solidFill>
            <a:prstDash val="solid"/>
          </a:ln>
        </p:spPr>
      </p:sp>
      <p:sp>
        <p:nvSpPr>
          <p:cNvPr id="14" name="Text 12"/>
          <p:cNvSpPr txBox="1"/>
          <p:nvPr/>
        </p:nvSpPr>
        <p:spPr>
          <a:xfrm>
            <a:off x="914400" y="3785616"/>
            <a:ext cx="457200" cy="274320"/>
          </a:xfrm>
          <a:prstGeom prst="rect">
            <a:avLst/>
          </a:prstGeom>
          <a:noFill/>
          <a:ln/>
        </p:spPr>
        <p:txBody>
          <a:bodyPr wrap="square" lIns="0" tIns="0" rIns="0" bIns="0" rtlCol="0" anchor="ctr"/>
          <a:lstStyle/>
          <a:p>
            <a:pPr algn="l" indent="0" marL="0">
              <a:lnSpc>
                <a:spcPts val="1700"/>
              </a:lnSpc>
              <a:buNone/>
            </a:pPr>
            <a:r>
              <a:rPr lang="en-US" sz="1600" b="1" dirty="0">
                <a:solidFill>
                  <a:srgbClr val="D64525"/>
                </a:solidFill>
                <a:latin typeface="Courier New" pitchFamily="34" charset="0"/>
                <a:ea typeface="Courier New" pitchFamily="34" charset="-122"/>
                <a:cs typeface="Courier New" pitchFamily="34" charset="-120"/>
              </a:rPr>
              <a:t>03</a:t>
            </a:r>
            <a:endParaRPr lang="en-US" sz="1600" dirty="0"/>
          </a:p>
        </p:txBody>
      </p:sp>
      <p:sp>
        <p:nvSpPr>
          <p:cNvPr id="15" name="Text 13"/>
          <p:cNvSpPr txBox="1"/>
          <p:nvPr/>
        </p:nvSpPr>
        <p:spPr>
          <a:xfrm>
            <a:off x="1572768" y="3767328"/>
            <a:ext cx="3200400" cy="292608"/>
          </a:xfrm>
          <a:prstGeom prst="rect">
            <a:avLst/>
          </a:prstGeom>
          <a:noFill/>
          <a:ln/>
        </p:spPr>
        <p:txBody>
          <a:bodyPr wrap="square" lIns="0" tIns="0" rIns="0" bIns="0" rtlCol="0" anchor="ctr"/>
          <a:lstStyle/>
          <a:p>
            <a:pPr indent="0" marL="0">
              <a:buNone/>
            </a:pPr>
            <a:r>
              <a:rPr lang="en-US" sz="1400" b="1" dirty="0">
                <a:solidFill>
                  <a:srgbClr val="17324D"/>
                </a:solidFill>
                <a:latin typeface="Cambria" pitchFamily="34" charset="0"/>
                <a:ea typeface="Cambria" pitchFamily="34" charset="-122"/>
                <a:cs typeface="Cambria" pitchFamily="34" charset="-120"/>
              </a:rPr>
              <a:t>Track processes and events</a:t>
            </a:r>
            <a:endParaRPr lang="en-US" sz="1400" dirty="0"/>
          </a:p>
        </p:txBody>
      </p:sp>
      <p:sp>
        <p:nvSpPr>
          <p:cNvPr id="16" name="Text 14"/>
          <p:cNvSpPr txBox="1"/>
          <p:nvPr/>
        </p:nvSpPr>
        <p:spPr>
          <a:xfrm>
            <a:off x="4956048" y="3803904"/>
            <a:ext cx="6309360" cy="310896"/>
          </a:xfrm>
          <a:prstGeom prst="rect">
            <a:avLst/>
          </a:prstGeom>
          <a:noFill/>
          <a:ln/>
        </p:spPr>
        <p:txBody>
          <a:bodyPr wrap="square" lIns="0" tIns="0" rIns="0" bIns="0" rtlCol="0" anchor="t"/>
          <a:lstStyle/>
          <a:p>
            <a:pPr algn="l" indent="0" marL="0">
              <a:lnSpc>
                <a:spcPts val="1900"/>
              </a:lnSpc>
              <a:buNone/>
            </a:pPr>
            <a:r>
              <a:rPr lang="en-US" sz="1150" dirty="0">
                <a:solidFill>
                  <a:srgbClr val="3D5A75"/>
                </a:solidFill>
                <a:latin typeface="Arial" pitchFamily="34" charset="0"/>
                <a:ea typeface="Arial" pitchFamily="34" charset="-122"/>
                <a:cs typeface="Arial" pitchFamily="34" charset="-120"/>
              </a:rPr>
              <a:t>Maintain the live list, rebuild the parent and child tree, and log creation and exit events.</a:t>
            </a:r>
            <a:endParaRPr lang="en-US" sz="1150" dirty="0"/>
          </a:p>
        </p:txBody>
      </p:sp>
      <p:sp>
        <p:nvSpPr>
          <p:cNvPr id="17" name="Shape 15"/>
          <p:cNvSpPr/>
          <p:nvPr/>
        </p:nvSpPr>
        <p:spPr>
          <a:xfrm>
            <a:off x="658368" y="4352544"/>
            <a:ext cx="10874959" cy="658368"/>
          </a:xfrm>
          <a:prstGeom prst="rect">
            <a:avLst/>
          </a:prstGeom>
          <a:solidFill>
            <a:srgbClr val="FCFBF8"/>
          </a:solidFill>
          <a:ln w="12700">
            <a:solidFill>
              <a:srgbClr val="B9C6D4"/>
            </a:solidFill>
            <a:prstDash val="solid"/>
          </a:ln>
        </p:spPr>
      </p:sp>
      <p:sp>
        <p:nvSpPr>
          <p:cNvPr id="18" name="Text 16"/>
          <p:cNvSpPr txBox="1"/>
          <p:nvPr/>
        </p:nvSpPr>
        <p:spPr>
          <a:xfrm>
            <a:off x="914400" y="4553712"/>
            <a:ext cx="457200" cy="274320"/>
          </a:xfrm>
          <a:prstGeom prst="rect">
            <a:avLst/>
          </a:prstGeom>
          <a:noFill/>
          <a:ln/>
        </p:spPr>
        <p:txBody>
          <a:bodyPr wrap="square" lIns="0" tIns="0" rIns="0" bIns="0" rtlCol="0" anchor="ctr"/>
          <a:lstStyle/>
          <a:p>
            <a:pPr algn="l" indent="0" marL="0">
              <a:lnSpc>
                <a:spcPts val="1700"/>
              </a:lnSpc>
              <a:buNone/>
            </a:pPr>
            <a:r>
              <a:rPr lang="en-US" sz="1600" b="1" dirty="0">
                <a:solidFill>
                  <a:srgbClr val="D64525"/>
                </a:solidFill>
                <a:latin typeface="Courier New" pitchFamily="34" charset="0"/>
                <a:ea typeface="Courier New" pitchFamily="34" charset="-122"/>
                <a:cs typeface="Courier New" pitchFamily="34" charset="-120"/>
              </a:rPr>
              <a:t>04</a:t>
            </a:r>
            <a:endParaRPr lang="en-US" sz="1600" dirty="0"/>
          </a:p>
        </p:txBody>
      </p:sp>
      <p:sp>
        <p:nvSpPr>
          <p:cNvPr id="19" name="Text 17"/>
          <p:cNvSpPr txBox="1"/>
          <p:nvPr/>
        </p:nvSpPr>
        <p:spPr>
          <a:xfrm>
            <a:off x="1572768" y="4535424"/>
            <a:ext cx="3200400" cy="292608"/>
          </a:xfrm>
          <a:prstGeom prst="rect">
            <a:avLst/>
          </a:prstGeom>
          <a:noFill/>
          <a:ln/>
        </p:spPr>
        <p:txBody>
          <a:bodyPr wrap="square" lIns="0" tIns="0" rIns="0" bIns="0" rtlCol="0" anchor="ctr"/>
          <a:lstStyle/>
          <a:p>
            <a:pPr indent="0" marL="0">
              <a:buNone/>
            </a:pPr>
            <a:r>
              <a:rPr lang="en-US" sz="1400" b="1" dirty="0">
                <a:solidFill>
                  <a:srgbClr val="17324D"/>
                </a:solidFill>
                <a:latin typeface="Cambria" pitchFamily="34" charset="0"/>
                <a:ea typeface="Cambria" pitchFamily="34" charset="-122"/>
                <a:cs typeface="Cambria" pitchFamily="34" charset="-120"/>
              </a:rPr>
              <a:t>Control through signals</a:t>
            </a:r>
            <a:endParaRPr lang="en-US" sz="1400" dirty="0"/>
          </a:p>
        </p:txBody>
      </p:sp>
      <p:sp>
        <p:nvSpPr>
          <p:cNvPr id="20" name="Text 18"/>
          <p:cNvSpPr txBox="1"/>
          <p:nvPr/>
        </p:nvSpPr>
        <p:spPr>
          <a:xfrm>
            <a:off x="4956048" y="4572000"/>
            <a:ext cx="6309360" cy="310896"/>
          </a:xfrm>
          <a:prstGeom prst="rect">
            <a:avLst/>
          </a:prstGeom>
          <a:noFill/>
          <a:ln/>
        </p:spPr>
        <p:txBody>
          <a:bodyPr wrap="square" lIns="0" tIns="0" rIns="0" bIns="0" rtlCol="0" anchor="t"/>
          <a:lstStyle/>
          <a:p>
            <a:pPr algn="l" indent="0" marL="0">
              <a:lnSpc>
                <a:spcPts val="1900"/>
              </a:lnSpc>
              <a:buNone/>
            </a:pPr>
            <a:r>
              <a:rPr lang="en-US" sz="1150" dirty="0">
                <a:solidFill>
                  <a:srgbClr val="3D5A75"/>
                </a:solidFill>
                <a:latin typeface="Arial" pitchFamily="34" charset="0"/>
                <a:ea typeface="Arial" pitchFamily="34" charset="-122"/>
                <a:cs typeface="Arial" pitchFamily="34" charset="-120"/>
              </a:rPr>
              <a:t>Send SIGTERM, SIGKILL, SIGSTOP or SIGCONT to the selected process using kill().</a:t>
            </a:r>
            <a:endParaRPr lang="en-US" sz="1150" dirty="0"/>
          </a:p>
        </p:txBody>
      </p:sp>
      <p:sp>
        <p:nvSpPr>
          <p:cNvPr id="21" name="Shape 19"/>
          <p:cNvSpPr/>
          <p:nvPr/>
        </p:nvSpPr>
        <p:spPr>
          <a:xfrm>
            <a:off x="658368" y="5120640"/>
            <a:ext cx="10874959" cy="658368"/>
          </a:xfrm>
          <a:prstGeom prst="rect">
            <a:avLst/>
          </a:prstGeom>
          <a:solidFill>
            <a:srgbClr val="FCFBF8"/>
          </a:solidFill>
          <a:ln w="12700">
            <a:solidFill>
              <a:srgbClr val="B9C6D4"/>
            </a:solidFill>
            <a:prstDash val="solid"/>
          </a:ln>
        </p:spPr>
      </p:sp>
      <p:sp>
        <p:nvSpPr>
          <p:cNvPr id="22" name="Text 20"/>
          <p:cNvSpPr txBox="1"/>
          <p:nvPr/>
        </p:nvSpPr>
        <p:spPr>
          <a:xfrm>
            <a:off x="914400" y="5321808"/>
            <a:ext cx="457200" cy="274320"/>
          </a:xfrm>
          <a:prstGeom prst="rect">
            <a:avLst/>
          </a:prstGeom>
          <a:noFill/>
          <a:ln/>
        </p:spPr>
        <p:txBody>
          <a:bodyPr wrap="square" lIns="0" tIns="0" rIns="0" bIns="0" rtlCol="0" anchor="ctr"/>
          <a:lstStyle/>
          <a:p>
            <a:pPr algn="l" indent="0" marL="0">
              <a:lnSpc>
                <a:spcPts val="1700"/>
              </a:lnSpc>
              <a:buNone/>
            </a:pPr>
            <a:r>
              <a:rPr lang="en-US" sz="1600" b="1" dirty="0">
                <a:solidFill>
                  <a:srgbClr val="D64525"/>
                </a:solidFill>
                <a:latin typeface="Courier New" pitchFamily="34" charset="0"/>
                <a:ea typeface="Courier New" pitchFamily="34" charset="-122"/>
                <a:cs typeface="Courier New" pitchFamily="34" charset="-120"/>
              </a:rPr>
              <a:t>05</a:t>
            </a:r>
            <a:endParaRPr lang="en-US" sz="1600" dirty="0"/>
          </a:p>
        </p:txBody>
      </p:sp>
      <p:sp>
        <p:nvSpPr>
          <p:cNvPr id="23" name="Text 21"/>
          <p:cNvSpPr txBox="1"/>
          <p:nvPr/>
        </p:nvSpPr>
        <p:spPr>
          <a:xfrm>
            <a:off x="1572768" y="5303520"/>
            <a:ext cx="3200400" cy="292608"/>
          </a:xfrm>
          <a:prstGeom prst="rect">
            <a:avLst/>
          </a:prstGeom>
          <a:noFill/>
          <a:ln/>
        </p:spPr>
        <p:txBody>
          <a:bodyPr wrap="square" lIns="0" tIns="0" rIns="0" bIns="0" rtlCol="0" anchor="ctr"/>
          <a:lstStyle/>
          <a:p>
            <a:pPr indent="0" marL="0">
              <a:buNone/>
            </a:pPr>
            <a:r>
              <a:rPr lang="en-US" sz="1400" b="1" dirty="0">
                <a:solidFill>
                  <a:srgbClr val="17324D"/>
                </a:solidFill>
                <a:latin typeface="Cambria" pitchFamily="34" charset="0"/>
                <a:ea typeface="Cambria" pitchFamily="34" charset="-122"/>
                <a:cs typeface="Cambria" pitchFamily="34" charset="-120"/>
              </a:rPr>
              <a:t>Render the ncurses UI</a:t>
            </a:r>
            <a:endParaRPr lang="en-US" sz="1400" dirty="0"/>
          </a:p>
        </p:txBody>
      </p:sp>
      <p:sp>
        <p:nvSpPr>
          <p:cNvPr id="24" name="Text 22"/>
          <p:cNvSpPr txBox="1"/>
          <p:nvPr/>
        </p:nvSpPr>
        <p:spPr>
          <a:xfrm>
            <a:off x="4956048" y="5340096"/>
            <a:ext cx="6309360" cy="310896"/>
          </a:xfrm>
          <a:prstGeom prst="rect">
            <a:avLst/>
          </a:prstGeom>
          <a:noFill/>
          <a:ln/>
        </p:spPr>
        <p:txBody>
          <a:bodyPr wrap="square" lIns="0" tIns="0" rIns="0" bIns="0" rtlCol="0" anchor="t"/>
          <a:lstStyle/>
          <a:p>
            <a:pPr algn="l" indent="0" marL="0">
              <a:lnSpc>
                <a:spcPts val="1900"/>
              </a:lnSpc>
              <a:buNone/>
            </a:pPr>
            <a:r>
              <a:rPr lang="en-US" sz="1150" dirty="0">
                <a:solidFill>
                  <a:srgbClr val="3D5A75"/>
                </a:solidFill>
                <a:latin typeface="Arial" pitchFamily="34" charset="0"/>
                <a:ea typeface="Arial" pitchFamily="34" charset="-122"/>
                <a:cs typeface="Arial" pitchFamily="34" charset="-120"/>
              </a:rPr>
              <a:t>Draw only the cells that changed, so the display updates without flicker.</a:t>
            </a:r>
            <a:endParaRPr lang="en-US" sz="1150" dirty="0"/>
          </a:p>
        </p:txBody>
      </p:sp>
      <p:sp>
        <p:nvSpPr>
          <p:cNvPr id="25" name="Text 23"/>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14 / 23</a:t>
            </a:r>
            <a:endParaRPr lang="en-US" sz="1050" dirty="0"/>
          </a:p>
        </p:txBody>
      </p:sp>
      <p:sp>
        <p:nvSpPr>
          <p:cNvPr id="26" name="Text 24"/>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PROPOSED SYSTEM</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14  /  SYSTEM FLOW</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One refresh cycle, start to finish</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Default interval two seconds, adjustable live from 500 ms to 10 s. The sweep runs on its own thread.</a:t>
            </a:r>
            <a:endParaRPr lang="en-US" sz="1300" dirty="0"/>
          </a:p>
        </p:txBody>
      </p:sp>
      <p:sp>
        <p:nvSpPr>
          <p:cNvPr id="5" name="Shape 3"/>
          <p:cNvSpPr/>
          <p:nvPr/>
        </p:nvSpPr>
        <p:spPr>
          <a:xfrm>
            <a:off x="658368" y="2249424"/>
            <a:ext cx="1627632" cy="969264"/>
          </a:xfrm>
          <a:prstGeom prst="rect">
            <a:avLst/>
          </a:prstGeom>
          <a:solidFill>
            <a:srgbClr val="FCFBF8"/>
          </a:solidFill>
          <a:ln w="12700">
            <a:solidFill>
              <a:srgbClr val="B9C6D4"/>
            </a:solidFill>
            <a:prstDash val="solid"/>
          </a:ln>
        </p:spPr>
      </p:sp>
      <p:sp>
        <p:nvSpPr>
          <p:cNvPr id="6" name="Text 4"/>
          <p:cNvSpPr txBox="1"/>
          <p:nvPr/>
        </p:nvSpPr>
        <p:spPr>
          <a:xfrm>
            <a:off x="731520" y="2377440"/>
            <a:ext cx="1481328" cy="731520"/>
          </a:xfrm>
          <a:prstGeom prst="rect">
            <a:avLst/>
          </a:prstGeom>
          <a:noFill/>
          <a:ln/>
        </p:spPr>
        <p:txBody>
          <a:bodyPr wrap="square" lIns="0" tIns="0" rIns="0" bIns="0" rtlCol="0" anchor="ctr"/>
          <a:lstStyle/>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Read /proc</a:t>
            </a:r>
            <a:endParaRPr lang="en-US" sz="1050" dirty="0"/>
          </a:p>
        </p:txBody>
      </p:sp>
      <p:sp>
        <p:nvSpPr>
          <p:cNvPr id="7" name="Shape 5"/>
          <p:cNvSpPr/>
          <p:nvPr/>
        </p:nvSpPr>
        <p:spPr>
          <a:xfrm>
            <a:off x="2313432" y="2734056"/>
            <a:ext cx="201168" cy="0"/>
          </a:xfrm>
          <a:prstGeom prst="line">
            <a:avLst/>
          </a:prstGeom>
          <a:noFill/>
          <a:ln w="15875">
            <a:solidFill>
              <a:srgbClr val="3D5A75"/>
            </a:solidFill>
            <a:prstDash val="solid"/>
            <a:tailEnd type="triangle"/>
          </a:ln>
        </p:spPr>
      </p:sp>
      <p:sp>
        <p:nvSpPr>
          <p:cNvPr id="8" name="Shape 6"/>
          <p:cNvSpPr/>
          <p:nvPr/>
        </p:nvSpPr>
        <p:spPr>
          <a:xfrm>
            <a:off x="2542032" y="2249424"/>
            <a:ext cx="1627632" cy="969264"/>
          </a:xfrm>
          <a:prstGeom prst="rect">
            <a:avLst/>
          </a:prstGeom>
          <a:solidFill>
            <a:srgbClr val="FCFBF8"/>
          </a:solidFill>
          <a:ln w="12700">
            <a:solidFill>
              <a:srgbClr val="B9C6D4"/>
            </a:solidFill>
            <a:prstDash val="solid"/>
          </a:ln>
        </p:spPr>
      </p:sp>
      <p:sp>
        <p:nvSpPr>
          <p:cNvPr id="9" name="Text 7"/>
          <p:cNvSpPr txBox="1"/>
          <p:nvPr/>
        </p:nvSpPr>
        <p:spPr>
          <a:xfrm>
            <a:off x="2615184" y="2377440"/>
            <a:ext cx="1481328" cy="731520"/>
          </a:xfrm>
          <a:prstGeom prst="rect">
            <a:avLst/>
          </a:prstGeom>
          <a:noFill/>
          <a:ln/>
        </p:spPr>
        <p:txBody>
          <a:bodyPr wrap="square" lIns="0" tIns="0" rIns="0" bIns="0" rtlCol="0" anchor="ctr"/>
          <a:lstStyle/>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Parse fields</a:t>
            </a:r>
            <a:endParaRPr lang="en-US" sz="1050" dirty="0"/>
          </a:p>
        </p:txBody>
      </p:sp>
      <p:sp>
        <p:nvSpPr>
          <p:cNvPr id="10" name="Shape 8"/>
          <p:cNvSpPr/>
          <p:nvPr/>
        </p:nvSpPr>
        <p:spPr>
          <a:xfrm>
            <a:off x="4197096" y="2734056"/>
            <a:ext cx="201168" cy="0"/>
          </a:xfrm>
          <a:prstGeom prst="line">
            <a:avLst/>
          </a:prstGeom>
          <a:noFill/>
          <a:ln w="15875">
            <a:solidFill>
              <a:srgbClr val="3D5A75"/>
            </a:solidFill>
            <a:prstDash val="solid"/>
            <a:tailEnd type="triangle"/>
          </a:ln>
        </p:spPr>
      </p:sp>
      <p:sp>
        <p:nvSpPr>
          <p:cNvPr id="11" name="Shape 9"/>
          <p:cNvSpPr/>
          <p:nvPr/>
        </p:nvSpPr>
        <p:spPr>
          <a:xfrm>
            <a:off x="4425696" y="2249424"/>
            <a:ext cx="1627632" cy="969264"/>
          </a:xfrm>
          <a:prstGeom prst="rect">
            <a:avLst/>
          </a:prstGeom>
          <a:solidFill>
            <a:srgbClr val="FCFBF8"/>
          </a:solidFill>
          <a:ln w="12700">
            <a:solidFill>
              <a:srgbClr val="B9C6D4"/>
            </a:solidFill>
            <a:prstDash val="solid"/>
          </a:ln>
        </p:spPr>
      </p:sp>
      <p:sp>
        <p:nvSpPr>
          <p:cNvPr id="12" name="Text 10"/>
          <p:cNvSpPr txBox="1"/>
          <p:nvPr/>
        </p:nvSpPr>
        <p:spPr>
          <a:xfrm>
            <a:off x="4498848" y="2377440"/>
            <a:ext cx="1481328" cy="731520"/>
          </a:xfrm>
          <a:prstGeom prst="rect">
            <a:avLst/>
          </a:prstGeom>
          <a:noFill/>
          <a:ln/>
        </p:spPr>
        <p:txBody>
          <a:bodyPr wrap="square" lIns="0" tIns="0" rIns="0" bIns="0" rtlCol="0" anchor="ctr"/>
          <a:lstStyle/>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Compute rates</a:t>
            </a:r>
            <a:endParaRPr lang="en-US" sz="1050" dirty="0"/>
          </a:p>
        </p:txBody>
      </p:sp>
      <p:sp>
        <p:nvSpPr>
          <p:cNvPr id="13" name="Shape 11"/>
          <p:cNvSpPr/>
          <p:nvPr/>
        </p:nvSpPr>
        <p:spPr>
          <a:xfrm>
            <a:off x="6080760" y="2734056"/>
            <a:ext cx="201168" cy="0"/>
          </a:xfrm>
          <a:prstGeom prst="line">
            <a:avLst/>
          </a:prstGeom>
          <a:noFill/>
          <a:ln w="15875">
            <a:solidFill>
              <a:srgbClr val="3D5A75"/>
            </a:solidFill>
            <a:prstDash val="solid"/>
            <a:tailEnd type="triangle"/>
          </a:ln>
        </p:spPr>
      </p:sp>
      <p:sp>
        <p:nvSpPr>
          <p:cNvPr id="14" name="Shape 12"/>
          <p:cNvSpPr/>
          <p:nvPr/>
        </p:nvSpPr>
        <p:spPr>
          <a:xfrm>
            <a:off x="6309360" y="2249424"/>
            <a:ext cx="1627632" cy="969264"/>
          </a:xfrm>
          <a:prstGeom prst="rect">
            <a:avLst/>
          </a:prstGeom>
          <a:solidFill>
            <a:srgbClr val="FCFBF8"/>
          </a:solidFill>
          <a:ln w="12700">
            <a:solidFill>
              <a:srgbClr val="B9C6D4"/>
            </a:solidFill>
            <a:prstDash val="solid"/>
          </a:ln>
        </p:spPr>
      </p:sp>
      <p:sp>
        <p:nvSpPr>
          <p:cNvPr id="15" name="Text 13"/>
          <p:cNvSpPr txBox="1"/>
          <p:nvPr/>
        </p:nvSpPr>
        <p:spPr>
          <a:xfrm>
            <a:off x="6382512" y="2377440"/>
            <a:ext cx="1481328" cy="731520"/>
          </a:xfrm>
          <a:prstGeom prst="rect">
            <a:avLst/>
          </a:prstGeom>
          <a:noFill/>
          <a:ln/>
        </p:spPr>
        <p:txBody>
          <a:bodyPr wrap="square" lIns="0" tIns="0" rIns="0" bIns="0" rtlCol="0" anchor="ctr"/>
          <a:lstStyle/>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Update list</a:t>
            </a:r>
            <a:endParaRPr lang="en-US" sz="1050" dirty="0"/>
          </a:p>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and tree</a:t>
            </a:r>
            <a:endParaRPr lang="en-US" sz="1050" dirty="0"/>
          </a:p>
        </p:txBody>
      </p:sp>
      <p:sp>
        <p:nvSpPr>
          <p:cNvPr id="16" name="Shape 14"/>
          <p:cNvSpPr/>
          <p:nvPr/>
        </p:nvSpPr>
        <p:spPr>
          <a:xfrm>
            <a:off x="7964424" y="2734056"/>
            <a:ext cx="201168" cy="0"/>
          </a:xfrm>
          <a:prstGeom prst="line">
            <a:avLst/>
          </a:prstGeom>
          <a:noFill/>
          <a:ln w="15875">
            <a:solidFill>
              <a:srgbClr val="3D5A75"/>
            </a:solidFill>
            <a:prstDash val="solid"/>
            <a:tailEnd type="triangle"/>
          </a:ln>
        </p:spPr>
      </p:sp>
      <p:sp>
        <p:nvSpPr>
          <p:cNvPr id="17" name="Shape 15"/>
          <p:cNvSpPr/>
          <p:nvPr/>
        </p:nvSpPr>
        <p:spPr>
          <a:xfrm>
            <a:off x="8193024" y="2249424"/>
            <a:ext cx="1627632" cy="969264"/>
          </a:xfrm>
          <a:prstGeom prst="rect">
            <a:avLst/>
          </a:prstGeom>
          <a:solidFill>
            <a:srgbClr val="FCFBF8"/>
          </a:solidFill>
          <a:ln w="12700">
            <a:solidFill>
              <a:srgbClr val="B9C6D4"/>
            </a:solidFill>
            <a:prstDash val="solid"/>
          </a:ln>
        </p:spPr>
      </p:sp>
      <p:sp>
        <p:nvSpPr>
          <p:cNvPr id="18" name="Text 16"/>
          <p:cNvSpPr txBox="1"/>
          <p:nvPr/>
        </p:nvSpPr>
        <p:spPr>
          <a:xfrm>
            <a:off x="8266176" y="2377440"/>
            <a:ext cx="1481328" cy="731520"/>
          </a:xfrm>
          <a:prstGeom prst="rect">
            <a:avLst/>
          </a:prstGeom>
          <a:noFill/>
          <a:ln/>
        </p:spPr>
        <p:txBody>
          <a:bodyPr wrap="square" lIns="0" tIns="0" rIns="0" bIns="0" rtlCol="0" anchor="ctr"/>
          <a:lstStyle/>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Detect events</a:t>
            </a:r>
            <a:endParaRPr lang="en-US" sz="1050" dirty="0"/>
          </a:p>
        </p:txBody>
      </p:sp>
      <p:sp>
        <p:nvSpPr>
          <p:cNvPr id="19" name="Shape 17"/>
          <p:cNvSpPr/>
          <p:nvPr/>
        </p:nvSpPr>
        <p:spPr>
          <a:xfrm>
            <a:off x="9848088" y="2734056"/>
            <a:ext cx="201168" cy="0"/>
          </a:xfrm>
          <a:prstGeom prst="line">
            <a:avLst/>
          </a:prstGeom>
          <a:noFill/>
          <a:ln w="15875">
            <a:solidFill>
              <a:srgbClr val="3D5A75"/>
            </a:solidFill>
            <a:prstDash val="solid"/>
            <a:tailEnd type="triangle"/>
          </a:ln>
        </p:spPr>
      </p:sp>
      <p:sp>
        <p:nvSpPr>
          <p:cNvPr id="20" name="Shape 18"/>
          <p:cNvSpPr/>
          <p:nvPr/>
        </p:nvSpPr>
        <p:spPr>
          <a:xfrm>
            <a:off x="10076688" y="2249424"/>
            <a:ext cx="1627632" cy="969264"/>
          </a:xfrm>
          <a:prstGeom prst="rect">
            <a:avLst/>
          </a:prstGeom>
          <a:solidFill>
            <a:srgbClr val="FCFBF8"/>
          </a:solidFill>
          <a:ln w="12700">
            <a:solidFill>
              <a:srgbClr val="B9C6D4"/>
            </a:solidFill>
            <a:prstDash val="solid"/>
          </a:ln>
        </p:spPr>
      </p:sp>
      <p:sp>
        <p:nvSpPr>
          <p:cNvPr id="21" name="Text 19"/>
          <p:cNvSpPr txBox="1"/>
          <p:nvPr/>
        </p:nvSpPr>
        <p:spPr>
          <a:xfrm>
            <a:off x="10149840" y="2377440"/>
            <a:ext cx="1481328" cy="731520"/>
          </a:xfrm>
          <a:prstGeom prst="rect">
            <a:avLst/>
          </a:prstGeom>
          <a:noFill/>
          <a:ln/>
        </p:spPr>
        <p:txBody>
          <a:bodyPr wrap="square" lIns="0" tIns="0" rIns="0" bIns="0" rtlCol="0" anchor="ctr"/>
          <a:lstStyle/>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Render changed</a:t>
            </a:r>
            <a:endParaRPr lang="en-US" sz="1050" dirty="0"/>
          </a:p>
          <a:p>
            <a:pPr algn="ctr" indent="0" marL="0">
              <a:lnSpc>
                <a:spcPts val="1400"/>
              </a:lnSpc>
              <a:buNone/>
            </a:pPr>
            <a:r>
              <a:rPr lang="en-US" sz="1050" b="1" dirty="0">
                <a:solidFill>
                  <a:srgbClr val="17324D"/>
                </a:solidFill>
                <a:latin typeface="Courier New" pitchFamily="34" charset="0"/>
                <a:ea typeface="Courier New" pitchFamily="34" charset="-122"/>
                <a:cs typeface="Courier New" pitchFamily="34" charset="-120"/>
              </a:rPr>
              <a:t>cells only</a:t>
            </a:r>
            <a:endParaRPr lang="en-US" sz="1050" dirty="0"/>
          </a:p>
        </p:txBody>
      </p:sp>
      <p:sp>
        <p:nvSpPr>
          <p:cNvPr id="22" name="Shape 20"/>
          <p:cNvSpPr/>
          <p:nvPr/>
        </p:nvSpPr>
        <p:spPr>
          <a:xfrm>
            <a:off x="676656" y="3529584"/>
            <a:ext cx="10838383" cy="0"/>
          </a:xfrm>
          <a:prstGeom prst="line">
            <a:avLst/>
          </a:prstGeom>
          <a:noFill/>
          <a:ln w="15875">
            <a:solidFill>
              <a:srgbClr val="D64525"/>
            </a:solidFill>
            <a:prstDash val="dash"/>
            <a:tailEnd type="triangle"/>
          </a:ln>
        </p:spPr>
      </p:sp>
      <p:sp>
        <p:nvSpPr>
          <p:cNvPr id="23" name="Text 21"/>
          <p:cNvSpPr txBox="1"/>
          <p:nvPr/>
        </p:nvSpPr>
        <p:spPr>
          <a:xfrm>
            <a:off x="658368" y="3602736"/>
            <a:ext cx="10874959" cy="237744"/>
          </a:xfrm>
          <a:prstGeom prst="rect">
            <a:avLst/>
          </a:prstGeom>
          <a:noFill/>
          <a:ln/>
        </p:spPr>
        <p:txBody>
          <a:bodyPr wrap="square" lIns="0" tIns="0" rIns="0" bIns="0" rtlCol="0" anchor="ctr"/>
          <a:lstStyle/>
          <a:p>
            <a:pPr algn="ctr" indent="0" marL="0">
              <a:lnSpc>
                <a:spcPts val="1700"/>
              </a:lnSpc>
              <a:buNone/>
            </a:pPr>
            <a:r>
              <a:rPr lang="en-US" sz="1050" dirty="0">
                <a:solidFill>
                  <a:srgbClr val="D64525"/>
                </a:solidFill>
                <a:latin typeface="Courier New" pitchFamily="34" charset="0"/>
                <a:ea typeface="Courier New" pitchFamily="34" charset="-122"/>
                <a:cs typeface="Courier New" pitchFamily="34" charset="-120"/>
              </a:rPr>
              <a:t>the cycle repeats  ·  the display, list and event log all stay live</a:t>
            </a:r>
            <a:endParaRPr lang="en-US" sz="1050" dirty="0"/>
          </a:p>
        </p:txBody>
      </p:sp>
      <p:sp>
        <p:nvSpPr>
          <p:cNvPr id="24" name="Shape 22"/>
          <p:cNvSpPr/>
          <p:nvPr/>
        </p:nvSpPr>
        <p:spPr>
          <a:xfrm>
            <a:off x="658368" y="4078224"/>
            <a:ext cx="10874959" cy="1426464"/>
          </a:xfrm>
          <a:prstGeom prst="rect">
            <a:avLst/>
          </a:prstGeom>
          <a:solidFill>
            <a:srgbClr val="FCFBF8"/>
          </a:solidFill>
          <a:ln w="12700">
            <a:solidFill>
              <a:srgbClr val="B9C6D4"/>
            </a:solidFill>
            <a:prstDash val="solid"/>
          </a:ln>
        </p:spPr>
      </p:sp>
      <p:sp>
        <p:nvSpPr>
          <p:cNvPr id="25" name="Text 23"/>
          <p:cNvSpPr txBox="1"/>
          <p:nvPr/>
        </p:nvSpPr>
        <p:spPr>
          <a:xfrm>
            <a:off x="914400" y="4279392"/>
            <a:ext cx="731520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USER INPUT  ·  HANDLED WHILE THE LOOP RUNS</a:t>
            </a:r>
            <a:endParaRPr lang="en-US" sz="1000" dirty="0"/>
          </a:p>
        </p:txBody>
      </p:sp>
      <p:sp>
        <p:nvSpPr>
          <p:cNvPr id="26" name="Text 24"/>
          <p:cNvSpPr txBox="1"/>
          <p:nvPr/>
        </p:nvSpPr>
        <p:spPr>
          <a:xfrm>
            <a:off x="914400" y="4608576"/>
            <a:ext cx="1097280" cy="237744"/>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arrows</a:t>
            </a:r>
            <a:endParaRPr lang="en-US" sz="1150" dirty="0"/>
          </a:p>
        </p:txBody>
      </p:sp>
      <p:sp>
        <p:nvSpPr>
          <p:cNvPr id="27" name="Text 25"/>
          <p:cNvSpPr txBox="1"/>
          <p:nvPr/>
        </p:nvSpPr>
        <p:spPr>
          <a:xfrm>
            <a:off x="2066544" y="4617720"/>
            <a:ext cx="2286000" cy="237744"/>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move the selection</a:t>
            </a:r>
            <a:endParaRPr lang="en-US" sz="1100" dirty="0"/>
          </a:p>
        </p:txBody>
      </p:sp>
      <p:sp>
        <p:nvSpPr>
          <p:cNvPr id="28" name="Text 26"/>
          <p:cNvSpPr txBox="1"/>
          <p:nvPr/>
        </p:nvSpPr>
        <p:spPr>
          <a:xfrm>
            <a:off x="4526280" y="4608576"/>
            <a:ext cx="1097280" cy="237744"/>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ENTER</a:t>
            </a:r>
            <a:endParaRPr lang="en-US" sz="1150" dirty="0"/>
          </a:p>
        </p:txBody>
      </p:sp>
      <p:sp>
        <p:nvSpPr>
          <p:cNvPr id="29" name="Text 27"/>
          <p:cNvSpPr txBox="1"/>
          <p:nvPr/>
        </p:nvSpPr>
        <p:spPr>
          <a:xfrm>
            <a:off x="5678424" y="4617720"/>
            <a:ext cx="2286000" cy="237744"/>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open process detail</a:t>
            </a:r>
            <a:endParaRPr lang="en-US" sz="1100" dirty="0"/>
          </a:p>
        </p:txBody>
      </p:sp>
      <p:sp>
        <p:nvSpPr>
          <p:cNvPr id="30" name="Text 28"/>
          <p:cNvSpPr txBox="1"/>
          <p:nvPr/>
        </p:nvSpPr>
        <p:spPr>
          <a:xfrm>
            <a:off x="8138160" y="4608576"/>
            <a:ext cx="1097280" cy="237744"/>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T / E</a:t>
            </a:r>
            <a:endParaRPr lang="en-US" sz="1150" dirty="0"/>
          </a:p>
        </p:txBody>
      </p:sp>
      <p:sp>
        <p:nvSpPr>
          <p:cNvPr id="31" name="Text 29"/>
          <p:cNvSpPr txBox="1"/>
          <p:nvPr/>
        </p:nvSpPr>
        <p:spPr>
          <a:xfrm>
            <a:off x="9290304" y="4617720"/>
            <a:ext cx="2286000" cy="237744"/>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tree and event views</a:t>
            </a:r>
            <a:endParaRPr lang="en-US" sz="1100" dirty="0"/>
          </a:p>
        </p:txBody>
      </p:sp>
      <p:sp>
        <p:nvSpPr>
          <p:cNvPr id="32" name="Text 30"/>
          <p:cNvSpPr txBox="1"/>
          <p:nvPr/>
        </p:nvSpPr>
        <p:spPr>
          <a:xfrm>
            <a:off x="914400" y="5029200"/>
            <a:ext cx="1097280" cy="237744"/>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K / X</a:t>
            </a:r>
            <a:endParaRPr lang="en-US" sz="1150" dirty="0"/>
          </a:p>
        </p:txBody>
      </p:sp>
      <p:sp>
        <p:nvSpPr>
          <p:cNvPr id="33" name="Text 31"/>
          <p:cNvSpPr txBox="1"/>
          <p:nvPr/>
        </p:nvSpPr>
        <p:spPr>
          <a:xfrm>
            <a:off x="2066544" y="5038344"/>
            <a:ext cx="2286000" cy="237744"/>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SIGTERM and SIGKILL</a:t>
            </a:r>
            <a:endParaRPr lang="en-US" sz="1100" dirty="0"/>
          </a:p>
        </p:txBody>
      </p:sp>
      <p:sp>
        <p:nvSpPr>
          <p:cNvPr id="34" name="Text 32"/>
          <p:cNvSpPr txBox="1"/>
          <p:nvPr/>
        </p:nvSpPr>
        <p:spPr>
          <a:xfrm>
            <a:off x="4526280" y="5029200"/>
            <a:ext cx="1097280" cy="237744"/>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S / C</a:t>
            </a:r>
            <a:endParaRPr lang="en-US" sz="1150" dirty="0"/>
          </a:p>
        </p:txBody>
      </p:sp>
      <p:sp>
        <p:nvSpPr>
          <p:cNvPr id="35" name="Text 33"/>
          <p:cNvSpPr txBox="1"/>
          <p:nvPr/>
        </p:nvSpPr>
        <p:spPr>
          <a:xfrm>
            <a:off x="5678424" y="5038344"/>
            <a:ext cx="2286000" cy="237744"/>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SIGSTOP and SIGCONT</a:t>
            </a:r>
            <a:endParaRPr lang="en-US" sz="1100" dirty="0"/>
          </a:p>
        </p:txBody>
      </p:sp>
      <p:sp>
        <p:nvSpPr>
          <p:cNvPr id="36" name="Text 34"/>
          <p:cNvSpPr txBox="1"/>
          <p:nvPr/>
        </p:nvSpPr>
        <p:spPr>
          <a:xfrm>
            <a:off x="8138160" y="5029200"/>
            <a:ext cx="1097280" cy="237744"/>
          </a:xfrm>
          <a:prstGeom prst="rect">
            <a:avLst/>
          </a:prstGeom>
          <a:noFill/>
          <a:ln/>
        </p:spPr>
        <p:txBody>
          <a:bodyPr wrap="square" lIns="0" tIns="0" rIns="0" bIns="0" rtlCol="0" anchor="ctr"/>
          <a:lstStyle/>
          <a:p>
            <a:pPr algn="l" indent="0" marL="0">
              <a:lnSpc>
                <a:spcPts val="1700"/>
              </a:lnSpc>
              <a:buNone/>
            </a:pPr>
            <a:r>
              <a:rPr lang="en-US" sz="1150" b="1" dirty="0">
                <a:solidFill>
                  <a:srgbClr val="D64525"/>
                </a:solidFill>
                <a:latin typeface="Courier New" pitchFamily="34" charset="0"/>
                <a:ea typeface="Courier New" pitchFamily="34" charset="-122"/>
                <a:cs typeface="Courier New" pitchFamily="34" charset="-120"/>
              </a:rPr>
              <a:t>+ / -</a:t>
            </a:r>
            <a:endParaRPr lang="en-US" sz="1150" dirty="0"/>
          </a:p>
        </p:txBody>
      </p:sp>
      <p:sp>
        <p:nvSpPr>
          <p:cNvPr id="37" name="Text 35"/>
          <p:cNvSpPr txBox="1"/>
          <p:nvPr/>
        </p:nvSpPr>
        <p:spPr>
          <a:xfrm>
            <a:off x="9290304" y="5038344"/>
            <a:ext cx="2286000" cy="237744"/>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change the interval</a:t>
            </a:r>
            <a:endParaRPr lang="en-US" sz="1100" dirty="0"/>
          </a:p>
        </p:txBody>
      </p:sp>
      <p:sp>
        <p:nvSpPr>
          <p:cNvPr id="38" name="Text 36"/>
          <p:cNvSpPr txBox="1"/>
          <p:nvPr/>
        </p:nvSpPr>
        <p:spPr>
          <a:xfrm>
            <a:off x="658368" y="5724144"/>
            <a:ext cx="10241280" cy="365760"/>
          </a:xfrm>
          <a:prstGeom prst="rect">
            <a:avLst/>
          </a:prstGeom>
          <a:noFill/>
          <a:ln/>
        </p:spPr>
        <p:txBody>
          <a:bodyPr wrap="square" lIns="0" tIns="0" rIns="0" bIns="0" rtlCol="0" anchor="t"/>
          <a:lstStyle/>
          <a:p>
            <a:pPr algn="l" indent="0" marL="0">
              <a:lnSpc>
                <a:spcPts val="1900"/>
              </a:lnSpc>
              <a:buNone/>
            </a:pPr>
            <a:r>
              <a:rPr lang="en-US" sz="1200" b="1" dirty="0">
                <a:solidFill>
                  <a:srgbClr val="17324D"/>
                </a:solidFill>
                <a:latin typeface="Arial" pitchFamily="34" charset="0"/>
                <a:ea typeface="Arial" pitchFamily="34" charset="-122"/>
                <a:cs typeface="Arial" pitchFamily="34" charset="-120"/>
              </a:rPr>
              <a:t>Input is read with a bounded timeout rather than a busy poll, so a keypress is handled immediately while an idle loop costs nothing.</a:t>
            </a:r>
            <a:endParaRPr lang="en-US" sz="1200" dirty="0"/>
          </a:p>
        </p:txBody>
      </p:sp>
      <p:sp>
        <p:nvSpPr>
          <p:cNvPr id="39" name="Text 37"/>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15 / 23</a:t>
            </a:r>
            <a:endParaRPr lang="en-US" sz="1050" dirty="0"/>
          </a:p>
        </p:txBody>
      </p:sp>
      <p:sp>
        <p:nvSpPr>
          <p:cNvPr id="40" name="Text 38"/>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SYSTEM FLOW</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par>
                                <p:cTn id="109" presetID="10" presetClass="entr" presetSubtype="0" fill="hold" grpId="0" nodeType="withEffect">
                                  <p:stCondLst>
                                    <p:cond delay="18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20"/>
                                        <p:tgtEl>
                                          <p:spTgt spid="28"/>
                                        </p:tgtEl>
                                      </p:cBhvr>
                                    </p:animEffect>
                                    <p:anim calcmode="lin" valueType="num">
                                      <p:cBhvr additive="base">
                                        <p:cTn id="112" dur="420" fill="hold"/>
                                        <p:tgtEl>
                                          <p:spTgt spid="28"/>
                                        </p:tgtEl>
                                        <p:attrNameLst>
                                          <p:attrName>ppt_y</p:attrName>
                                        </p:attrNameLst>
                                      </p:cBhvr>
                                      <p:tavLst>
                                        <p:tav tm="0">
                                          <p:val>
                                            <p:strVal val="ppt_y+0.018"/>
                                          </p:val>
                                        </p:tav>
                                        <p:tav tm="100000">
                                          <p:val>
                                            <p:strVal val="ppt_y"/>
                                          </p:val>
                                        </p:tav>
                                      </p:tavLst>
                                    </p:anim>
                                  </p:childTnLst>
                                </p:cTn>
                              </p:par>
                              <p:par>
                                <p:cTn id="113" presetID="10" presetClass="entr" presetSubtype="0" fill="hold" grpId="0" nodeType="withEffect">
                                  <p:stCondLst>
                                    <p:cond delay="18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420"/>
                                        <p:tgtEl>
                                          <p:spTgt spid="29"/>
                                        </p:tgtEl>
                                      </p:cBhvr>
                                    </p:animEffect>
                                    <p:anim calcmode="lin" valueType="num">
                                      <p:cBhvr additive="base">
                                        <p:cTn id="116" dur="420" fill="hold"/>
                                        <p:tgtEl>
                                          <p:spTgt spid="29"/>
                                        </p:tgtEl>
                                        <p:attrNameLst>
                                          <p:attrName>ppt_y</p:attrName>
                                        </p:attrNameLst>
                                      </p:cBhvr>
                                      <p:tavLst>
                                        <p:tav tm="0">
                                          <p:val>
                                            <p:strVal val="ppt_y+0.018"/>
                                          </p:val>
                                        </p:tav>
                                        <p:tav tm="100000">
                                          <p:val>
                                            <p:strVal val="ppt_y"/>
                                          </p:val>
                                        </p:tav>
                                      </p:tavLst>
                                    </p:anim>
                                  </p:childTnLst>
                                </p:cTn>
                              </p:par>
                              <p:par>
                                <p:cTn id="117" presetID="10" presetClass="entr" presetSubtype="0" fill="hold" grpId="0" nodeType="withEffect">
                                  <p:stCondLst>
                                    <p:cond delay="18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420"/>
                                        <p:tgtEl>
                                          <p:spTgt spid="30"/>
                                        </p:tgtEl>
                                      </p:cBhvr>
                                    </p:animEffect>
                                    <p:anim calcmode="lin" valueType="num">
                                      <p:cBhvr additive="base">
                                        <p:cTn id="120" dur="420" fill="hold"/>
                                        <p:tgtEl>
                                          <p:spTgt spid="30"/>
                                        </p:tgtEl>
                                        <p:attrNameLst>
                                          <p:attrName>ppt_y</p:attrName>
                                        </p:attrNameLst>
                                      </p:cBhvr>
                                      <p:tavLst>
                                        <p:tav tm="0">
                                          <p:val>
                                            <p:strVal val="ppt_y+0.018"/>
                                          </p:val>
                                        </p:tav>
                                        <p:tav tm="100000">
                                          <p:val>
                                            <p:strVal val="ppt_y"/>
                                          </p:val>
                                        </p:tav>
                                      </p:tavLst>
                                    </p:anim>
                                  </p:childTnLst>
                                </p:cTn>
                              </p:par>
                              <p:par>
                                <p:cTn id="121" presetID="10" presetClass="entr" presetSubtype="0" fill="hold" grpId="0" nodeType="withEffect">
                                  <p:stCondLst>
                                    <p:cond delay="180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420"/>
                                        <p:tgtEl>
                                          <p:spTgt spid="31"/>
                                        </p:tgtEl>
                                      </p:cBhvr>
                                    </p:animEffect>
                                    <p:anim calcmode="lin" valueType="num">
                                      <p:cBhvr additive="base">
                                        <p:cTn id="124" dur="420" fill="hold"/>
                                        <p:tgtEl>
                                          <p:spTgt spid="31"/>
                                        </p:tgtEl>
                                        <p:attrNameLst>
                                          <p:attrName>ppt_y</p:attrName>
                                        </p:attrNameLst>
                                      </p:cBhvr>
                                      <p:tavLst>
                                        <p:tav tm="0">
                                          <p:val>
                                            <p:strVal val="ppt_y+0.018"/>
                                          </p:val>
                                        </p:tav>
                                        <p:tav tm="100000">
                                          <p:val>
                                            <p:strVal val="ppt_y"/>
                                          </p:val>
                                        </p:tav>
                                      </p:tavLst>
                                    </p:anim>
                                  </p:childTnLst>
                                </p:cTn>
                              </p:par>
                              <p:par>
                                <p:cTn id="125" presetID="10" presetClass="entr" presetSubtype="0" fill="hold" grpId="0" nodeType="withEffect">
                                  <p:stCondLst>
                                    <p:cond delay="18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20"/>
                                        <p:tgtEl>
                                          <p:spTgt spid="32"/>
                                        </p:tgtEl>
                                      </p:cBhvr>
                                    </p:animEffect>
                                    <p:anim calcmode="lin" valueType="num">
                                      <p:cBhvr additive="base">
                                        <p:cTn id="128" dur="420" fill="hold"/>
                                        <p:tgtEl>
                                          <p:spTgt spid="32"/>
                                        </p:tgtEl>
                                        <p:attrNameLst>
                                          <p:attrName>ppt_y</p:attrName>
                                        </p:attrNameLst>
                                      </p:cBhvr>
                                      <p:tavLst>
                                        <p:tav tm="0">
                                          <p:val>
                                            <p:strVal val="ppt_y+0.018"/>
                                          </p:val>
                                        </p:tav>
                                        <p:tav tm="100000">
                                          <p:val>
                                            <p:strVal val="ppt_y"/>
                                          </p:val>
                                        </p:tav>
                                      </p:tavLst>
                                    </p:anim>
                                  </p:childTnLst>
                                </p:cTn>
                              </p:par>
                              <p:par>
                                <p:cTn id="129" presetID="10" presetClass="entr" presetSubtype="0" fill="hold" grpId="0" nodeType="withEffect">
                                  <p:stCondLst>
                                    <p:cond delay="180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420"/>
                                        <p:tgtEl>
                                          <p:spTgt spid="33"/>
                                        </p:tgtEl>
                                      </p:cBhvr>
                                    </p:animEffect>
                                    <p:anim calcmode="lin" valueType="num">
                                      <p:cBhvr additive="base">
                                        <p:cTn id="132" dur="420" fill="hold"/>
                                        <p:tgtEl>
                                          <p:spTgt spid="33"/>
                                        </p:tgtEl>
                                        <p:attrNameLst>
                                          <p:attrName>ppt_y</p:attrName>
                                        </p:attrNameLst>
                                      </p:cBhvr>
                                      <p:tavLst>
                                        <p:tav tm="0">
                                          <p:val>
                                            <p:strVal val="ppt_y+0.018"/>
                                          </p:val>
                                        </p:tav>
                                        <p:tav tm="100000">
                                          <p:val>
                                            <p:strVal val="ppt_y"/>
                                          </p:val>
                                        </p:tav>
                                      </p:tavLst>
                                    </p:anim>
                                  </p:childTnLst>
                                </p:cTn>
                              </p:par>
                              <p:par>
                                <p:cTn id="133" presetID="10" presetClass="entr" presetSubtype="0" fill="hold" grpId="0" nodeType="withEffect">
                                  <p:stCondLst>
                                    <p:cond delay="1800"/>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420"/>
                                        <p:tgtEl>
                                          <p:spTgt spid="34"/>
                                        </p:tgtEl>
                                      </p:cBhvr>
                                    </p:animEffect>
                                    <p:anim calcmode="lin" valueType="num">
                                      <p:cBhvr additive="base">
                                        <p:cTn id="136" dur="420" fill="hold"/>
                                        <p:tgtEl>
                                          <p:spTgt spid="34"/>
                                        </p:tgtEl>
                                        <p:attrNameLst>
                                          <p:attrName>ppt_y</p:attrName>
                                        </p:attrNameLst>
                                      </p:cBhvr>
                                      <p:tavLst>
                                        <p:tav tm="0">
                                          <p:val>
                                            <p:strVal val="ppt_y+0.018"/>
                                          </p:val>
                                        </p:tav>
                                        <p:tav tm="100000">
                                          <p:val>
                                            <p:strVal val="ppt_y"/>
                                          </p:val>
                                        </p:tav>
                                      </p:tavLst>
                                    </p:anim>
                                  </p:childTnLst>
                                </p:cTn>
                              </p:par>
                              <p:par>
                                <p:cTn id="137" presetID="10" presetClass="entr" presetSubtype="0" fill="hold" grpId="0" nodeType="withEffect">
                                  <p:stCondLst>
                                    <p:cond delay="180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9" dur="420"/>
                                        <p:tgtEl>
                                          <p:spTgt spid="35"/>
                                        </p:tgtEl>
                                      </p:cBhvr>
                                    </p:animEffect>
                                    <p:anim calcmode="lin" valueType="num">
                                      <p:cBhvr additive="base">
                                        <p:cTn id="140" dur="420" fill="hold"/>
                                        <p:tgtEl>
                                          <p:spTgt spid="35"/>
                                        </p:tgtEl>
                                        <p:attrNameLst>
                                          <p:attrName>ppt_y</p:attrName>
                                        </p:attrNameLst>
                                      </p:cBhvr>
                                      <p:tavLst>
                                        <p:tav tm="0">
                                          <p:val>
                                            <p:strVal val="ppt_y+0.018"/>
                                          </p:val>
                                        </p:tav>
                                        <p:tav tm="100000">
                                          <p:val>
                                            <p:strVal val="ppt_y"/>
                                          </p:val>
                                        </p:tav>
                                      </p:tavLst>
                                    </p:anim>
                                  </p:childTnLst>
                                </p:cTn>
                              </p:par>
                              <p:par>
                                <p:cTn id="141" presetID="10" presetClass="entr" presetSubtype="0" fill="hold" grpId="0" nodeType="withEffect">
                                  <p:stCondLst>
                                    <p:cond delay="1800"/>
                                  </p:stCondLst>
                                  <p:childTnLst>
                                    <p:set>
                                      <p:cBhvr>
                                        <p:cTn id="142" dur="1" fill="hold">
                                          <p:stCondLst>
                                            <p:cond delay="0"/>
                                          </p:stCondLst>
                                        </p:cTn>
                                        <p:tgtEl>
                                          <p:spTgt spid="36"/>
                                        </p:tgtEl>
                                        <p:attrNameLst>
                                          <p:attrName>style.visibility</p:attrName>
                                        </p:attrNameLst>
                                      </p:cBhvr>
                                      <p:to>
                                        <p:strVal val="visible"/>
                                      </p:to>
                                    </p:set>
                                    <p:animEffect transition="in" filter="fade">
                                      <p:cBhvr>
                                        <p:cTn id="143" dur="420"/>
                                        <p:tgtEl>
                                          <p:spTgt spid="36"/>
                                        </p:tgtEl>
                                      </p:cBhvr>
                                    </p:animEffect>
                                    <p:anim calcmode="lin" valueType="num">
                                      <p:cBhvr additive="base">
                                        <p:cTn id="144" dur="420" fill="hold"/>
                                        <p:tgtEl>
                                          <p:spTgt spid="36"/>
                                        </p:tgtEl>
                                        <p:attrNameLst>
                                          <p:attrName>ppt_y</p:attrName>
                                        </p:attrNameLst>
                                      </p:cBhvr>
                                      <p:tavLst>
                                        <p:tav tm="0">
                                          <p:val>
                                            <p:strVal val="ppt_y+0.018"/>
                                          </p:val>
                                        </p:tav>
                                        <p:tav tm="100000">
                                          <p:val>
                                            <p:strVal val="ppt_y"/>
                                          </p:val>
                                        </p:tav>
                                      </p:tavLst>
                                    </p:anim>
                                  </p:childTnLst>
                                </p:cTn>
                              </p:par>
                              <p:par>
                                <p:cTn id="145" presetID="10" presetClass="entr" presetSubtype="0" fill="hold" grpId="0" nodeType="withEffect">
                                  <p:stCondLst>
                                    <p:cond delay="180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420"/>
                                        <p:tgtEl>
                                          <p:spTgt spid="37"/>
                                        </p:tgtEl>
                                      </p:cBhvr>
                                    </p:animEffect>
                                    <p:anim calcmode="lin" valueType="num">
                                      <p:cBhvr additive="base">
                                        <p:cTn id="148" dur="420" fill="hold"/>
                                        <p:tgtEl>
                                          <p:spTgt spid="37"/>
                                        </p:tgtEl>
                                        <p:attrNameLst>
                                          <p:attrName>ppt_y</p:attrName>
                                        </p:attrNameLst>
                                      </p:cBhvr>
                                      <p:tavLst>
                                        <p:tav tm="0">
                                          <p:val>
                                            <p:strVal val="ppt_y+0.018"/>
                                          </p:val>
                                        </p:tav>
                                        <p:tav tm="100000">
                                          <p:val>
                                            <p:strVal val="ppt_y"/>
                                          </p:val>
                                        </p:tav>
                                      </p:tavLst>
                                    </p:anim>
                                  </p:childTnLst>
                                </p:cTn>
                              </p:par>
                              <p:par>
                                <p:cTn id="149" presetID="10" presetClass="entr" presetSubtype="0" fill="hold" grpId="0" nodeType="withEffect">
                                  <p:stCondLst>
                                    <p:cond delay="180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420"/>
                                        <p:tgtEl>
                                          <p:spTgt spid="38"/>
                                        </p:tgtEl>
                                      </p:cBhvr>
                                    </p:animEffect>
                                    <p:anim calcmode="lin" valueType="num">
                                      <p:cBhvr additive="base">
                                        <p:cTn id="152" dur="420" fill="hold"/>
                                        <p:tgtEl>
                                          <p:spTgt spid="38"/>
                                        </p:tgtEl>
                                        <p:attrNameLst>
                                          <p:attrName>ppt_y</p:attrName>
                                        </p:attrNameLst>
                                      </p:cBhvr>
                                      <p:tavLst>
                                        <p:tav tm="0">
                                          <p:val>
                                            <p:strVal val="ppt_y+0.018"/>
                                          </p:val>
                                        </p:tav>
                                        <p:tav tm="100000">
                                          <p:val>
                                            <p:strVal val="ppt_y"/>
                                          </p:val>
                                        </p:tav>
                                      </p:tavLst>
                                    </p:anim>
                                  </p:childTnLst>
                                </p:cTn>
                              </p:par>
                              <p:par>
                                <p:cTn id="153" presetID="10" presetClass="entr" presetSubtype="0" fill="hold" grpId="0" nodeType="withEffect">
                                  <p:stCondLst>
                                    <p:cond delay="1800"/>
                                  </p:stCondLst>
                                  <p:childTnLst>
                                    <p:set>
                                      <p:cBhvr>
                                        <p:cTn id="154" dur="1" fill="hold">
                                          <p:stCondLst>
                                            <p:cond delay="0"/>
                                          </p:stCondLst>
                                        </p:cTn>
                                        <p:tgtEl>
                                          <p:spTgt spid="39"/>
                                        </p:tgtEl>
                                        <p:attrNameLst>
                                          <p:attrName>style.visibility</p:attrName>
                                        </p:attrNameLst>
                                      </p:cBhvr>
                                      <p:to>
                                        <p:strVal val="visible"/>
                                      </p:to>
                                    </p:set>
                                    <p:animEffect transition="in" filter="fade">
                                      <p:cBhvr>
                                        <p:cTn id="155" dur="420"/>
                                        <p:tgtEl>
                                          <p:spTgt spid="39"/>
                                        </p:tgtEl>
                                      </p:cBhvr>
                                    </p:animEffect>
                                    <p:anim calcmode="lin" valueType="num">
                                      <p:cBhvr additive="base">
                                        <p:cTn id="156" dur="420" fill="hold"/>
                                        <p:tgtEl>
                                          <p:spTgt spid="39"/>
                                        </p:tgtEl>
                                        <p:attrNameLst>
                                          <p:attrName>ppt_y</p:attrName>
                                        </p:attrNameLst>
                                      </p:cBhvr>
                                      <p:tavLst>
                                        <p:tav tm="0">
                                          <p:val>
                                            <p:strVal val="ppt_y+0.018"/>
                                          </p:val>
                                        </p:tav>
                                        <p:tav tm="100000">
                                          <p:val>
                                            <p:strVal val="ppt_y"/>
                                          </p:val>
                                        </p:tav>
                                      </p:tavLst>
                                    </p:anim>
                                  </p:childTnLst>
                                </p:cTn>
                              </p:par>
                              <p:par>
                                <p:cTn id="157" presetID="10" presetClass="entr" presetSubtype="0" fill="hold" grpId="0" nodeType="withEffect">
                                  <p:stCondLst>
                                    <p:cond delay="1800"/>
                                  </p:stCondLst>
                                  <p:childTnLst>
                                    <p:set>
                                      <p:cBhvr>
                                        <p:cTn id="158" dur="1" fill="hold">
                                          <p:stCondLst>
                                            <p:cond delay="0"/>
                                          </p:stCondLst>
                                        </p:cTn>
                                        <p:tgtEl>
                                          <p:spTgt spid="40"/>
                                        </p:tgtEl>
                                        <p:attrNameLst>
                                          <p:attrName>style.visibility</p:attrName>
                                        </p:attrNameLst>
                                      </p:cBhvr>
                                      <p:to>
                                        <p:strVal val="visible"/>
                                      </p:to>
                                    </p:set>
                                    <p:animEffect transition="in" filter="fade">
                                      <p:cBhvr>
                                        <p:cTn id="159" dur="420"/>
                                        <p:tgtEl>
                                          <p:spTgt spid="40"/>
                                        </p:tgtEl>
                                      </p:cBhvr>
                                    </p:animEffect>
                                    <p:anim calcmode="lin" valueType="num">
                                      <p:cBhvr additive="base">
                                        <p:cTn id="160" dur="420" fill="hold"/>
                                        <p:tgtEl>
                                          <p:spTgt spid="40"/>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15  /  IMPLEMENTATION</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From kernel file to screen</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3,209 lines of C across eight modules, one responsibility each.</a:t>
            </a:r>
            <a:endParaRPr lang="en-US" sz="1300" dirty="0"/>
          </a:p>
        </p:txBody>
      </p:sp>
      <p:sp>
        <p:nvSpPr>
          <p:cNvPr id="5" name="Shape 3"/>
          <p:cNvSpPr/>
          <p:nvPr/>
        </p:nvSpPr>
        <p:spPr>
          <a:xfrm>
            <a:off x="658368" y="1883664"/>
            <a:ext cx="10874959" cy="420624"/>
          </a:xfrm>
          <a:prstGeom prst="rect">
            <a:avLst/>
          </a:prstGeom>
          <a:solidFill>
            <a:srgbClr val="FCFBF8"/>
          </a:solidFill>
          <a:ln w="12700">
            <a:solidFill>
              <a:srgbClr val="B9C6D4"/>
            </a:solidFill>
            <a:prstDash val="solid"/>
          </a:ln>
        </p:spPr>
      </p:sp>
      <p:sp>
        <p:nvSpPr>
          <p:cNvPr id="6" name="Text 4"/>
          <p:cNvSpPr txBox="1"/>
          <p:nvPr/>
        </p:nvSpPr>
        <p:spPr>
          <a:xfrm>
            <a:off x="896112" y="1993392"/>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proc_reader</a:t>
            </a:r>
            <a:endParaRPr lang="en-US" sz="1200" dirty="0"/>
          </a:p>
        </p:txBody>
      </p:sp>
      <p:sp>
        <p:nvSpPr>
          <p:cNvPr id="7" name="Text 5"/>
          <p:cNvSpPr txBox="1"/>
          <p:nvPr/>
        </p:nvSpPr>
        <p:spPr>
          <a:xfrm>
            <a:off x="3035808" y="2002536"/>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344 lines</a:t>
            </a:r>
            <a:endParaRPr lang="en-US" sz="1000" dirty="0"/>
          </a:p>
        </p:txBody>
      </p:sp>
      <p:sp>
        <p:nvSpPr>
          <p:cNvPr id="8" name="Text 6"/>
          <p:cNvSpPr txBox="1"/>
          <p:nvPr/>
        </p:nvSpPr>
        <p:spPr>
          <a:xfrm>
            <a:off x="4224528" y="2002536"/>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Raw /proc access. Opens, reads and closes; knows nothing about meaning.</a:t>
            </a:r>
            <a:endParaRPr lang="en-US" sz="1100" dirty="0"/>
          </a:p>
        </p:txBody>
      </p:sp>
      <p:sp>
        <p:nvSpPr>
          <p:cNvPr id="9" name="Shape 7"/>
          <p:cNvSpPr/>
          <p:nvPr/>
        </p:nvSpPr>
        <p:spPr>
          <a:xfrm>
            <a:off x="658368" y="2377440"/>
            <a:ext cx="10874959" cy="420624"/>
          </a:xfrm>
          <a:prstGeom prst="rect">
            <a:avLst/>
          </a:prstGeom>
          <a:solidFill>
            <a:srgbClr val="FCFBF8"/>
          </a:solidFill>
          <a:ln w="12700">
            <a:solidFill>
              <a:srgbClr val="B9C6D4"/>
            </a:solidFill>
            <a:prstDash val="solid"/>
          </a:ln>
        </p:spPr>
      </p:sp>
      <p:sp>
        <p:nvSpPr>
          <p:cNvPr id="10" name="Text 8"/>
          <p:cNvSpPr txBox="1"/>
          <p:nvPr/>
        </p:nvSpPr>
        <p:spPr>
          <a:xfrm>
            <a:off x="896112" y="2487168"/>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parser</a:t>
            </a:r>
            <a:endParaRPr lang="en-US" sz="1200" dirty="0"/>
          </a:p>
        </p:txBody>
      </p:sp>
      <p:sp>
        <p:nvSpPr>
          <p:cNvPr id="11" name="Text 9"/>
          <p:cNvSpPr txBox="1"/>
          <p:nvPr/>
        </p:nvSpPr>
        <p:spPr>
          <a:xfrm>
            <a:off x="3035808" y="2496312"/>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313 lines</a:t>
            </a:r>
            <a:endParaRPr lang="en-US" sz="1000" dirty="0"/>
          </a:p>
        </p:txBody>
      </p:sp>
      <p:sp>
        <p:nvSpPr>
          <p:cNvPr id="12" name="Text 10"/>
          <p:cNvSpPr txBox="1"/>
          <p:nvPr/>
        </p:nvSpPr>
        <p:spPr>
          <a:xfrm>
            <a:off x="4224528" y="2496312"/>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Turns /proc text into values. Handles names containing spaces and parentheses.</a:t>
            </a:r>
            <a:endParaRPr lang="en-US" sz="1100" dirty="0"/>
          </a:p>
        </p:txBody>
      </p:sp>
      <p:sp>
        <p:nvSpPr>
          <p:cNvPr id="13" name="Shape 11"/>
          <p:cNvSpPr/>
          <p:nvPr/>
        </p:nvSpPr>
        <p:spPr>
          <a:xfrm>
            <a:off x="658368" y="2871216"/>
            <a:ext cx="10874959" cy="420624"/>
          </a:xfrm>
          <a:prstGeom prst="rect">
            <a:avLst/>
          </a:prstGeom>
          <a:solidFill>
            <a:srgbClr val="FCFBF8"/>
          </a:solidFill>
          <a:ln w="12700">
            <a:solidFill>
              <a:srgbClr val="B9C6D4"/>
            </a:solidFill>
            <a:prstDash val="solid"/>
          </a:ln>
        </p:spPr>
      </p:sp>
      <p:sp>
        <p:nvSpPr>
          <p:cNvPr id="14" name="Text 12"/>
          <p:cNvSpPr txBox="1"/>
          <p:nvPr/>
        </p:nvSpPr>
        <p:spPr>
          <a:xfrm>
            <a:off x="896112" y="2980944"/>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system_monitor</a:t>
            </a:r>
            <a:endParaRPr lang="en-US" sz="1200" dirty="0"/>
          </a:p>
        </p:txBody>
      </p:sp>
      <p:sp>
        <p:nvSpPr>
          <p:cNvPr id="15" name="Text 13"/>
          <p:cNvSpPr txBox="1"/>
          <p:nvPr/>
        </p:nvSpPr>
        <p:spPr>
          <a:xfrm>
            <a:off x="3035808" y="2990088"/>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273 lines</a:t>
            </a:r>
            <a:endParaRPr lang="en-US" sz="1000" dirty="0"/>
          </a:p>
        </p:txBody>
      </p:sp>
      <p:sp>
        <p:nvSpPr>
          <p:cNvPr id="16" name="Text 14"/>
          <p:cNvSpPr txBox="1"/>
          <p:nvPr/>
        </p:nvSpPr>
        <p:spPr>
          <a:xfrm>
            <a:off x="4224528" y="2990088"/>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CPU, memory, swap, load average and uptime for the whole machine.</a:t>
            </a:r>
            <a:endParaRPr lang="en-US" sz="1100" dirty="0"/>
          </a:p>
        </p:txBody>
      </p:sp>
      <p:sp>
        <p:nvSpPr>
          <p:cNvPr id="17" name="Shape 15"/>
          <p:cNvSpPr/>
          <p:nvPr/>
        </p:nvSpPr>
        <p:spPr>
          <a:xfrm>
            <a:off x="658368" y="3364992"/>
            <a:ext cx="10874959" cy="420624"/>
          </a:xfrm>
          <a:prstGeom prst="rect">
            <a:avLst/>
          </a:prstGeom>
          <a:solidFill>
            <a:srgbClr val="FCFBF8"/>
          </a:solidFill>
          <a:ln w="12700">
            <a:solidFill>
              <a:srgbClr val="B9C6D4"/>
            </a:solidFill>
            <a:prstDash val="solid"/>
          </a:ln>
        </p:spPr>
      </p:sp>
      <p:sp>
        <p:nvSpPr>
          <p:cNvPr id="18" name="Text 16"/>
          <p:cNvSpPr txBox="1"/>
          <p:nvPr/>
        </p:nvSpPr>
        <p:spPr>
          <a:xfrm>
            <a:off x="896112" y="3474720"/>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process_monitor</a:t>
            </a:r>
            <a:endParaRPr lang="en-US" sz="1200" dirty="0"/>
          </a:p>
        </p:txBody>
      </p:sp>
      <p:sp>
        <p:nvSpPr>
          <p:cNvPr id="19" name="Text 17"/>
          <p:cNvSpPr txBox="1"/>
          <p:nvPr/>
        </p:nvSpPr>
        <p:spPr>
          <a:xfrm>
            <a:off x="3035808" y="3483864"/>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706 lines</a:t>
            </a:r>
            <a:endParaRPr lang="en-US" sz="1000" dirty="0"/>
          </a:p>
        </p:txBody>
      </p:sp>
      <p:sp>
        <p:nvSpPr>
          <p:cNvPr id="20" name="Text 18"/>
          <p:cNvSpPr txBox="1"/>
          <p:nvPr/>
        </p:nvSpPr>
        <p:spPr>
          <a:xfrm>
            <a:off x="4224528" y="3483864"/>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Per-process model, rates, the PID to PPID tree, and creation and exit events.</a:t>
            </a:r>
            <a:endParaRPr lang="en-US" sz="1100" dirty="0"/>
          </a:p>
        </p:txBody>
      </p:sp>
      <p:sp>
        <p:nvSpPr>
          <p:cNvPr id="21" name="Shape 19"/>
          <p:cNvSpPr/>
          <p:nvPr/>
        </p:nvSpPr>
        <p:spPr>
          <a:xfrm>
            <a:off x="658368" y="3858768"/>
            <a:ext cx="10874959" cy="420624"/>
          </a:xfrm>
          <a:prstGeom prst="rect">
            <a:avLst/>
          </a:prstGeom>
          <a:solidFill>
            <a:srgbClr val="FCFBF8"/>
          </a:solidFill>
          <a:ln w="12700">
            <a:solidFill>
              <a:srgbClr val="B9C6D4"/>
            </a:solidFill>
            <a:prstDash val="solid"/>
          </a:ln>
        </p:spPr>
      </p:sp>
      <p:sp>
        <p:nvSpPr>
          <p:cNvPr id="22" name="Text 20"/>
          <p:cNvSpPr txBox="1"/>
          <p:nvPr/>
        </p:nvSpPr>
        <p:spPr>
          <a:xfrm>
            <a:off x="896112" y="3968496"/>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process_control</a:t>
            </a:r>
            <a:endParaRPr lang="en-US" sz="1200" dirty="0"/>
          </a:p>
        </p:txBody>
      </p:sp>
      <p:sp>
        <p:nvSpPr>
          <p:cNvPr id="23" name="Text 21"/>
          <p:cNvSpPr txBox="1"/>
          <p:nvPr/>
        </p:nvSpPr>
        <p:spPr>
          <a:xfrm>
            <a:off x="3035808" y="3977640"/>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166 lines</a:t>
            </a:r>
            <a:endParaRPr lang="en-US" sz="1000" dirty="0"/>
          </a:p>
        </p:txBody>
      </p:sp>
      <p:sp>
        <p:nvSpPr>
          <p:cNvPr id="24" name="Text 22"/>
          <p:cNvSpPr txBox="1"/>
          <p:nvPr/>
        </p:nvSpPr>
        <p:spPr>
          <a:xfrm>
            <a:off x="4224528" y="3977640"/>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The only module that calls kill(). Validates the signal and the target.</a:t>
            </a:r>
            <a:endParaRPr lang="en-US" sz="1100" dirty="0"/>
          </a:p>
        </p:txBody>
      </p:sp>
      <p:sp>
        <p:nvSpPr>
          <p:cNvPr id="25" name="Shape 23"/>
          <p:cNvSpPr/>
          <p:nvPr/>
        </p:nvSpPr>
        <p:spPr>
          <a:xfrm>
            <a:off x="658368" y="4352544"/>
            <a:ext cx="10874959" cy="420624"/>
          </a:xfrm>
          <a:prstGeom prst="rect">
            <a:avLst/>
          </a:prstGeom>
          <a:solidFill>
            <a:srgbClr val="FCFBF8"/>
          </a:solidFill>
          <a:ln w="12700">
            <a:solidFill>
              <a:srgbClr val="B9C6D4"/>
            </a:solidFill>
            <a:prstDash val="solid"/>
          </a:ln>
        </p:spPr>
      </p:sp>
      <p:sp>
        <p:nvSpPr>
          <p:cNvPr id="26" name="Text 24"/>
          <p:cNvSpPr txBox="1"/>
          <p:nvPr/>
        </p:nvSpPr>
        <p:spPr>
          <a:xfrm>
            <a:off x="896112" y="4462272"/>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collector</a:t>
            </a:r>
            <a:endParaRPr lang="en-US" sz="1200" dirty="0"/>
          </a:p>
        </p:txBody>
      </p:sp>
      <p:sp>
        <p:nvSpPr>
          <p:cNvPr id="27" name="Text 25"/>
          <p:cNvSpPr txBox="1"/>
          <p:nvPr/>
        </p:nvSpPr>
        <p:spPr>
          <a:xfrm>
            <a:off x="3035808" y="4471416"/>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211 lines</a:t>
            </a:r>
            <a:endParaRPr lang="en-US" sz="1000" dirty="0"/>
          </a:p>
        </p:txBody>
      </p:sp>
      <p:sp>
        <p:nvSpPr>
          <p:cNvPr id="28" name="Text 26"/>
          <p:cNvSpPr txBox="1"/>
          <p:nvPr/>
        </p:nvSpPr>
        <p:spPr>
          <a:xfrm>
            <a:off x="4224528" y="4471416"/>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The second thread: a mutex, a timed condition variable and a generation counter.</a:t>
            </a:r>
            <a:endParaRPr lang="en-US" sz="1100" dirty="0"/>
          </a:p>
        </p:txBody>
      </p:sp>
      <p:sp>
        <p:nvSpPr>
          <p:cNvPr id="29" name="Shape 27"/>
          <p:cNvSpPr/>
          <p:nvPr/>
        </p:nvSpPr>
        <p:spPr>
          <a:xfrm>
            <a:off x="658368" y="4846320"/>
            <a:ext cx="10874959" cy="420624"/>
          </a:xfrm>
          <a:prstGeom prst="rect">
            <a:avLst/>
          </a:prstGeom>
          <a:solidFill>
            <a:srgbClr val="FCFBF8"/>
          </a:solidFill>
          <a:ln w="12700">
            <a:solidFill>
              <a:srgbClr val="B9C6D4"/>
            </a:solidFill>
            <a:prstDash val="solid"/>
          </a:ln>
        </p:spPr>
      </p:sp>
      <p:sp>
        <p:nvSpPr>
          <p:cNvPr id="30" name="Text 28"/>
          <p:cNvSpPr txBox="1"/>
          <p:nvPr/>
        </p:nvSpPr>
        <p:spPr>
          <a:xfrm>
            <a:off x="896112" y="4956048"/>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ui</a:t>
            </a:r>
            <a:endParaRPr lang="en-US" sz="1200" dirty="0"/>
          </a:p>
        </p:txBody>
      </p:sp>
      <p:sp>
        <p:nvSpPr>
          <p:cNvPr id="31" name="Text 29"/>
          <p:cNvSpPr txBox="1"/>
          <p:nvPr/>
        </p:nvSpPr>
        <p:spPr>
          <a:xfrm>
            <a:off x="3035808" y="4965192"/>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860 lines</a:t>
            </a:r>
            <a:endParaRPr lang="en-US" sz="1000" dirty="0"/>
          </a:p>
        </p:txBody>
      </p:sp>
      <p:sp>
        <p:nvSpPr>
          <p:cNvPr id="32" name="Text 30"/>
          <p:cNvSpPr txBox="1"/>
          <p:nvPr/>
        </p:nvSpPr>
        <p:spPr>
          <a:xfrm>
            <a:off x="4224528" y="4965192"/>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ncurses rendering, four views, input handling and the confirmation dialog.</a:t>
            </a:r>
            <a:endParaRPr lang="en-US" sz="1100" dirty="0"/>
          </a:p>
        </p:txBody>
      </p:sp>
      <p:sp>
        <p:nvSpPr>
          <p:cNvPr id="60" name="Shape 61"/>
          <p:cNvSpPr/>
          <p:nvPr/>
        </p:nvSpPr>
        <p:spPr>
          <a:xfrm>
            <a:off x="658368" y="5340096"/>
            <a:ext cx="10874959" cy="420624"/>
          </a:xfrm>
          <a:prstGeom prst="rect">
            <a:avLst/>
          </a:prstGeom>
          <a:solidFill>
            <a:srgbClr val="FCFBF8"/>
          </a:solidFill>
          <a:ln w="12700">
            <a:solidFill>
              <a:srgbClr val="B9C6D4"/>
            </a:solidFill>
            <a:prstDash val="solid"/>
          </a:ln>
        </p:spPr>
      </p:sp>
      <p:sp>
        <p:nvSpPr>
          <p:cNvPr id="61" name="Text 62"/>
          <p:cNvSpPr txBox="1"/>
          <p:nvPr/>
        </p:nvSpPr>
        <p:spPr>
          <a:xfrm>
            <a:off x="896112" y="5449824"/>
            <a:ext cx="2103120" cy="237744"/>
          </a:xfrm>
          <a:prstGeom prst="rect">
            <a:avLst/>
          </a:prstGeom>
          <a:noFill/>
          <a:ln/>
        </p:spPr>
        <p:txBody>
          <a:bodyPr wrap="square" lIns="0" tIns="0" rIns="0" bIns="0" rtlCol="0" anchor="ctr"/>
          <a:lstStyle/>
          <a:p>
            <a:pPr algn="l" indent="0" marL="0">
              <a:lnSpc>
                <a:spcPts val="1700"/>
              </a:lnSpc>
              <a:buNone/>
            </a:pPr>
            <a:r>
              <a:rPr lang="en-US" sz="1200" b="1" dirty="0">
                <a:solidFill>
                  <a:srgbClr val="17324D"/>
                </a:solidFill>
                <a:latin typeface="Courier New" pitchFamily="34" charset="0"/>
                <a:ea typeface="Courier New" pitchFamily="34" charset="-122"/>
                <a:cs typeface="Courier New" pitchFamily="34" charset="-120"/>
              </a:rPr>
              <a:t>main</a:t>
            </a:r>
            <a:endParaRPr lang="en-US" sz="1200" dirty="0"/>
          </a:p>
        </p:txBody>
      </p:sp>
      <p:sp>
        <p:nvSpPr>
          <p:cNvPr id="62" name="Text 63"/>
          <p:cNvSpPr txBox="1"/>
          <p:nvPr/>
        </p:nvSpPr>
        <p:spPr>
          <a:xfrm>
            <a:off x="3035808" y="5458968"/>
            <a:ext cx="914400" cy="237744"/>
          </a:xfrm>
          <a:prstGeom prst="rect">
            <a:avLst/>
          </a:prstGeom>
          <a:noFill/>
          <a:ln/>
        </p:spPr>
        <p:txBody>
          <a:bodyPr wrap="square" lIns="0" tIns="0" rIns="0" bIns="0" rtlCol="0" anchor="ctr"/>
          <a:lstStyle/>
          <a:p>
            <a:pPr algn="r" indent="0" marL="0">
              <a:lnSpc>
                <a:spcPts val="1700"/>
              </a:lnSpc>
              <a:buNone/>
            </a:pPr>
            <a:r>
              <a:rPr lang="en-US" sz="1000" dirty="0">
                <a:solidFill>
                  <a:srgbClr val="D64525"/>
                </a:solidFill>
                <a:latin typeface="Courier New" pitchFamily="34" charset="0"/>
                <a:ea typeface="Courier New" pitchFamily="34" charset="-122"/>
                <a:cs typeface="Courier New" pitchFamily="34" charset="-120"/>
              </a:rPr>
              <a:t>336 lines</a:t>
            </a:r>
            <a:endParaRPr lang="en-US" sz="1000" dirty="0"/>
          </a:p>
        </p:txBody>
      </p:sp>
      <p:sp>
        <p:nvSpPr>
          <p:cNvPr id="63" name="Text 64"/>
          <p:cNvSpPr txBox="1"/>
          <p:nvPr/>
        </p:nvSpPr>
        <p:spPr>
          <a:xfrm>
            <a:off x="4224528" y="5458968"/>
            <a:ext cx="704088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Installs signal handlers and runs the key, redraw and shutdown loop.</a:t>
            </a:r>
            <a:endParaRPr lang="en-US" sz="1100" dirty="0"/>
          </a:p>
        </p:txBody>
      </p:sp>
      <p:sp>
        <p:nvSpPr>
          <p:cNvPr id="33" name="Text 31"/>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16 / 23</a:t>
            </a:r>
            <a:endParaRPr lang="en-US" sz="1050" dirty="0"/>
          </a:p>
        </p:txBody>
      </p:sp>
      <p:sp>
        <p:nvSpPr>
          <p:cNvPr id="34" name="Text 32"/>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IMPLEMENTATION</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par>
                                <p:cTn id="109" presetID="10" presetClass="entr" presetSubtype="0" fill="hold" grpId="0" nodeType="withEffect">
                                  <p:stCondLst>
                                    <p:cond delay="18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20"/>
                                        <p:tgtEl>
                                          <p:spTgt spid="28"/>
                                        </p:tgtEl>
                                      </p:cBhvr>
                                    </p:animEffect>
                                    <p:anim calcmode="lin" valueType="num">
                                      <p:cBhvr additive="base">
                                        <p:cTn id="112" dur="420" fill="hold"/>
                                        <p:tgtEl>
                                          <p:spTgt spid="28"/>
                                        </p:tgtEl>
                                        <p:attrNameLst>
                                          <p:attrName>ppt_y</p:attrName>
                                        </p:attrNameLst>
                                      </p:cBhvr>
                                      <p:tavLst>
                                        <p:tav tm="0">
                                          <p:val>
                                            <p:strVal val="ppt_y+0.018"/>
                                          </p:val>
                                        </p:tav>
                                        <p:tav tm="100000">
                                          <p:val>
                                            <p:strVal val="ppt_y"/>
                                          </p:val>
                                        </p:tav>
                                      </p:tavLst>
                                    </p:anim>
                                  </p:childTnLst>
                                </p:cTn>
                              </p:par>
                              <p:par>
                                <p:cTn id="113" presetID="10" presetClass="entr" presetSubtype="0" fill="hold" grpId="0" nodeType="withEffect">
                                  <p:stCondLst>
                                    <p:cond delay="18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420"/>
                                        <p:tgtEl>
                                          <p:spTgt spid="29"/>
                                        </p:tgtEl>
                                      </p:cBhvr>
                                    </p:animEffect>
                                    <p:anim calcmode="lin" valueType="num">
                                      <p:cBhvr additive="base">
                                        <p:cTn id="116" dur="420" fill="hold"/>
                                        <p:tgtEl>
                                          <p:spTgt spid="29"/>
                                        </p:tgtEl>
                                        <p:attrNameLst>
                                          <p:attrName>ppt_y</p:attrName>
                                        </p:attrNameLst>
                                      </p:cBhvr>
                                      <p:tavLst>
                                        <p:tav tm="0">
                                          <p:val>
                                            <p:strVal val="ppt_y+0.018"/>
                                          </p:val>
                                        </p:tav>
                                        <p:tav tm="100000">
                                          <p:val>
                                            <p:strVal val="ppt_y"/>
                                          </p:val>
                                        </p:tav>
                                      </p:tavLst>
                                    </p:anim>
                                  </p:childTnLst>
                                </p:cTn>
                              </p:par>
                              <p:par>
                                <p:cTn id="117" presetID="10" presetClass="entr" presetSubtype="0" fill="hold" grpId="0" nodeType="withEffect">
                                  <p:stCondLst>
                                    <p:cond delay="18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420"/>
                                        <p:tgtEl>
                                          <p:spTgt spid="30"/>
                                        </p:tgtEl>
                                      </p:cBhvr>
                                    </p:animEffect>
                                    <p:anim calcmode="lin" valueType="num">
                                      <p:cBhvr additive="base">
                                        <p:cTn id="120" dur="420" fill="hold"/>
                                        <p:tgtEl>
                                          <p:spTgt spid="30"/>
                                        </p:tgtEl>
                                        <p:attrNameLst>
                                          <p:attrName>ppt_y</p:attrName>
                                        </p:attrNameLst>
                                      </p:cBhvr>
                                      <p:tavLst>
                                        <p:tav tm="0">
                                          <p:val>
                                            <p:strVal val="ppt_y+0.018"/>
                                          </p:val>
                                        </p:tav>
                                        <p:tav tm="100000">
                                          <p:val>
                                            <p:strVal val="ppt_y"/>
                                          </p:val>
                                        </p:tav>
                                      </p:tavLst>
                                    </p:anim>
                                  </p:childTnLst>
                                </p:cTn>
                              </p:par>
                              <p:par>
                                <p:cTn id="121" presetID="10" presetClass="entr" presetSubtype="0" fill="hold" grpId="0" nodeType="withEffect">
                                  <p:stCondLst>
                                    <p:cond delay="180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420"/>
                                        <p:tgtEl>
                                          <p:spTgt spid="31"/>
                                        </p:tgtEl>
                                      </p:cBhvr>
                                    </p:animEffect>
                                    <p:anim calcmode="lin" valueType="num">
                                      <p:cBhvr additive="base">
                                        <p:cTn id="124" dur="420" fill="hold"/>
                                        <p:tgtEl>
                                          <p:spTgt spid="31"/>
                                        </p:tgtEl>
                                        <p:attrNameLst>
                                          <p:attrName>ppt_y</p:attrName>
                                        </p:attrNameLst>
                                      </p:cBhvr>
                                      <p:tavLst>
                                        <p:tav tm="0">
                                          <p:val>
                                            <p:strVal val="ppt_y+0.018"/>
                                          </p:val>
                                        </p:tav>
                                        <p:tav tm="100000">
                                          <p:val>
                                            <p:strVal val="ppt_y"/>
                                          </p:val>
                                        </p:tav>
                                      </p:tavLst>
                                    </p:anim>
                                  </p:childTnLst>
                                </p:cTn>
                              </p:par>
                              <p:par>
                                <p:cTn id="125" presetID="10" presetClass="entr" presetSubtype="0" fill="hold" grpId="0" nodeType="withEffect">
                                  <p:stCondLst>
                                    <p:cond delay="18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20"/>
                                        <p:tgtEl>
                                          <p:spTgt spid="32"/>
                                        </p:tgtEl>
                                      </p:cBhvr>
                                    </p:animEffect>
                                    <p:anim calcmode="lin" valueType="num">
                                      <p:cBhvr additive="base">
                                        <p:cTn id="128" dur="420" fill="hold"/>
                                        <p:tgtEl>
                                          <p:spTgt spid="32"/>
                                        </p:tgtEl>
                                        <p:attrNameLst>
                                          <p:attrName>ppt_y</p:attrName>
                                        </p:attrNameLst>
                                      </p:cBhvr>
                                      <p:tavLst>
                                        <p:tav tm="0">
                                          <p:val>
                                            <p:strVal val="ppt_y+0.018"/>
                                          </p:val>
                                        </p:tav>
                                        <p:tav tm="100000">
                                          <p:val>
                                            <p:strVal val="ppt_y"/>
                                          </p:val>
                                        </p:tav>
                                      </p:tavLst>
                                    </p:anim>
                                  </p:childTnLst>
                                </p:cTn>
                              </p:par>
                              <p:par>
                                <p:cTn id="129" presetID="10" presetClass="entr" presetSubtype="0" fill="hold" grpId="0" nodeType="withEffect">
                                  <p:stCondLst>
                                    <p:cond delay="180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420"/>
                                        <p:tgtEl>
                                          <p:spTgt spid="33"/>
                                        </p:tgtEl>
                                      </p:cBhvr>
                                    </p:animEffect>
                                    <p:anim calcmode="lin" valueType="num">
                                      <p:cBhvr additive="base">
                                        <p:cTn id="132" dur="420" fill="hold"/>
                                        <p:tgtEl>
                                          <p:spTgt spid="33"/>
                                        </p:tgtEl>
                                        <p:attrNameLst>
                                          <p:attrName>ppt_y</p:attrName>
                                        </p:attrNameLst>
                                      </p:cBhvr>
                                      <p:tavLst>
                                        <p:tav tm="0">
                                          <p:val>
                                            <p:strVal val="ppt_y+0.018"/>
                                          </p:val>
                                        </p:tav>
                                        <p:tav tm="100000">
                                          <p:val>
                                            <p:strVal val="ppt_y"/>
                                          </p:val>
                                        </p:tav>
                                      </p:tavLst>
                                    </p:anim>
                                  </p:childTnLst>
                                </p:cTn>
                              </p:par>
                              <p:par>
                                <p:cTn id="133" presetID="10" presetClass="entr" presetSubtype="0" fill="hold" grpId="0" nodeType="withEffect">
                                  <p:stCondLst>
                                    <p:cond delay="1800"/>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420"/>
                                        <p:tgtEl>
                                          <p:spTgt spid="34"/>
                                        </p:tgtEl>
                                      </p:cBhvr>
                                    </p:animEffect>
                                    <p:anim calcmode="lin" valueType="num">
                                      <p:cBhvr additive="base">
                                        <p:cTn id="136" dur="420" fill="hold"/>
                                        <p:tgtEl>
                                          <p:spTgt spid="34"/>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16  /  OUTPUT</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The running program</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Captured from the build in this repository, not mocked up.</a:t>
            </a:r>
            <a:endParaRPr lang="en-US" sz="1300" dirty="0"/>
          </a:p>
        </p:txBody>
      </p:sp>
      <p:pic>
        <p:nvPicPr>
          <p:cNvPr id="5" name="Image 0" descr="C:/Users/aniketh/AppData/Local/Temp/claude/C--Users-aniketh-Projects/c1252df5-518a-4ed2-aa88-eb82b56e2d29/scratchpad/assets/shot_list.png">    </p:cNvPr>
          <p:cNvPicPr>
            <a:picLocks noChangeAspect="1"/>
          </p:cNvPicPr>
          <p:nvPr/>
        </p:nvPicPr>
        <p:blipFill>
          <a:blip r:embed="rId2"/>
          <a:stretch>
            <a:fillRect/>
          </a:stretch>
        </p:blipFill>
        <p:spPr>
          <a:xfrm>
            <a:off x="658368" y="2011680"/>
            <a:ext cx="5687568" cy="3566160"/>
          </a:xfrm>
          <a:prstGeom prst="rect">
            <a:avLst/>
          </a:prstGeom>
        </p:spPr>
      </p:pic>
      <p:pic>
        <p:nvPicPr>
          <p:cNvPr id="6" name="Image 1" descr="C:/Users/aniketh/AppData/Local/Temp/claude/C--Users-aniketh-Projects/c1252df5-518a-4ed2-aa88-eb82b56e2d29/scratchpad/assets/shot_tree.png">    </p:cNvPr>
          <p:cNvPicPr>
            <a:picLocks noChangeAspect="1"/>
          </p:cNvPicPr>
          <p:nvPr/>
        </p:nvPicPr>
        <p:blipFill>
          <a:blip r:embed="rId3"/>
          <a:stretch>
            <a:fillRect/>
          </a:stretch>
        </p:blipFill>
        <p:spPr>
          <a:xfrm>
            <a:off x="6528816" y="2011680"/>
            <a:ext cx="5010912" cy="3136392"/>
          </a:xfrm>
          <a:prstGeom prst="rect">
            <a:avLst/>
          </a:prstGeom>
        </p:spPr>
      </p:pic>
      <p:sp>
        <p:nvSpPr>
          <p:cNvPr id="7" name="Text 3"/>
          <p:cNvSpPr txBox="1"/>
          <p:nvPr/>
        </p:nvSpPr>
        <p:spPr>
          <a:xfrm>
            <a:off x="658368" y="5669280"/>
            <a:ext cx="566928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PROCESS LIST</a:t>
            </a:r>
            <a:endParaRPr lang="en-US" sz="1000" dirty="0"/>
          </a:p>
        </p:txBody>
      </p:sp>
      <p:sp>
        <p:nvSpPr>
          <p:cNvPr id="8" name="Text 4"/>
          <p:cNvSpPr txBox="1"/>
          <p:nvPr/>
        </p:nvSpPr>
        <p:spPr>
          <a:xfrm>
            <a:off x="658368" y="5925312"/>
            <a:ext cx="5577840" cy="457200"/>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Sorted by CPU%, ties broken by PID so idle rows hold position. The highlighted row follows its process, not its row number.</a:t>
            </a:r>
            <a:endParaRPr lang="en-US" sz="1080" dirty="0"/>
          </a:p>
        </p:txBody>
      </p:sp>
      <p:sp>
        <p:nvSpPr>
          <p:cNvPr id="9" name="Text 5"/>
          <p:cNvSpPr txBox="1"/>
          <p:nvPr/>
        </p:nvSpPr>
        <p:spPr>
          <a:xfrm>
            <a:off x="6528816" y="5266944"/>
            <a:ext cx="493776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PROCESS TREE</a:t>
            </a:r>
            <a:endParaRPr lang="en-US" sz="1000" dirty="0"/>
          </a:p>
        </p:txBody>
      </p:sp>
      <p:sp>
        <p:nvSpPr>
          <p:cNvPr id="10" name="Text 6"/>
          <p:cNvSpPr txBox="1"/>
          <p:nvPr/>
        </p:nvSpPr>
        <p:spPr>
          <a:xfrm>
            <a:off x="6528816" y="5522976"/>
            <a:ext cx="4974336" cy="457200"/>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Rebuilt each refresh from every process's PPID. The corner glyph marks the final child of a parent, so subtrees are separable by eye.</a:t>
            </a:r>
            <a:endParaRPr lang="en-US" sz="1080" dirty="0"/>
          </a:p>
        </p:txBody>
      </p:sp>
      <p:sp>
        <p:nvSpPr>
          <p:cNvPr id="11" name="Text 7"/>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17 / 23</a:t>
            </a:r>
            <a:endParaRPr lang="en-US" sz="1050" dirty="0"/>
          </a:p>
        </p:txBody>
      </p:sp>
      <p:sp>
        <p:nvSpPr>
          <p:cNvPr id="12" name="Text 8"/>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OUTPUT</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17  /  RESULTS</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Measured, not estimated</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Taken from the running binary under four busy-loop processes.</a:t>
            </a:r>
            <a:endParaRPr lang="en-US" sz="1300" dirty="0"/>
          </a:p>
        </p:txBody>
      </p:sp>
      <p:sp>
        <p:nvSpPr>
          <p:cNvPr id="5" name="Shape 3"/>
          <p:cNvSpPr/>
          <p:nvPr/>
        </p:nvSpPr>
        <p:spPr>
          <a:xfrm>
            <a:off x="658368" y="2084832"/>
            <a:ext cx="1675333" cy="1700784"/>
          </a:xfrm>
          <a:prstGeom prst="rect">
            <a:avLst/>
          </a:prstGeom>
          <a:solidFill>
            <a:srgbClr val="FCFBF8"/>
          </a:solidFill>
          <a:ln w="12700">
            <a:solidFill>
              <a:srgbClr val="B9C6D4"/>
            </a:solidFill>
            <a:prstDash val="solid"/>
          </a:ln>
        </p:spPr>
      </p:sp>
      <p:sp>
        <p:nvSpPr>
          <p:cNvPr id="6" name="Text 4"/>
          <p:cNvSpPr txBox="1"/>
          <p:nvPr/>
        </p:nvSpPr>
        <p:spPr>
          <a:xfrm>
            <a:off x="658368" y="2286000"/>
            <a:ext cx="1675333" cy="640080"/>
          </a:xfrm>
          <a:prstGeom prst="rect">
            <a:avLst/>
          </a:prstGeom>
          <a:noFill/>
          <a:ln/>
        </p:spPr>
        <p:txBody>
          <a:bodyPr wrap="square" lIns="0" tIns="0" rIns="0" bIns="0" rtlCol="0" anchor="ctr"/>
          <a:lstStyle/>
          <a:p>
            <a:pPr algn="ctr" indent="0" marL="0">
              <a:buNone/>
            </a:pPr>
            <a:r>
              <a:rPr lang="en-US" sz="3400" b="1" dirty="0">
                <a:solidFill>
                  <a:srgbClr val="17324D"/>
                </a:solidFill>
                <a:latin typeface="Cambria" pitchFamily="34" charset="0"/>
                <a:ea typeface="Cambria" pitchFamily="34" charset="-122"/>
                <a:cs typeface="Cambria" pitchFamily="34" charset="-120"/>
              </a:rPr>
              <a:t>0.30</a:t>
            </a:r>
            <a:endParaRPr lang="en-US" sz="3400" dirty="0"/>
          </a:p>
        </p:txBody>
      </p:sp>
      <p:sp>
        <p:nvSpPr>
          <p:cNvPr id="7" name="Text 5"/>
          <p:cNvSpPr txBox="1"/>
          <p:nvPr/>
        </p:nvSpPr>
        <p:spPr>
          <a:xfrm>
            <a:off x="658368" y="2907792"/>
            <a:ext cx="1675333" cy="219456"/>
          </a:xfrm>
          <a:prstGeom prst="rect">
            <a:avLst/>
          </a:prstGeom>
          <a:noFill/>
          <a:ln/>
        </p:spPr>
        <p:txBody>
          <a:bodyPr wrap="square" lIns="0" tIns="0" rIns="0" bIns="0" rtlCol="0" anchor="ctr"/>
          <a:lstStyle/>
          <a:p>
            <a:pPr algn="ctr" indent="0" marL="0">
              <a:buNone/>
            </a:pPr>
            <a:r>
              <a:rPr lang="en-US" sz="1000" spc="160" kern="0" dirty="0">
                <a:solidFill>
                  <a:srgbClr val="D64525"/>
                </a:solidFill>
                <a:latin typeface="Courier New" pitchFamily="34" charset="0"/>
                <a:ea typeface="Courier New" pitchFamily="34" charset="-122"/>
                <a:cs typeface="Courier New" pitchFamily="34" charset="-120"/>
              </a:rPr>
              <a:t>PERCENT</a:t>
            </a:r>
            <a:endParaRPr lang="en-US" sz="1000" dirty="0"/>
          </a:p>
        </p:txBody>
      </p:sp>
      <p:sp>
        <p:nvSpPr>
          <p:cNvPr id="8" name="Text 6"/>
          <p:cNvSpPr txBox="1"/>
          <p:nvPr/>
        </p:nvSpPr>
        <p:spPr>
          <a:xfrm>
            <a:off x="768096" y="3145536"/>
            <a:ext cx="1455877" cy="457200"/>
          </a:xfrm>
          <a:prstGeom prst="rect">
            <a:avLst/>
          </a:prstGeom>
          <a:noFill/>
          <a:ln/>
        </p:spPr>
        <p:txBody>
          <a:bodyPr wrap="square" lIns="0" tIns="0" rIns="0" bIns="0" rtlCol="0" anchor="ctr"/>
          <a:lstStyle/>
          <a:p>
            <a:pPr algn="ctr" indent="0" marL="0">
              <a:lnSpc>
                <a:spcPts val="1300"/>
              </a:lnSpc>
              <a:buNone/>
            </a:pPr>
            <a:r>
              <a:rPr lang="en-US" sz="1050" dirty="0">
                <a:solidFill>
                  <a:srgbClr val="7A8FA3"/>
                </a:solidFill>
                <a:latin typeface="Arial" pitchFamily="34" charset="0"/>
                <a:ea typeface="Arial" pitchFamily="34" charset="-122"/>
                <a:cs typeface="Arial" pitchFamily="34" charset="-120"/>
              </a:rPr>
              <a:t>Own CPU use, sampled over 10 s</a:t>
            </a:r>
            <a:endParaRPr lang="en-US" sz="1050" dirty="0"/>
          </a:p>
        </p:txBody>
      </p:sp>
      <p:sp>
        <p:nvSpPr>
          <p:cNvPr id="9" name="Shape 7"/>
          <p:cNvSpPr/>
          <p:nvPr/>
        </p:nvSpPr>
        <p:spPr>
          <a:xfrm>
            <a:off x="2498293" y="2084832"/>
            <a:ext cx="1675333" cy="1700784"/>
          </a:xfrm>
          <a:prstGeom prst="rect">
            <a:avLst/>
          </a:prstGeom>
          <a:solidFill>
            <a:srgbClr val="FCFBF8"/>
          </a:solidFill>
          <a:ln w="12700">
            <a:solidFill>
              <a:srgbClr val="B9C6D4"/>
            </a:solidFill>
            <a:prstDash val="solid"/>
          </a:ln>
        </p:spPr>
      </p:sp>
      <p:sp>
        <p:nvSpPr>
          <p:cNvPr id="10" name="Text 8"/>
          <p:cNvSpPr txBox="1"/>
          <p:nvPr/>
        </p:nvSpPr>
        <p:spPr>
          <a:xfrm>
            <a:off x="2498293" y="2286000"/>
            <a:ext cx="1675333" cy="640080"/>
          </a:xfrm>
          <a:prstGeom prst="rect">
            <a:avLst/>
          </a:prstGeom>
          <a:noFill/>
          <a:ln/>
        </p:spPr>
        <p:txBody>
          <a:bodyPr wrap="square" lIns="0" tIns="0" rIns="0" bIns="0" rtlCol="0" anchor="ctr"/>
          <a:lstStyle/>
          <a:p>
            <a:pPr algn="ctr" indent="0" marL="0">
              <a:buNone/>
            </a:pPr>
            <a:r>
              <a:rPr lang="en-US" sz="3400" b="1" dirty="0">
                <a:solidFill>
                  <a:srgbClr val="17324D"/>
                </a:solidFill>
                <a:latin typeface="Cambria" pitchFamily="34" charset="0"/>
                <a:ea typeface="Cambria" pitchFamily="34" charset="-122"/>
                <a:cs typeface="Cambria" pitchFamily="34" charset="-120"/>
              </a:rPr>
              <a:t>3.6</a:t>
            </a:r>
            <a:endParaRPr lang="en-US" sz="3400" dirty="0"/>
          </a:p>
        </p:txBody>
      </p:sp>
      <p:sp>
        <p:nvSpPr>
          <p:cNvPr id="11" name="Text 9"/>
          <p:cNvSpPr txBox="1"/>
          <p:nvPr/>
        </p:nvSpPr>
        <p:spPr>
          <a:xfrm>
            <a:off x="2498293" y="2907792"/>
            <a:ext cx="1675333" cy="219456"/>
          </a:xfrm>
          <a:prstGeom prst="rect">
            <a:avLst/>
          </a:prstGeom>
          <a:noFill/>
          <a:ln/>
        </p:spPr>
        <p:txBody>
          <a:bodyPr wrap="square" lIns="0" tIns="0" rIns="0" bIns="0" rtlCol="0" anchor="ctr"/>
          <a:lstStyle/>
          <a:p>
            <a:pPr algn="ctr" indent="0" marL="0">
              <a:buNone/>
            </a:pPr>
            <a:r>
              <a:rPr lang="en-US" sz="1000" spc="160" kern="0" dirty="0">
                <a:solidFill>
                  <a:srgbClr val="D64525"/>
                </a:solidFill>
                <a:latin typeface="Courier New" pitchFamily="34" charset="0"/>
                <a:ea typeface="Courier New" pitchFamily="34" charset="-122"/>
                <a:cs typeface="Courier New" pitchFamily="34" charset="-120"/>
              </a:rPr>
              <a:t>MEGABYTES</a:t>
            </a:r>
            <a:endParaRPr lang="en-US" sz="1000" dirty="0"/>
          </a:p>
        </p:txBody>
      </p:sp>
      <p:sp>
        <p:nvSpPr>
          <p:cNvPr id="12" name="Text 10"/>
          <p:cNvSpPr txBox="1"/>
          <p:nvPr/>
        </p:nvSpPr>
        <p:spPr>
          <a:xfrm>
            <a:off x="2608021" y="3145536"/>
            <a:ext cx="1455877" cy="457200"/>
          </a:xfrm>
          <a:prstGeom prst="rect">
            <a:avLst/>
          </a:prstGeom>
          <a:noFill/>
          <a:ln/>
        </p:spPr>
        <p:txBody>
          <a:bodyPr wrap="square" lIns="0" tIns="0" rIns="0" bIns="0" rtlCol="0" anchor="ctr"/>
          <a:lstStyle/>
          <a:p>
            <a:pPr algn="ctr" indent="0" marL="0">
              <a:lnSpc>
                <a:spcPts val="1300"/>
              </a:lnSpc>
              <a:buNone/>
            </a:pPr>
            <a:r>
              <a:rPr lang="en-US" sz="1050" dirty="0">
                <a:solidFill>
                  <a:srgbClr val="7A8FA3"/>
                </a:solidFill>
                <a:latin typeface="Arial" pitchFamily="34" charset="0"/>
                <a:ea typeface="Arial" pitchFamily="34" charset="-122"/>
                <a:cs typeface="Arial" pitchFamily="34" charset="-120"/>
              </a:rPr>
              <a:t>Resident memory, 77.5 MB virtual</a:t>
            </a:r>
            <a:endParaRPr lang="en-US" sz="1050" dirty="0"/>
          </a:p>
        </p:txBody>
      </p:sp>
      <p:sp>
        <p:nvSpPr>
          <p:cNvPr id="13" name="Shape 11"/>
          <p:cNvSpPr/>
          <p:nvPr/>
        </p:nvSpPr>
        <p:spPr>
          <a:xfrm>
            <a:off x="4338218" y="2084832"/>
            <a:ext cx="1675333" cy="1700784"/>
          </a:xfrm>
          <a:prstGeom prst="rect">
            <a:avLst/>
          </a:prstGeom>
          <a:solidFill>
            <a:srgbClr val="FCFBF8"/>
          </a:solidFill>
          <a:ln w="12700">
            <a:solidFill>
              <a:srgbClr val="B9C6D4"/>
            </a:solidFill>
            <a:prstDash val="solid"/>
          </a:ln>
        </p:spPr>
      </p:sp>
      <p:sp>
        <p:nvSpPr>
          <p:cNvPr id="14" name="Text 12"/>
          <p:cNvSpPr txBox="1"/>
          <p:nvPr/>
        </p:nvSpPr>
        <p:spPr>
          <a:xfrm>
            <a:off x="4338218" y="2286000"/>
            <a:ext cx="1675333" cy="640080"/>
          </a:xfrm>
          <a:prstGeom prst="rect">
            <a:avLst/>
          </a:prstGeom>
          <a:noFill/>
          <a:ln/>
        </p:spPr>
        <p:txBody>
          <a:bodyPr wrap="square" lIns="0" tIns="0" rIns="0" bIns="0" rtlCol="0" anchor="ctr"/>
          <a:lstStyle/>
          <a:p>
            <a:pPr algn="ctr" indent="0" marL="0">
              <a:buNone/>
            </a:pPr>
            <a:r>
              <a:rPr lang="en-US" sz="3400" b="1" dirty="0">
                <a:solidFill>
                  <a:srgbClr val="17324D"/>
                </a:solidFill>
                <a:latin typeface="Cambria" pitchFamily="34" charset="0"/>
                <a:ea typeface="Cambria" pitchFamily="34" charset="-122"/>
                <a:cs typeface="Cambria" pitchFamily="34" charset="-120"/>
              </a:rPr>
              <a:t>2.82</a:t>
            </a:r>
            <a:endParaRPr lang="en-US" sz="3400" dirty="0"/>
          </a:p>
        </p:txBody>
      </p:sp>
      <p:sp>
        <p:nvSpPr>
          <p:cNvPr id="15" name="Text 13"/>
          <p:cNvSpPr txBox="1"/>
          <p:nvPr/>
        </p:nvSpPr>
        <p:spPr>
          <a:xfrm>
            <a:off x="4338218" y="2907792"/>
            <a:ext cx="1675333" cy="219456"/>
          </a:xfrm>
          <a:prstGeom prst="rect">
            <a:avLst/>
          </a:prstGeom>
          <a:noFill/>
          <a:ln/>
        </p:spPr>
        <p:txBody>
          <a:bodyPr wrap="square" lIns="0" tIns="0" rIns="0" bIns="0" rtlCol="0" anchor="ctr"/>
          <a:lstStyle/>
          <a:p>
            <a:pPr algn="ctr" indent="0" marL="0">
              <a:buNone/>
            </a:pPr>
            <a:r>
              <a:rPr lang="en-US" sz="1000" spc="160" kern="0" dirty="0">
                <a:solidFill>
                  <a:srgbClr val="D64525"/>
                </a:solidFill>
                <a:latin typeface="Courier New" pitchFamily="34" charset="0"/>
                <a:ea typeface="Courier New" pitchFamily="34" charset="-122"/>
                <a:cs typeface="Courier New" pitchFamily="34" charset="-120"/>
              </a:rPr>
              <a:t>MILLISECONDS</a:t>
            </a:r>
            <a:endParaRPr lang="en-US" sz="1000" dirty="0"/>
          </a:p>
        </p:txBody>
      </p:sp>
      <p:sp>
        <p:nvSpPr>
          <p:cNvPr id="16" name="Text 14"/>
          <p:cNvSpPr txBox="1"/>
          <p:nvPr/>
        </p:nvSpPr>
        <p:spPr>
          <a:xfrm>
            <a:off x="4447946" y="3145536"/>
            <a:ext cx="1455877" cy="457200"/>
          </a:xfrm>
          <a:prstGeom prst="rect">
            <a:avLst/>
          </a:prstGeom>
          <a:noFill/>
          <a:ln/>
        </p:spPr>
        <p:txBody>
          <a:bodyPr wrap="square" lIns="0" tIns="0" rIns="0" bIns="0" rtlCol="0" anchor="ctr"/>
          <a:lstStyle/>
          <a:p>
            <a:pPr algn="ctr" indent="0" marL="0">
              <a:lnSpc>
                <a:spcPts val="1300"/>
              </a:lnSpc>
              <a:buNone/>
            </a:pPr>
            <a:r>
              <a:rPr lang="en-US" sz="1050" dirty="0">
                <a:solidFill>
                  <a:srgbClr val="7A8FA3"/>
                </a:solidFill>
                <a:latin typeface="Arial" pitchFamily="34" charset="0"/>
                <a:ea typeface="Arial" pitchFamily="34" charset="-122"/>
                <a:cs typeface="Arial" pitchFamily="34" charset="-120"/>
              </a:rPr>
              <a:t>Mean /proc scan, 37 processes</a:t>
            </a:r>
            <a:endParaRPr lang="en-US" sz="1050" dirty="0"/>
          </a:p>
        </p:txBody>
      </p:sp>
      <p:sp>
        <p:nvSpPr>
          <p:cNvPr id="17" name="Shape 15"/>
          <p:cNvSpPr/>
          <p:nvPr/>
        </p:nvSpPr>
        <p:spPr>
          <a:xfrm>
            <a:off x="6178144" y="2084832"/>
            <a:ext cx="1675333" cy="1700784"/>
          </a:xfrm>
          <a:prstGeom prst="rect">
            <a:avLst/>
          </a:prstGeom>
          <a:solidFill>
            <a:srgbClr val="FCFBF8"/>
          </a:solidFill>
          <a:ln w="12700">
            <a:solidFill>
              <a:srgbClr val="B9C6D4"/>
            </a:solidFill>
            <a:prstDash val="solid"/>
          </a:ln>
        </p:spPr>
      </p:sp>
      <p:sp>
        <p:nvSpPr>
          <p:cNvPr id="18" name="Text 16"/>
          <p:cNvSpPr txBox="1"/>
          <p:nvPr/>
        </p:nvSpPr>
        <p:spPr>
          <a:xfrm>
            <a:off x="6178144" y="2286000"/>
            <a:ext cx="1675333" cy="640080"/>
          </a:xfrm>
          <a:prstGeom prst="rect">
            <a:avLst/>
          </a:prstGeom>
          <a:noFill/>
          <a:ln/>
        </p:spPr>
        <p:txBody>
          <a:bodyPr wrap="square" lIns="0" tIns="0" rIns="0" bIns="0" rtlCol="0" anchor="ctr"/>
          <a:lstStyle/>
          <a:p>
            <a:pPr algn="ctr" indent="0" marL="0">
              <a:buNone/>
            </a:pPr>
            <a:r>
              <a:rPr lang="en-US" sz="3400" b="1" dirty="0">
                <a:solidFill>
                  <a:srgbClr val="17324D"/>
                </a:solidFill>
                <a:latin typeface="Cambria" pitchFamily="34" charset="0"/>
                <a:ea typeface="Cambria" pitchFamily="34" charset="-122"/>
                <a:cs typeface="Cambria" pitchFamily="34" charset="-120"/>
              </a:rPr>
              <a:t>3.9</a:t>
            </a:r>
            <a:endParaRPr lang="en-US" sz="3400" dirty="0"/>
          </a:p>
        </p:txBody>
      </p:sp>
      <p:sp>
        <p:nvSpPr>
          <p:cNvPr id="19" name="Text 17"/>
          <p:cNvSpPr txBox="1"/>
          <p:nvPr/>
        </p:nvSpPr>
        <p:spPr>
          <a:xfrm>
            <a:off x="6178144" y="2907792"/>
            <a:ext cx="1675333" cy="219456"/>
          </a:xfrm>
          <a:prstGeom prst="rect">
            <a:avLst/>
          </a:prstGeom>
          <a:noFill/>
          <a:ln/>
        </p:spPr>
        <p:txBody>
          <a:bodyPr wrap="square" lIns="0" tIns="0" rIns="0" bIns="0" rtlCol="0" anchor="ctr"/>
          <a:lstStyle/>
          <a:p>
            <a:pPr algn="ctr" indent="0" marL="0">
              <a:buNone/>
            </a:pPr>
            <a:r>
              <a:rPr lang="en-US" sz="1000" spc="160" kern="0" dirty="0">
                <a:solidFill>
                  <a:srgbClr val="D64525"/>
                </a:solidFill>
                <a:latin typeface="Courier New" pitchFamily="34" charset="0"/>
                <a:ea typeface="Courier New" pitchFamily="34" charset="-122"/>
                <a:cs typeface="Courier New" pitchFamily="34" charset="-120"/>
              </a:rPr>
              <a:t>MILLISECONDS</a:t>
            </a:r>
            <a:endParaRPr lang="en-US" sz="1000" dirty="0"/>
          </a:p>
        </p:txBody>
      </p:sp>
      <p:sp>
        <p:nvSpPr>
          <p:cNvPr id="20" name="Text 18"/>
          <p:cNvSpPr txBox="1"/>
          <p:nvPr/>
        </p:nvSpPr>
        <p:spPr>
          <a:xfrm>
            <a:off x="6287872" y="3145536"/>
            <a:ext cx="1455877" cy="457200"/>
          </a:xfrm>
          <a:prstGeom prst="rect">
            <a:avLst/>
          </a:prstGeom>
          <a:noFill/>
          <a:ln/>
        </p:spPr>
        <p:txBody>
          <a:bodyPr wrap="square" lIns="0" tIns="0" rIns="0" bIns="0" rtlCol="0" anchor="ctr"/>
          <a:lstStyle/>
          <a:p>
            <a:pPr algn="ctr" indent="0" marL="0">
              <a:lnSpc>
                <a:spcPts val="1300"/>
              </a:lnSpc>
              <a:buNone/>
            </a:pPr>
            <a:r>
              <a:rPr lang="en-US" sz="1050" dirty="0">
                <a:solidFill>
                  <a:srgbClr val="7A8FA3"/>
                </a:solidFill>
                <a:latin typeface="Arial" pitchFamily="34" charset="0"/>
                <a:ea typeface="Arial" pitchFamily="34" charset="-122"/>
                <a:cs typeface="Arial" pitchFamily="34" charset="-120"/>
              </a:rPr>
              <a:t>Worst scan in 20 runs</a:t>
            </a:r>
            <a:endParaRPr lang="en-US" sz="1050" dirty="0"/>
          </a:p>
        </p:txBody>
      </p:sp>
      <p:sp>
        <p:nvSpPr>
          <p:cNvPr id="21" name="Shape 19"/>
          <p:cNvSpPr/>
          <p:nvPr/>
        </p:nvSpPr>
        <p:spPr>
          <a:xfrm>
            <a:off x="8018069" y="2084832"/>
            <a:ext cx="1675333" cy="1700784"/>
          </a:xfrm>
          <a:prstGeom prst="rect">
            <a:avLst/>
          </a:prstGeom>
          <a:solidFill>
            <a:srgbClr val="FCFBF8"/>
          </a:solidFill>
          <a:ln w="12700">
            <a:solidFill>
              <a:srgbClr val="B9C6D4"/>
            </a:solidFill>
            <a:prstDash val="solid"/>
          </a:ln>
        </p:spPr>
      </p:sp>
      <p:sp>
        <p:nvSpPr>
          <p:cNvPr id="22" name="Text 20"/>
          <p:cNvSpPr txBox="1"/>
          <p:nvPr/>
        </p:nvSpPr>
        <p:spPr>
          <a:xfrm>
            <a:off x="8018069" y="2286000"/>
            <a:ext cx="1675333" cy="640080"/>
          </a:xfrm>
          <a:prstGeom prst="rect">
            <a:avLst/>
          </a:prstGeom>
          <a:noFill/>
          <a:ln/>
        </p:spPr>
        <p:txBody>
          <a:bodyPr wrap="square" lIns="0" tIns="0" rIns="0" bIns="0" rtlCol="0" anchor="ctr"/>
          <a:lstStyle/>
          <a:p>
            <a:pPr algn="ctr" indent="0" marL="0">
              <a:buNone/>
            </a:pPr>
            <a:r>
              <a:rPr lang="en-US" sz="3400" b="1" dirty="0">
                <a:solidFill>
                  <a:srgbClr val="17324D"/>
                </a:solidFill>
                <a:latin typeface="Cambria" pitchFamily="34" charset="0"/>
                <a:ea typeface="Cambria" pitchFamily="34" charset="-122"/>
                <a:cs typeface="Cambria" pitchFamily="34" charset="-120"/>
              </a:rPr>
              <a:t>2</a:t>
            </a:r>
            <a:endParaRPr lang="en-US" sz="3400" dirty="0"/>
          </a:p>
        </p:txBody>
      </p:sp>
      <p:sp>
        <p:nvSpPr>
          <p:cNvPr id="23" name="Text 21"/>
          <p:cNvSpPr txBox="1"/>
          <p:nvPr/>
        </p:nvSpPr>
        <p:spPr>
          <a:xfrm>
            <a:off x="8018069" y="2907792"/>
            <a:ext cx="1675333" cy="219456"/>
          </a:xfrm>
          <a:prstGeom prst="rect">
            <a:avLst/>
          </a:prstGeom>
          <a:noFill/>
          <a:ln/>
        </p:spPr>
        <p:txBody>
          <a:bodyPr wrap="square" lIns="0" tIns="0" rIns="0" bIns="0" rtlCol="0" anchor="ctr"/>
          <a:lstStyle/>
          <a:p>
            <a:pPr algn="ctr" indent="0" marL="0">
              <a:buNone/>
            </a:pPr>
            <a:r>
              <a:rPr lang="en-US" sz="1000" spc="160" kern="0" dirty="0">
                <a:solidFill>
                  <a:srgbClr val="D64525"/>
                </a:solidFill>
                <a:latin typeface="Courier New" pitchFamily="34" charset="0"/>
                <a:ea typeface="Courier New" pitchFamily="34" charset="-122"/>
                <a:cs typeface="Courier New" pitchFamily="34" charset="-120"/>
              </a:rPr>
              <a:t>THREADS</a:t>
            </a:r>
            <a:endParaRPr lang="en-US" sz="1000" dirty="0"/>
          </a:p>
        </p:txBody>
      </p:sp>
      <p:sp>
        <p:nvSpPr>
          <p:cNvPr id="24" name="Text 22"/>
          <p:cNvSpPr txBox="1"/>
          <p:nvPr/>
        </p:nvSpPr>
        <p:spPr>
          <a:xfrm>
            <a:off x="8127797" y="3145536"/>
            <a:ext cx="1455877" cy="457200"/>
          </a:xfrm>
          <a:prstGeom prst="rect">
            <a:avLst/>
          </a:prstGeom>
          <a:noFill/>
          <a:ln/>
        </p:spPr>
        <p:txBody>
          <a:bodyPr wrap="square" lIns="0" tIns="0" rIns="0" bIns="0" rtlCol="0" anchor="ctr"/>
          <a:lstStyle/>
          <a:p>
            <a:pPr algn="ctr" indent="0" marL="0">
              <a:lnSpc>
                <a:spcPts val="1300"/>
              </a:lnSpc>
              <a:buNone/>
            </a:pPr>
            <a:r>
              <a:rPr lang="en-US" sz="1050" dirty="0">
                <a:solidFill>
                  <a:srgbClr val="7A8FA3"/>
                </a:solidFill>
                <a:latin typeface="Arial" pitchFamily="34" charset="0"/>
                <a:ea typeface="Arial" pitchFamily="34" charset="-122"/>
                <a:cs typeface="Arial" pitchFamily="34" charset="-120"/>
              </a:rPr>
              <a:t>Main plus collector, 3 descriptors</a:t>
            </a:r>
            <a:endParaRPr lang="en-US" sz="1050" dirty="0"/>
          </a:p>
        </p:txBody>
      </p:sp>
      <p:sp>
        <p:nvSpPr>
          <p:cNvPr id="25" name="Shape 23"/>
          <p:cNvSpPr/>
          <p:nvPr/>
        </p:nvSpPr>
        <p:spPr>
          <a:xfrm>
            <a:off x="9857994" y="2084832"/>
            <a:ext cx="1675333" cy="1700784"/>
          </a:xfrm>
          <a:prstGeom prst="rect">
            <a:avLst/>
          </a:prstGeom>
          <a:solidFill>
            <a:srgbClr val="FCFBF8"/>
          </a:solidFill>
          <a:ln w="12700">
            <a:solidFill>
              <a:srgbClr val="B9C6D4"/>
            </a:solidFill>
            <a:prstDash val="solid"/>
          </a:ln>
        </p:spPr>
      </p:sp>
      <p:sp>
        <p:nvSpPr>
          <p:cNvPr id="26" name="Text 24"/>
          <p:cNvSpPr txBox="1"/>
          <p:nvPr/>
        </p:nvSpPr>
        <p:spPr>
          <a:xfrm>
            <a:off x="9857994" y="2286000"/>
            <a:ext cx="1675333" cy="640080"/>
          </a:xfrm>
          <a:prstGeom prst="rect">
            <a:avLst/>
          </a:prstGeom>
          <a:noFill/>
          <a:ln/>
        </p:spPr>
        <p:txBody>
          <a:bodyPr wrap="square" lIns="0" tIns="0" rIns="0" bIns="0" rtlCol="0" anchor="ctr"/>
          <a:lstStyle/>
          <a:p>
            <a:pPr algn="ctr" indent="0" marL="0">
              <a:buNone/>
            </a:pPr>
            <a:r>
              <a:rPr lang="en-US" sz="3400" b="1" dirty="0">
                <a:solidFill>
                  <a:srgbClr val="17324D"/>
                </a:solidFill>
                <a:latin typeface="Cambria" pitchFamily="34" charset="0"/>
                <a:ea typeface="Cambria" pitchFamily="34" charset="-122"/>
                <a:cs typeface="Cambria" pitchFamily="34" charset="-120"/>
              </a:rPr>
              <a:t>60</a:t>
            </a:r>
            <a:endParaRPr lang="en-US" sz="3400" dirty="0"/>
          </a:p>
        </p:txBody>
      </p:sp>
      <p:sp>
        <p:nvSpPr>
          <p:cNvPr id="27" name="Text 25"/>
          <p:cNvSpPr txBox="1"/>
          <p:nvPr/>
        </p:nvSpPr>
        <p:spPr>
          <a:xfrm>
            <a:off x="9857994" y="2907792"/>
            <a:ext cx="1675333" cy="219456"/>
          </a:xfrm>
          <a:prstGeom prst="rect">
            <a:avLst/>
          </a:prstGeom>
          <a:noFill/>
          <a:ln/>
        </p:spPr>
        <p:txBody>
          <a:bodyPr wrap="square" lIns="0" tIns="0" rIns="0" bIns="0" rtlCol="0" anchor="ctr"/>
          <a:lstStyle/>
          <a:p>
            <a:pPr algn="ctr" indent="0" marL="0">
              <a:buNone/>
            </a:pPr>
            <a:r>
              <a:rPr lang="en-US" sz="1000" spc="160" kern="0" dirty="0">
                <a:solidFill>
                  <a:srgbClr val="D64525"/>
                </a:solidFill>
                <a:latin typeface="Courier New" pitchFamily="34" charset="0"/>
                <a:ea typeface="Courier New" pitchFamily="34" charset="-122"/>
                <a:cs typeface="Courier New" pitchFamily="34" charset="-120"/>
              </a:rPr>
              <a:t>KILOBYTES</a:t>
            </a:r>
            <a:endParaRPr lang="en-US" sz="1000" dirty="0"/>
          </a:p>
        </p:txBody>
      </p:sp>
      <p:sp>
        <p:nvSpPr>
          <p:cNvPr id="28" name="Text 26"/>
          <p:cNvSpPr txBox="1"/>
          <p:nvPr/>
        </p:nvSpPr>
        <p:spPr>
          <a:xfrm>
            <a:off x="9967722" y="3145536"/>
            <a:ext cx="1455877" cy="457200"/>
          </a:xfrm>
          <a:prstGeom prst="rect">
            <a:avLst/>
          </a:prstGeom>
          <a:noFill/>
          <a:ln/>
        </p:spPr>
        <p:txBody>
          <a:bodyPr wrap="square" lIns="0" tIns="0" rIns="0" bIns="0" rtlCol="0" anchor="ctr"/>
          <a:lstStyle/>
          <a:p>
            <a:pPr algn="ctr" indent="0" marL="0">
              <a:lnSpc>
                <a:spcPts val="1300"/>
              </a:lnSpc>
              <a:buNone/>
            </a:pPr>
            <a:r>
              <a:rPr lang="en-US" sz="1050" dirty="0">
                <a:solidFill>
                  <a:srgbClr val="7A8FA3"/>
                </a:solidFill>
                <a:latin typeface="Arial" pitchFamily="34" charset="0"/>
                <a:ea typeface="Arial" pitchFamily="34" charset="-122"/>
                <a:cs typeface="Arial" pitchFamily="34" charset="-120"/>
              </a:rPr>
              <a:t>Binary on disk</a:t>
            </a:r>
            <a:endParaRPr lang="en-US" sz="1050" dirty="0"/>
          </a:p>
        </p:txBody>
      </p:sp>
      <p:sp>
        <p:nvSpPr>
          <p:cNvPr id="29" name="Shape 27"/>
          <p:cNvSpPr/>
          <p:nvPr/>
        </p:nvSpPr>
        <p:spPr>
          <a:xfrm>
            <a:off x="658368" y="4023360"/>
            <a:ext cx="5541264" cy="1572768"/>
          </a:xfrm>
          <a:prstGeom prst="rect">
            <a:avLst/>
          </a:prstGeom>
          <a:solidFill>
            <a:srgbClr val="FCFBF8"/>
          </a:solidFill>
          <a:ln w="12700">
            <a:solidFill>
              <a:srgbClr val="B9C6D4"/>
            </a:solidFill>
            <a:prstDash val="solid"/>
          </a:ln>
        </p:spPr>
      </p:sp>
      <p:sp>
        <p:nvSpPr>
          <p:cNvPr id="30" name="Text 28"/>
          <p:cNvSpPr txBox="1"/>
          <p:nvPr/>
        </p:nvSpPr>
        <p:spPr>
          <a:xfrm>
            <a:off x="896112" y="4206240"/>
            <a:ext cx="502920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DERIVED, NOT MEASURED</a:t>
            </a:r>
            <a:endParaRPr lang="en-US" sz="1000" dirty="0"/>
          </a:p>
        </p:txBody>
      </p:sp>
      <p:sp>
        <p:nvSpPr>
          <p:cNvPr id="31" name="Text 29"/>
          <p:cNvSpPr txBox="1"/>
          <p:nvPr/>
        </p:nvSpPr>
        <p:spPr>
          <a:xfrm>
            <a:off x="896112" y="4480560"/>
            <a:ext cx="5065776" cy="1005840"/>
          </a:xfrm>
          <a:prstGeom prst="rect">
            <a:avLst/>
          </a:prstGeom>
          <a:noFill/>
          <a:ln/>
        </p:spPr>
        <p:txBody>
          <a:bodyPr wrap="square" lIns="0" tIns="0" rIns="0" bIns="0" rtlCol="0" anchor="t"/>
          <a:lstStyle/>
          <a:p>
            <a:pPr algn="l" indent="0" marL="0">
              <a:lnSpc>
                <a:spcPts val="1500"/>
              </a:lnSpc>
              <a:buNone/>
            </a:pPr>
            <a:r>
              <a:rPr lang="en-US" sz="1100" dirty="0">
                <a:solidFill>
                  <a:srgbClr val="3D5A75"/>
                </a:solidFill>
                <a:latin typeface="Arial" pitchFamily="34" charset="0"/>
                <a:ea typeface="Arial" pitchFamily="34" charset="-122"/>
                <a:cs typeface="Arial" pitchFamily="34" charset="-120"/>
              </a:rPr>
              <a:t>The scan divides to 0.076 ms per process, so a 200-process desktop extrapolates to roughly 15 ms and a 500-process server to roughly 38 ms. Both figures are arithmetic, not observations: this test environment runs 37 to 49 processes, so a larger machine has not been measured.</a:t>
            </a:r>
            <a:endParaRPr lang="en-US" sz="1100" dirty="0"/>
          </a:p>
        </p:txBody>
      </p:sp>
      <p:sp>
        <p:nvSpPr>
          <p:cNvPr id="32" name="Shape 30"/>
          <p:cNvSpPr/>
          <p:nvPr/>
        </p:nvSpPr>
        <p:spPr>
          <a:xfrm>
            <a:off x="6419088" y="4023360"/>
            <a:ext cx="5114239" cy="1572768"/>
          </a:xfrm>
          <a:prstGeom prst="rect">
            <a:avLst/>
          </a:prstGeom>
          <a:solidFill>
            <a:srgbClr val="FCFBF8"/>
          </a:solidFill>
          <a:ln w="12700">
            <a:solidFill>
              <a:srgbClr val="B9C6D4"/>
            </a:solidFill>
            <a:prstDash val="solid"/>
          </a:ln>
        </p:spPr>
      </p:sp>
      <p:sp>
        <p:nvSpPr>
          <p:cNvPr id="33" name="Text 31"/>
          <p:cNvSpPr txBox="1"/>
          <p:nvPr/>
        </p:nvSpPr>
        <p:spPr>
          <a:xfrm>
            <a:off x="6656832" y="4206240"/>
            <a:ext cx="475488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CONFIRMED BEHAVIOUR</a:t>
            </a:r>
            <a:endParaRPr lang="en-US" sz="1000" dirty="0"/>
          </a:p>
        </p:txBody>
      </p:sp>
      <p:sp>
        <p:nvSpPr>
          <p:cNvPr id="34" name="Text 32"/>
          <p:cNvSpPr txBox="1"/>
          <p:nvPr/>
        </p:nvSpPr>
        <p:spPr>
          <a:xfrm>
            <a:off x="6656832" y="4498848"/>
            <a:ext cx="466344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Event log retains the last 100 entries</a:t>
            </a:r>
            <a:endParaRPr lang="en-US" sz="1100" dirty="0"/>
          </a:p>
        </p:txBody>
      </p:sp>
      <p:sp>
        <p:nvSpPr>
          <p:cNvPr id="35" name="Text 33"/>
          <p:cNvSpPr txBox="1"/>
          <p:nvPr/>
        </p:nvSpPr>
        <p:spPr>
          <a:xfrm>
            <a:off x="6656832" y="4773168"/>
            <a:ext cx="466344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Refresh interval adjustable 500 ms to 10 s</a:t>
            </a:r>
            <a:endParaRPr lang="en-US" sz="1100" dirty="0"/>
          </a:p>
        </p:txBody>
      </p:sp>
      <p:sp>
        <p:nvSpPr>
          <p:cNvPr id="36" name="Text 34"/>
          <p:cNvSpPr txBox="1"/>
          <p:nvPr/>
        </p:nvSpPr>
        <p:spPr>
          <a:xfrm>
            <a:off x="6656832" y="5047488"/>
            <a:ext cx="466344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A single-threaded busy loop reads exactly 100.0%</a:t>
            </a:r>
            <a:endParaRPr lang="en-US" sz="1100" dirty="0"/>
          </a:p>
        </p:txBody>
      </p:sp>
      <p:sp>
        <p:nvSpPr>
          <p:cNvPr id="37" name="Text 35"/>
          <p:cNvSpPr txBox="1"/>
          <p:nvPr/>
        </p:nvSpPr>
        <p:spPr>
          <a:xfrm>
            <a:off x="6656832" y="5321808"/>
            <a:ext cx="4663440" cy="256032"/>
          </a:xfrm>
          <a:prstGeom prst="rect">
            <a:avLst/>
          </a:prstGeom>
          <a:noFill/>
          <a:ln/>
        </p:spPr>
        <p:txBody>
          <a:bodyPr wrap="square" lIns="0" tIns="0" rIns="0" bIns="0" rtlCol="0" anchor="t"/>
          <a:lstStyle/>
          <a:p>
            <a:pPr algn="l" indent="0" marL="0">
              <a:lnSpc>
                <a:spcPts val="1900"/>
              </a:lnSpc>
              <a:buNone/>
            </a:pPr>
            <a:r>
              <a:rPr lang="en-US" sz="1100" dirty="0">
                <a:solidFill>
                  <a:srgbClr val="3D5A75"/>
                </a:solidFill>
                <a:latin typeface="Arial" pitchFamily="34" charset="0"/>
                <a:ea typeface="Arial" pitchFamily="34" charset="-122"/>
                <a:cs typeface="Arial" pitchFamily="34" charset="-120"/>
              </a:rPr>
              <a:t>That reading is unchanged at 2 s, 3 s and 4 s intervals</a:t>
            </a:r>
            <a:endParaRPr lang="en-US" sz="1100" dirty="0"/>
          </a:p>
        </p:txBody>
      </p:sp>
      <p:sp>
        <p:nvSpPr>
          <p:cNvPr id="38" name="Text 36"/>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18 / 23</a:t>
            </a:r>
            <a:endParaRPr lang="en-US" sz="1050" dirty="0"/>
          </a:p>
        </p:txBody>
      </p:sp>
      <p:sp>
        <p:nvSpPr>
          <p:cNvPr id="39" name="Text 37"/>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RESULTS</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par>
                                <p:cTn id="109" presetID="10" presetClass="entr" presetSubtype="0" fill="hold" grpId="0" nodeType="withEffect">
                                  <p:stCondLst>
                                    <p:cond delay="18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20"/>
                                        <p:tgtEl>
                                          <p:spTgt spid="28"/>
                                        </p:tgtEl>
                                      </p:cBhvr>
                                    </p:animEffect>
                                    <p:anim calcmode="lin" valueType="num">
                                      <p:cBhvr additive="base">
                                        <p:cTn id="112" dur="420" fill="hold"/>
                                        <p:tgtEl>
                                          <p:spTgt spid="28"/>
                                        </p:tgtEl>
                                        <p:attrNameLst>
                                          <p:attrName>ppt_y</p:attrName>
                                        </p:attrNameLst>
                                      </p:cBhvr>
                                      <p:tavLst>
                                        <p:tav tm="0">
                                          <p:val>
                                            <p:strVal val="ppt_y+0.018"/>
                                          </p:val>
                                        </p:tav>
                                        <p:tav tm="100000">
                                          <p:val>
                                            <p:strVal val="ppt_y"/>
                                          </p:val>
                                        </p:tav>
                                      </p:tavLst>
                                    </p:anim>
                                  </p:childTnLst>
                                </p:cTn>
                              </p:par>
                              <p:par>
                                <p:cTn id="113" presetID="10" presetClass="entr" presetSubtype="0" fill="hold" grpId="0" nodeType="withEffect">
                                  <p:stCondLst>
                                    <p:cond delay="18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420"/>
                                        <p:tgtEl>
                                          <p:spTgt spid="29"/>
                                        </p:tgtEl>
                                      </p:cBhvr>
                                    </p:animEffect>
                                    <p:anim calcmode="lin" valueType="num">
                                      <p:cBhvr additive="base">
                                        <p:cTn id="116" dur="420" fill="hold"/>
                                        <p:tgtEl>
                                          <p:spTgt spid="29"/>
                                        </p:tgtEl>
                                        <p:attrNameLst>
                                          <p:attrName>ppt_y</p:attrName>
                                        </p:attrNameLst>
                                      </p:cBhvr>
                                      <p:tavLst>
                                        <p:tav tm="0">
                                          <p:val>
                                            <p:strVal val="ppt_y+0.018"/>
                                          </p:val>
                                        </p:tav>
                                        <p:tav tm="100000">
                                          <p:val>
                                            <p:strVal val="ppt_y"/>
                                          </p:val>
                                        </p:tav>
                                      </p:tavLst>
                                    </p:anim>
                                  </p:childTnLst>
                                </p:cTn>
                              </p:par>
                              <p:par>
                                <p:cTn id="117" presetID="10" presetClass="entr" presetSubtype="0" fill="hold" grpId="0" nodeType="withEffect">
                                  <p:stCondLst>
                                    <p:cond delay="18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420"/>
                                        <p:tgtEl>
                                          <p:spTgt spid="30"/>
                                        </p:tgtEl>
                                      </p:cBhvr>
                                    </p:animEffect>
                                    <p:anim calcmode="lin" valueType="num">
                                      <p:cBhvr additive="base">
                                        <p:cTn id="120" dur="420" fill="hold"/>
                                        <p:tgtEl>
                                          <p:spTgt spid="30"/>
                                        </p:tgtEl>
                                        <p:attrNameLst>
                                          <p:attrName>ppt_y</p:attrName>
                                        </p:attrNameLst>
                                      </p:cBhvr>
                                      <p:tavLst>
                                        <p:tav tm="0">
                                          <p:val>
                                            <p:strVal val="ppt_y+0.018"/>
                                          </p:val>
                                        </p:tav>
                                        <p:tav tm="100000">
                                          <p:val>
                                            <p:strVal val="ppt_y"/>
                                          </p:val>
                                        </p:tav>
                                      </p:tavLst>
                                    </p:anim>
                                  </p:childTnLst>
                                </p:cTn>
                              </p:par>
                              <p:par>
                                <p:cTn id="121" presetID="10" presetClass="entr" presetSubtype="0" fill="hold" grpId="0" nodeType="withEffect">
                                  <p:stCondLst>
                                    <p:cond delay="180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420"/>
                                        <p:tgtEl>
                                          <p:spTgt spid="31"/>
                                        </p:tgtEl>
                                      </p:cBhvr>
                                    </p:animEffect>
                                    <p:anim calcmode="lin" valueType="num">
                                      <p:cBhvr additive="base">
                                        <p:cTn id="124" dur="420" fill="hold"/>
                                        <p:tgtEl>
                                          <p:spTgt spid="31"/>
                                        </p:tgtEl>
                                        <p:attrNameLst>
                                          <p:attrName>ppt_y</p:attrName>
                                        </p:attrNameLst>
                                      </p:cBhvr>
                                      <p:tavLst>
                                        <p:tav tm="0">
                                          <p:val>
                                            <p:strVal val="ppt_y+0.018"/>
                                          </p:val>
                                        </p:tav>
                                        <p:tav tm="100000">
                                          <p:val>
                                            <p:strVal val="ppt_y"/>
                                          </p:val>
                                        </p:tav>
                                      </p:tavLst>
                                    </p:anim>
                                  </p:childTnLst>
                                </p:cTn>
                              </p:par>
                              <p:par>
                                <p:cTn id="125" presetID="10" presetClass="entr" presetSubtype="0" fill="hold" grpId="0" nodeType="withEffect">
                                  <p:stCondLst>
                                    <p:cond delay="18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20"/>
                                        <p:tgtEl>
                                          <p:spTgt spid="32"/>
                                        </p:tgtEl>
                                      </p:cBhvr>
                                    </p:animEffect>
                                    <p:anim calcmode="lin" valueType="num">
                                      <p:cBhvr additive="base">
                                        <p:cTn id="128" dur="420" fill="hold"/>
                                        <p:tgtEl>
                                          <p:spTgt spid="32"/>
                                        </p:tgtEl>
                                        <p:attrNameLst>
                                          <p:attrName>ppt_y</p:attrName>
                                        </p:attrNameLst>
                                      </p:cBhvr>
                                      <p:tavLst>
                                        <p:tav tm="0">
                                          <p:val>
                                            <p:strVal val="ppt_y+0.018"/>
                                          </p:val>
                                        </p:tav>
                                        <p:tav tm="100000">
                                          <p:val>
                                            <p:strVal val="ppt_y"/>
                                          </p:val>
                                        </p:tav>
                                      </p:tavLst>
                                    </p:anim>
                                  </p:childTnLst>
                                </p:cTn>
                              </p:par>
                              <p:par>
                                <p:cTn id="129" presetID="10" presetClass="entr" presetSubtype="0" fill="hold" grpId="0" nodeType="withEffect">
                                  <p:stCondLst>
                                    <p:cond delay="180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420"/>
                                        <p:tgtEl>
                                          <p:spTgt spid="33"/>
                                        </p:tgtEl>
                                      </p:cBhvr>
                                    </p:animEffect>
                                    <p:anim calcmode="lin" valueType="num">
                                      <p:cBhvr additive="base">
                                        <p:cTn id="132" dur="420" fill="hold"/>
                                        <p:tgtEl>
                                          <p:spTgt spid="33"/>
                                        </p:tgtEl>
                                        <p:attrNameLst>
                                          <p:attrName>ppt_y</p:attrName>
                                        </p:attrNameLst>
                                      </p:cBhvr>
                                      <p:tavLst>
                                        <p:tav tm="0">
                                          <p:val>
                                            <p:strVal val="ppt_y+0.018"/>
                                          </p:val>
                                        </p:tav>
                                        <p:tav tm="100000">
                                          <p:val>
                                            <p:strVal val="ppt_y"/>
                                          </p:val>
                                        </p:tav>
                                      </p:tavLst>
                                    </p:anim>
                                  </p:childTnLst>
                                </p:cTn>
                              </p:par>
                              <p:par>
                                <p:cTn id="133" presetID="10" presetClass="entr" presetSubtype="0" fill="hold" grpId="0" nodeType="withEffect">
                                  <p:stCondLst>
                                    <p:cond delay="1800"/>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420"/>
                                        <p:tgtEl>
                                          <p:spTgt spid="34"/>
                                        </p:tgtEl>
                                      </p:cBhvr>
                                    </p:animEffect>
                                    <p:anim calcmode="lin" valueType="num">
                                      <p:cBhvr additive="base">
                                        <p:cTn id="136" dur="420" fill="hold"/>
                                        <p:tgtEl>
                                          <p:spTgt spid="34"/>
                                        </p:tgtEl>
                                        <p:attrNameLst>
                                          <p:attrName>ppt_y</p:attrName>
                                        </p:attrNameLst>
                                      </p:cBhvr>
                                      <p:tavLst>
                                        <p:tav tm="0">
                                          <p:val>
                                            <p:strVal val="ppt_y+0.018"/>
                                          </p:val>
                                        </p:tav>
                                        <p:tav tm="100000">
                                          <p:val>
                                            <p:strVal val="ppt_y"/>
                                          </p:val>
                                        </p:tav>
                                      </p:tavLst>
                                    </p:anim>
                                  </p:childTnLst>
                                </p:cTn>
                              </p:par>
                              <p:par>
                                <p:cTn id="137" presetID="10" presetClass="entr" presetSubtype="0" fill="hold" grpId="0" nodeType="withEffect">
                                  <p:stCondLst>
                                    <p:cond delay="180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9" dur="420"/>
                                        <p:tgtEl>
                                          <p:spTgt spid="35"/>
                                        </p:tgtEl>
                                      </p:cBhvr>
                                    </p:animEffect>
                                    <p:anim calcmode="lin" valueType="num">
                                      <p:cBhvr additive="base">
                                        <p:cTn id="140" dur="420" fill="hold"/>
                                        <p:tgtEl>
                                          <p:spTgt spid="35"/>
                                        </p:tgtEl>
                                        <p:attrNameLst>
                                          <p:attrName>ppt_y</p:attrName>
                                        </p:attrNameLst>
                                      </p:cBhvr>
                                      <p:tavLst>
                                        <p:tav tm="0">
                                          <p:val>
                                            <p:strVal val="ppt_y+0.018"/>
                                          </p:val>
                                        </p:tav>
                                        <p:tav tm="100000">
                                          <p:val>
                                            <p:strVal val="ppt_y"/>
                                          </p:val>
                                        </p:tav>
                                      </p:tavLst>
                                    </p:anim>
                                  </p:childTnLst>
                                </p:cTn>
                              </p:par>
                              <p:par>
                                <p:cTn id="141" presetID="10" presetClass="entr" presetSubtype="0" fill="hold" grpId="0" nodeType="withEffect">
                                  <p:stCondLst>
                                    <p:cond delay="1800"/>
                                  </p:stCondLst>
                                  <p:childTnLst>
                                    <p:set>
                                      <p:cBhvr>
                                        <p:cTn id="142" dur="1" fill="hold">
                                          <p:stCondLst>
                                            <p:cond delay="0"/>
                                          </p:stCondLst>
                                        </p:cTn>
                                        <p:tgtEl>
                                          <p:spTgt spid="36"/>
                                        </p:tgtEl>
                                        <p:attrNameLst>
                                          <p:attrName>style.visibility</p:attrName>
                                        </p:attrNameLst>
                                      </p:cBhvr>
                                      <p:to>
                                        <p:strVal val="visible"/>
                                      </p:to>
                                    </p:set>
                                    <p:animEffect transition="in" filter="fade">
                                      <p:cBhvr>
                                        <p:cTn id="143" dur="420"/>
                                        <p:tgtEl>
                                          <p:spTgt spid="36"/>
                                        </p:tgtEl>
                                      </p:cBhvr>
                                    </p:animEffect>
                                    <p:anim calcmode="lin" valueType="num">
                                      <p:cBhvr additive="base">
                                        <p:cTn id="144" dur="420" fill="hold"/>
                                        <p:tgtEl>
                                          <p:spTgt spid="36"/>
                                        </p:tgtEl>
                                        <p:attrNameLst>
                                          <p:attrName>ppt_y</p:attrName>
                                        </p:attrNameLst>
                                      </p:cBhvr>
                                      <p:tavLst>
                                        <p:tav tm="0">
                                          <p:val>
                                            <p:strVal val="ppt_y+0.018"/>
                                          </p:val>
                                        </p:tav>
                                        <p:tav tm="100000">
                                          <p:val>
                                            <p:strVal val="ppt_y"/>
                                          </p:val>
                                        </p:tav>
                                      </p:tavLst>
                                    </p:anim>
                                  </p:childTnLst>
                                </p:cTn>
                              </p:par>
                              <p:par>
                                <p:cTn id="145" presetID="10" presetClass="entr" presetSubtype="0" fill="hold" grpId="0" nodeType="withEffect">
                                  <p:stCondLst>
                                    <p:cond delay="180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420"/>
                                        <p:tgtEl>
                                          <p:spTgt spid="37"/>
                                        </p:tgtEl>
                                      </p:cBhvr>
                                    </p:animEffect>
                                    <p:anim calcmode="lin" valueType="num">
                                      <p:cBhvr additive="base">
                                        <p:cTn id="148" dur="420" fill="hold"/>
                                        <p:tgtEl>
                                          <p:spTgt spid="37"/>
                                        </p:tgtEl>
                                        <p:attrNameLst>
                                          <p:attrName>ppt_y</p:attrName>
                                        </p:attrNameLst>
                                      </p:cBhvr>
                                      <p:tavLst>
                                        <p:tav tm="0">
                                          <p:val>
                                            <p:strVal val="ppt_y+0.018"/>
                                          </p:val>
                                        </p:tav>
                                        <p:tav tm="100000">
                                          <p:val>
                                            <p:strVal val="ppt_y"/>
                                          </p:val>
                                        </p:tav>
                                      </p:tavLst>
                                    </p:anim>
                                  </p:childTnLst>
                                </p:cTn>
                              </p:par>
                              <p:par>
                                <p:cTn id="149" presetID="10" presetClass="entr" presetSubtype="0" fill="hold" grpId="0" nodeType="withEffect">
                                  <p:stCondLst>
                                    <p:cond delay="180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420"/>
                                        <p:tgtEl>
                                          <p:spTgt spid="38"/>
                                        </p:tgtEl>
                                      </p:cBhvr>
                                    </p:animEffect>
                                    <p:anim calcmode="lin" valueType="num">
                                      <p:cBhvr additive="base">
                                        <p:cTn id="152" dur="420" fill="hold"/>
                                        <p:tgtEl>
                                          <p:spTgt spid="38"/>
                                        </p:tgtEl>
                                        <p:attrNameLst>
                                          <p:attrName>ppt_y</p:attrName>
                                        </p:attrNameLst>
                                      </p:cBhvr>
                                      <p:tavLst>
                                        <p:tav tm="0">
                                          <p:val>
                                            <p:strVal val="ppt_y+0.018"/>
                                          </p:val>
                                        </p:tav>
                                        <p:tav tm="100000">
                                          <p:val>
                                            <p:strVal val="ppt_y"/>
                                          </p:val>
                                        </p:tav>
                                      </p:tavLst>
                                    </p:anim>
                                  </p:childTnLst>
                                </p:cTn>
                              </p:par>
                              <p:par>
                                <p:cTn id="153" presetID="10" presetClass="entr" presetSubtype="0" fill="hold" grpId="0" nodeType="withEffect">
                                  <p:stCondLst>
                                    <p:cond delay="1800"/>
                                  </p:stCondLst>
                                  <p:childTnLst>
                                    <p:set>
                                      <p:cBhvr>
                                        <p:cTn id="154" dur="1" fill="hold">
                                          <p:stCondLst>
                                            <p:cond delay="0"/>
                                          </p:stCondLst>
                                        </p:cTn>
                                        <p:tgtEl>
                                          <p:spTgt spid="39"/>
                                        </p:tgtEl>
                                        <p:attrNameLst>
                                          <p:attrName>style.visibility</p:attrName>
                                        </p:attrNameLst>
                                      </p:cBhvr>
                                      <p:to>
                                        <p:strVal val="visible"/>
                                      </p:to>
                                    </p:set>
                                    <p:animEffect transition="in" filter="fade">
                                      <p:cBhvr>
                                        <p:cTn id="155" dur="420"/>
                                        <p:tgtEl>
                                          <p:spTgt spid="39"/>
                                        </p:tgtEl>
                                      </p:cBhvr>
                                    </p:animEffect>
                                    <p:anim calcmode="lin" valueType="num">
                                      <p:cBhvr additive="base">
                                        <p:cTn id="156" dur="420" fill="hold"/>
                                        <p:tgtEl>
                                          <p:spTgt spid="39"/>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18  /  ENGINEERING NOTE</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Two defects worth reporting</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Found by measuring the program rather than by reading it.</a:t>
            </a:r>
            <a:endParaRPr lang="en-US" sz="1300" dirty="0"/>
          </a:p>
        </p:txBody>
      </p:sp>
      <p:sp>
        <p:nvSpPr>
          <p:cNvPr id="5" name="Shape 3"/>
          <p:cNvSpPr/>
          <p:nvPr/>
        </p:nvSpPr>
        <p:spPr>
          <a:xfrm>
            <a:off x="658368" y="2048256"/>
            <a:ext cx="5431536" cy="1773936"/>
          </a:xfrm>
          <a:prstGeom prst="rect">
            <a:avLst/>
          </a:prstGeom>
          <a:solidFill>
            <a:srgbClr val="FCFBF8"/>
          </a:solidFill>
          <a:ln w="12700">
            <a:solidFill>
              <a:srgbClr val="B9C6D4"/>
            </a:solidFill>
            <a:prstDash val="solid"/>
          </a:ln>
        </p:spPr>
      </p:sp>
      <p:sp>
        <p:nvSpPr>
          <p:cNvPr id="6" name="Text 4"/>
          <p:cNvSpPr txBox="1"/>
          <p:nvPr/>
        </p:nvSpPr>
        <p:spPr>
          <a:xfrm>
            <a:off x="896112" y="2231136"/>
            <a:ext cx="4937760" cy="292608"/>
          </a:xfrm>
          <a:prstGeom prst="rect">
            <a:avLst/>
          </a:prstGeom>
          <a:noFill/>
          <a:ln/>
        </p:spPr>
        <p:txBody>
          <a:bodyPr wrap="square" lIns="0" tIns="0" rIns="0" bIns="0" rtlCol="0" anchor="ctr"/>
          <a:lstStyle/>
          <a:p>
            <a:pPr indent="0" marL="0">
              <a:buNone/>
            </a:pPr>
            <a:r>
              <a:rPr lang="en-US" sz="1500" b="1" dirty="0">
                <a:solidFill>
                  <a:srgbClr val="17324D"/>
                </a:solidFill>
                <a:latin typeface="Cambria" pitchFamily="34" charset="0"/>
                <a:ea typeface="Cambria" pitchFamily="34" charset="-122"/>
                <a:cs typeface="Cambria" pitchFamily="34" charset="-120"/>
              </a:rPr>
              <a:t>The display was unreadable</a:t>
            </a:r>
            <a:endParaRPr lang="en-US" sz="1500" dirty="0"/>
          </a:p>
        </p:txBody>
      </p:sp>
      <p:sp>
        <p:nvSpPr>
          <p:cNvPr id="7" name="Text 5"/>
          <p:cNvSpPr txBox="1"/>
          <p:nvPr/>
        </p:nvSpPr>
        <p:spPr>
          <a:xfrm>
            <a:off x="896112" y="2560320"/>
            <a:ext cx="4956048" cy="1152144"/>
          </a:xfrm>
          <a:prstGeom prst="rect">
            <a:avLst/>
          </a:prstGeom>
          <a:noFill/>
          <a:ln/>
        </p:spPr>
        <p:txBody>
          <a:bodyPr wrap="square" lIns="0" tIns="0" rIns="0" bIns="0" rtlCol="0" anchor="t"/>
          <a:lstStyle/>
          <a:p>
            <a:pPr algn="l" indent="0" marL="0">
              <a:lnSpc>
                <a:spcPts val="1500"/>
              </a:lnSpc>
              <a:buNone/>
            </a:pPr>
            <a:r>
              <a:rPr lang="en-US" sz="1120" dirty="0">
                <a:solidFill>
                  <a:srgbClr val="3D5A75"/>
                </a:solidFill>
                <a:latin typeface="Arial" pitchFamily="34" charset="0"/>
                <a:ea typeface="Arial" pitchFamily="34" charset="-122"/>
                <a:cs typeface="Arial" pitchFamily="34" charset="-120"/>
              </a:rPr>
              <a:t>ncurses keeps a virtual screen and a record of the physical one, and writes only the differing cells. The code called clear() every frame, which sets clearok and discards that diff, then refreshed stdscr after its four subwindows, painting blank over the content just drawn. Blank, content, blank, ten times a second.</a:t>
            </a:r>
            <a:endParaRPr lang="en-US" sz="1120" dirty="0"/>
          </a:p>
        </p:txBody>
      </p:sp>
      <p:sp>
        <p:nvSpPr>
          <p:cNvPr id="8" name="Shape 6"/>
          <p:cNvSpPr/>
          <p:nvPr/>
        </p:nvSpPr>
        <p:spPr>
          <a:xfrm>
            <a:off x="6419088" y="2048256"/>
            <a:ext cx="5114239" cy="1773936"/>
          </a:xfrm>
          <a:prstGeom prst="rect">
            <a:avLst/>
          </a:prstGeom>
          <a:solidFill>
            <a:srgbClr val="FCFBF8"/>
          </a:solidFill>
          <a:ln w="12700">
            <a:solidFill>
              <a:srgbClr val="B9C6D4"/>
            </a:solidFill>
            <a:prstDash val="solid"/>
          </a:ln>
        </p:spPr>
      </p:sp>
      <p:sp>
        <p:nvSpPr>
          <p:cNvPr id="9" name="Text 7"/>
          <p:cNvSpPr txBox="1"/>
          <p:nvPr/>
        </p:nvSpPr>
        <p:spPr>
          <a:xfrm>
            <a:off x="6656832" y="2231136"/>
            <a:ext cx="4754880" cy="292608"/>
          </a:xfrm>
          <a:prstGeom prst="rect">
            <a:avLst/>
          </a:prstGeom>
          <a:noFill/>
          <a:ln/>
        </p:spPr>
        <p:txBody>
          <a:bodyPr wrap="square" lIns="0" tIns="0" rIns="0" bIns="0" rtlCol="0" anchor="ctr"/>
          <a:lstStyle/>
          <a:p>
            <a:pPr indent="0" marL="0">
              <a:buNone/>
            </a:pPr>
            <a:r>
              <a:rPr lang="en-US" sz="1500" b="1" dirty="0">
                <a:solidFill>
                  <a:srgbClr val="17324D"/>
                </a:solidFill>
                <a:latin typeface="Cambria" pitchFamily="34" charset="0"/>
                <a:ea typeface="Cambria" pitchFamily="34" charset="-122"/>
                <a:cs typeface="Cambria" pitchFamily="34" charset="-120"/>
              </a:rPr>
              <a:t>Every CPU% was doubled</a:t>
            </a:r>
            <a:endParaRPr lang="en-US" sz="1500" dirty="0"/>
          </a:p>
        </p:txBody>
      </p:sp>
      <p:sp>
        <p:nvSpPr>
          <p:cNvPr id="10" name="Text 8"/>
          <p:cNvSpPr txBox="1"/>
          <p:nvPr/>
        </p:nvSpPr>
        <p:spPr>
          <a:xfrm>
            <a:off x="6656832" y="2560320"/>
            <a:ext cx="4718304" cy="1152144"/>
          </a:xfrm>
          <a:prstGeom prst="rect">
            <a:avLst/>
          </a:prstGeom>
          <a:noFill/>
          <a:ln/>
        </p:spPr>
        <p:txBody>
          <a:bodyPr wrap="square" lIns="0" tIns="0" rIns="0" bIns="0" rtlCol="0" anchor="t"/>
          <a:lstStyle/>
          <a:p>
            <a:pPr algn="l" indent="0" marL="0">
              <a:lnSpc>
                <a:spcPts val="1500"/>
              </a:lnSpc>
              <a:buNone/>
            </a:pPr>
            <a:r>
              <a:rPr lang="en-US" sz="1120" dirty="0">
                <a:solidFill>
                  <a:srgbClr val="3D5A75"/>
                </a:solidFill>
                <a:latin typeface="Arial" pitchFamily="34" charset="0"/>
                <a:ea typeface="Arial" pitchFamily="34" charset="-122"/>
                <a:cs typeface="Arial" pitchFamily="34" charset="-120"/>
              </a:rPr>
              <a:t>CPU percentage is a rate, but the divisor was the literal constant 1.0 second with a comment conceding it should track real time. Once the interval became adjustable, a single-threaded busy loop reported 206%, and at a 10 s interval it would have read ten times over. It now measures the actual gap between samples.</a:t>
            </a:r>
            <a:endParaRPr lang="en-US" sz="1120" dirty="0"/>
          </a:p>
        </p:txBody>
      </p:sp>
      <p:sp>
        <p:nvSpPr>
          <p:cNvPr id="11" name="Shape 9"/>
          <p:cNvSpPr/>
          <p:nvPr/>
        </p:nvSpPr>
        <p:spPr>
          <a:xfrm>
            <a:off x="658368" y="4023360"/>
            <a:ext cx="10874959" cy="1572768"/>
          </a:xfrm>
          <a:prstGeom prst="rect">
            <a:avLst/>
          </a:prstGeom>
          <a:solidFill>
            <a:srgbClr val="FCFBF8"/>
          </a:solidFill>
          <a:ln w="12700">
            <a:solidFill>
              <a:srgbClr val="B9C6D4"/>
            </a:solidFill>
            <a:prstDash val="solid"/>
          </a:ln>
        </p:spPr>
      </p:sp>
      <p:sp>
        <p:nvSpPr>
          <p:cNvPr id="12" name="Text 10"/>
          <p:cNvSpPr txBox="1"/>
          <p:nvPr/>
        </p:nvSpPr>
        <p:spPr>
          <a:xfrm>
            <a:off x="896112" y="4206240"/>
            <a:ext cx="9144000" cy="219456"/>
          </a:xfrm>
          <a:prstGeom prst="rect">
            <a:avLst/>
          </a:prstGeom>
          <a:noFill/>
          <a:ln/>
        </p:spPr>
        <p:txBody>
          <a:bodyPr wrap="square" lIns="0" tIns="0" rIns="0" bIns="0" rtlCol="0" anchor="ctr"/>
          <a:lstStyle/>
          <a:p>
            <a:pPr algn="l" indent="0" marL="0">
              <a:buNone/>
            </a:pPr>
            <a:r>
              <a:rPr lang="en-US" sz="1000" b="1" spc="180" kern="0" dirty="0">
                <a:solidFill>
                  <a:srgbClr val="D64525"/>
                </a:solidFill>
                <a:latin typeface="Courier New" pitchFamily="34" charset="0"/>
                <a:ea typeface="Courier New" pitchFamily="34" charset="-122"/>
                <a:cs typeface="Courier New" pitchFamily="34" charset="-120"/>
              </a:rPr>
              <a:t>HOW THE SORT FIX WAS PROVEN  ·  TWO FRAMES, THREE SECONDS APART</a:t>
            </a:r>
            <a:endParaRPr lang="en-US" sz="1000" dirty="0"/>
          </a:p>
        </p:txBody>
      </p:sp>
      <p:sp>
        <p:nvSpPr>
          <p:cNvPr id="13" name="Text 11"/>
          <p:cNvSpPr txBox="1"/>
          <p:nvPr/>
        </p:nvSpPr>
        <p:spPr>
          <a:xfrm>
            <a:off x="896112" y="4498848"/>
            <a:ext cx="5852160" cy="1005840"/>
          </a:xfrm>
          <a:prstGeom prst="rect">
            <a:avLst/>
          </a:prstGeom>
          <a:noFill/>
          <a:ln/>
        </p:spPr>
        <p:txBody>
          <a:bodyPr wrap="square" lIns="0" tIns="0" rIns="0" bIns="0" rtlCol="0" anchor="ctr"/>
          <a:lstStyle/>
          <a:p>
            <a:pPr algn="l" indent="0" marL="0">
              <a:lnSpc>
                <a:spcPts val="1450"/>
              </a:lnSpc>
              <a:buNone/>
            </a:pPr>
            <a:r>
              <a:rPr lang="en-US" sz="1050" dirty="0">
                <a:solidFill>
                  <a:srgbClr val="3D5A75"/>
                </a:solidFill>
                <a:latin typeface="Courier New" pitchFamily="34" charset="0"/>
                <a:ea typeface="Courier New" pitchFamily="34" charset="-122"/>
                <a:cs typeface="Courier New" pitchFamily="34" charset="-120"/>
              </a:rPr>
              <a:t>422  bash     100.0%        422  bash     100.0%</a:t>
            </a:r>
            <a:endParaRPr lang="en-US" sz="1050" dirty="0"/>
          </a:p>
          <a:p>
            <a:pPr algn="l" indent="0" marL="0">
              <a:lnSpc>
                <a:spcPts val="1450"/>
              </a:lnSpc>
              <a:buNone/>
            </a:pPr>
            <a:r>
              <a:rPr lang="en-US" sz="1050" dirty="0">
                <a:solidFill>
                  <a:srgbClr val="3D5A75"/>
                </a:solidFill>
                <a:latin typeface="Courier New" pitchFamily="34" charset="0"/>
                <a:ea typeface="Courier New" pitchFamily="34" charset="-122"/>
                <a:cs typeface="Courier New" pitchFamily="34" charset="-120"/>
              </a:rPr>
              <a:t>423  bash     100.0%        423  bash     100.0%</a:t>
            </a:r>
            <a:endParaRPr lang="en-US" sz="1050" dirty="0"/>
          </a:p>
          <a:p>
            <a:pPr algn="l" indent="0" marL="0">
              <a:lnSpc>
                <a:spcPts val="1450"/>
              </a:lnSpc>
              <a:buNone/>
            </a:pPr>
            <a:r>
              <a:rPr lang="en-US" sz="1050" dirty="0">
                <a:solidFill>
                  <a:srgbClr val="3D5A75"/>
                </a:solidFill>
                <a:latin typeface="Courier New" pitchFamily="34" charset="0"/>
                <a:ea typeface="Courier New" pitchFamily="34" charset="-122"/>
                <a:cs typeface="Courier New" pitchFamily="34" charset="-120"/>
              </a:rPr>
              <a:t>1    systemd    0.0%        1    systemd    0.0%</a:t>
            </a:r>
            <a:endParaRPr lang="en-US" sz="1050" dirty="0"/>
          </a:p>
          <a:p>
            <a:pPr algn="l" indent="0" marL="0">
              <a:lnSpc>
                <a:spcPts val="1450"/>
              </a:lnSpc>
              <a:buNone/>
            </a:pPr>
            <a:r>
              <a:rPr lang="en-US" sz="1050" dirty="0">
                <a:solidFill>
                  <a:srgbClr val="3D5A75"/>
                </a:solidFill>
                <a:latin typeface="Courier New" pitchFamily="34" charset="0"/>
                <a:ea typeface="Courier New" pitchFamily="34" charset="-122"/>
                <a:cs typeface="Courier New" pitchFamily="34" charset="-120"/>
              </a:rPr>
              <a:t>2    init       0.0%        2    init       0.0%</a:t>
            </a:r>
            <a:endParaRPr lang="en-US" sz="1050" dirty="0"/>
          </a:p>
          <a:p>
            <a:pPr algn="l" indent="0" marL="0">
              <a:lnSpc>
                <a:spcPts val="1450"/>
              </a:lnSpc>
              <a:buNone/>
            </a:pPr>
            <a:r>
              <a:rPr lang="en-US" sz="1050" dirty="0">
                <a:solidFill>
                  <a:srgbClr val="3D5A75"/>
                </a:solidFill>
                <a:latin typeface="Courier New" pitchFamily="34" charset="0"/>
                <a:ea typeface="Courier New" pitchFamily="34" charset="-122"/>
                <a:cs typeface="Courier New" pitchFamily="34" charset="-120"/>
              </a:rPr>
              <a:t>48   systemd-j  0.0%        48   systemd-j  0.0%</a:t>
            </a:r>
            <a:endParaRPr lang="en-US" sz="1050" dirty="0"/>
          </a:p>
        </p:txBody>
      </p:sp>
      <p:sp>
        <p:nvSpPr>
          <p:cNvPr id="14" name="Text 12"/>
          <p:cNvSpPr txBox="1"/>
          <p:nvPr/>
        </p:nvSpPr>
        <p:spPr>
          <a:xfrm>
            <a:off x="6656832" y="4498848"/>
            <a:ext cx="4718304" cy="1042416"/>
          </a:xfrm>
          <a:prstGeom prst="rect">
            <a:avLst/>
          </a:prstGeom>
          <a:noFill/>
          <a:ln/>
        </p:spPr>
        <p:txBody>
          <a:bodyPr wrap="square" lIns="0" tIns="0" rIns="0" bIns="0" rtlCol="0" anchor="t"/>
          <a:lstStyle/>
          <a:p>
            <a:pPr algn="l" indent="0" marL="0">
              <a:lnSpc>
                <a:spcPts val="1400"/>
              </a:lnSpc>
              <a:buNone/>
            </a:pPr>
            <a:r>
              <a:rPr lang="en-US" sz="1080" dirty="0">
                <a:solidFill>
                  <a:srgbClr val="3D5A75"/>
                </a:solidFill>
                <a:latin typeface="Arial" pitchFamily="34" charset="0"/>
                <a:ea typeface="Arial" pitchFamily="34" charset="-122"/>
                <a:cs typeface="Arial" pitchFamily="34" charset="-120"/>
              </a:rPr>
              <a:t>qsort is not stable, and /proc returns processes in readdir order, so the dozens of rows sitting at 0.0% swapped places on every tick. Breaking ties by PID holds them still, and the two frames above are then identical except for the values that genuinely moved. The same instability moved the highlight onto the wrong process, so K could have signalled something the operator was not pointing at.</a:t>
            </a:r>
            <a:endParaRPr lang="en-US" sz="1080" dirty="0"/>
          </a:p>
        </p:txBody>
      </p:sp>
      <p:sp>
        <p:nvSpPr>
          <p:cNvPr id="15" name="Text 13"/>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19 / 23</a:t>
            </a:r>
            <a:endParaRPr lang="en-US" sz="1050" dirty="0"/>
          </a:p>
        </p:txBody>
      </p:sp>
      <p:sp>
        <p:nvSpPr>
          <p:cNvPr id="16" name="Text 14"/>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ENGINEERING NOTE</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19  /  ADVANTAGES AND APPLICATIONS</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Why this is more than a class exercise</a:t>
            </a:r>
            <a:endParaRPr lang="en-US" sz="3200" dirty="0"/>
          </a:p>
        </p:txBody>
      </p:sp>
      <p:sp>
        <p:nvSpPr>
          <p:cNvPr id="4" name="Shape 2"/>
          <p:cNvSpPr/>
          <p:nvPr/>
        </p:nvSpPr>
        <p:spPr>
          <a:xfrm>
            <a:off x="658368" y="2011680"/>
            <a:ext cx="5309464" cy="3584448"/>
          </a:xfrm>
          <a:prstGeom prst="rect">
            <a:avLst/>
          </a:prstGeom>
          <a:solidFill>
            <a:srgbClr val="FCFBF8"/>
          </a:solidFill>
          <a:ln w="12700">
            <a:solidFill>
              <a:srgbClr val="B9C6D4"/>
            </a:solidFill>
            <a:prstDash val="solid"/>
          </a:ln>
        </p:spPr>
      </p:sp>
      <p:sp>
        <p:nvSpPr>
          <p:cNvPr id="5" name="Text 3"/>
          <p:cNvSpPr txBox="1"/>
          <p:nvPr/>
        </p:nvSpPr>
        <p:spPr>
          <a:xfrm>
            <a:off x="914400" y="2231136"/>
            <a:ext cx="4797400" cy="219456"/>
          </a:xfrm>
          <a:prstGeom prst="rect">
            <a:avLst/>
          </a:prstGeom>
          <a:noFill/>
          <a:ln/>
        </p:spPr>
        <p:txBody>
          <a:bodyPr wrap="square" lIns="0" tIns="0" rIns="0" bIns="0" rtlCol="0" anchor="ctr"/>
          <a:lstStyle/>
          <a:p>
            <a:pPr algn="l" indent="0" marL="0">
              <a:buNone/>
            </a:pPr>
            <a:r>
              <a:rPr lang="en-US" sz="1050" b="1" spc="180" kern="0" dirty="0">
                <a:solidFill>
                  <a:srgbClr val="D64525"/>
                </a:solidFill>
                <a:latin typeface="Courier New" pitchFamily="34" charset="0"/>
                <a:ea typeface="Courier New" pitchFamily="34" charset="-122"/>
                <a:cs typeface="Courier New" pitchFamily="34" charset="-120"/>
              </a:rPr>
              <a:t>ADVANTAGES</a:t>
            </a:r>
            <a:endParaRPr lang="en-US" sz="1050" dirty="0"/>
          </a:p>
        </p:txBody>
      </p:sp>
      <p:sp>
        <p:nvSpPr>
          <p:cNvPr id="6" name="Text 4"/>
          <p:cNvSpPr txBox="1"/>
          <p:nvPr/>
        </p:nvSpPr>
        <p:spPr>
          <a:xfrm>
            <a:off x="914400" y="2615184"/>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01</a:t>
            </a:r>
            <a:endParaRPr lang="en-US" sz="1050" dirty="0"/>
          </a:p>
        </p:txBody>
      </p:sp>
      <p:sp>
        <p:nvSpPr>
          <p:cNvPr id="7" name="Text 5"/>
          <p:cNvSpPr txBox="1"/>
          <p:nvPr/>
        </p:nvSpPr>
        <p:spPr>
          <a:xfrm>
            <a:off x="1408176" y="2596896"/>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Makes scheduling and process behaviour directly observable</a:t>
            </a:r>
            <a:endParaRPr lang="en-US" sz="1150" dirty="0"/>
          </a:p>
        </p:txBody>
      </p:sp>
      <p:sp>
        <p:nvSpPr>
          <p:cNvPr id="8" name="Text 6"/>
          <p:cNvSpPr txBox="1"/>
          <p:nvPr/>
        </p:nvSpPr>
        <p:spPr>
          <a:xfrm>
            <a:off x="914400" y="3200400"/>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02</a:t>
            </a:r>
            <a:endParaRPr lang="en-US" sz="1050" dirty="0"/>
          </a:p>
        </p:txBody>
      </p:sp>
      <p:sp>
        <p:nvSpPr>
          <p:cNvPr id="9" name="Text 7"/>
          <p:cNvSpPr txBox="1"/>
          <p:nvPr/>
        </p:nvSpPr>
        <p:spPr>
          <a:xfrm>
            <a:off x="1408176" y="3182112"/>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Every metric traces to a readable line of code, nothing is opaque</a:t>
            </a:r>
            <a:endParaRPr lang="en-US" sz="1150" dirty="0"/>
          </a:p>
        </p:txBody>
      </p:sp>
      <p:sp>
        <p:nvSpPr>
          <p:cNvPr id="10" name="Text 8"/>
          <p:cNvSpPr txBox="1"/>
          <p:nvPr/>
        </p:nvSpPr>
        <p:spPr>
          <a:xfrm>
            <a:off x="914400" y="3785616"/>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03</a:t>
            </a:r>
            <a:endParaRPr lang="en-US" sz="1050" dirty="0"/>
          </a:p>
        </p:txBody>
      </p:sp>
      <p:sp>
        <p:nvSpPr>
          <p:cNvPr id="11" name="Text 9"/>
          <p:cNvSpPr txBox="1"/>
          <p:nvPr/>
        </p:nvSpPr>
        <p:spPr>
          <a:xfrm>
            <a:off x="1408176" y="3767328"/>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Monitoring and control in one lightweight tool</a:t>
            </a:r>
            <a:endParaRPr lang="en-US" sz="1150" dirty="0"/>
          </a:p>
        </p:txBody>
      </p:sp>
      <p:sp>
        <p:nvSpPr>
          <p:cNvPr id="12" name="Text 10"/>
          <p:cNvSpPr txBox="1"/>
          <p:nvPr/>
        </p:nvSpPr>
        <p:spPr>
          <a:xfrm>
            <a:off x="914400" y="4370832"/>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04</a:t>
            </a:r>
            <a:endParaRPr lang="en-US" sz="1050" dirty="0"/>
          </a:p>
        </p:txBody>
      </p:sp>
      <p:sp>
        <p:nvSpPr>
          <p:cNvPr id="13" name="Text 11"/>
          <p:cNvSpPr txBox="1"/>
          <p:nvPr/>
        </p:nvSpPr>
        <p:spPr>
          <a:xfrm>
            <a:off x="1408176" y="4352544"/>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Measured overhead of 0.30% CPU and 3.6 MB resident</a:t>
            </a:r>
            <a:endParaRPr lang="en-US" sz="1150" dirty="0"/>
          </a:p>
        </p:txBody>
      </p:sp>
      <p:sp>
        <p:nvSpPr>
          <p:cNvPr id="14" name="Text 12"/>
          <p:cNvSpPr txBox="1"/>
          <p:nvPr/>
        </p:nvSpPr>
        <p:spPr>
          <a:xfrm>
            <a:off x="914400" y="4956048"/>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05</a:t>
            </a:r>
            <a:endParaRPr lang="en-US" sz="1050" dirty="0"/>
          </a:p>
        </p:txBody>
      </p:sp>
      <p:sp>
        <p:nvSpPr>
          <p:cNvPr id="15" name="Text 13"/>
          <p:cNvSpPr txBox="1"/>
          <p:nvPr/>
        </p:nvSpPr>
        <p:spPr>
          <a:xfrm>
            <a:off x="1408176" y="4937760"/>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No privileges required: no module, no driver, no root</a:t>
            </a:r>
            <a:endParaRPr lang="en-US" sz="1150" dirty="0"/>
          </a:p>
        </p:txBody>
      </p:sp>
      <p:sp>
        <p:nvSpPr>
          <p:cNvPr id="16" name="Shape 14"/>
          <p:cNvSpPr/>
          <p:nvPr/>
        </p:nvSpPr>
        <p:spPr>
          <a:xfrm>
            <a:off x="6223864" y="2011680"/>
            <a:ext cx="5309464" cy="3584448"/>
          </a:xfrm>
          <a:prstGeom prst="rect">
            <a:avLst/>
          </a:prstGeom>
          <a:solidFill>
            <a:srgbClr val="FCFBF8"/>
          </a:solidFill>
          <a:ln w="12700">
            <a:solidFill>
              <a:srgbClr val="B9C6D4"/>
            </a:solidFill>
            <a:prstDash val="solid"/>
          </a:ln>
        </p:spPr>
      </p:sp>
      <p:sp>
        <p:nvSpPr>
          <p:cNvPr id="17" name="Text 15"/>
          <p:cNvSpPr txBox="1"/>
          <p:nvPr/>
        </p:nvSpPr>
        <p:spPr>
          <a:xfrm>
            <a:off x="6479896" y="2231136"/>
            <a:ext cx="4797400" cy="219456"/>
          </a:xfrm>
          <a:prstGeom prst="rect">
            <a:avLst/>
          </a:prstGeom>
          <a:noFill/>
          <a:ln/>
        </p:spPr>
        <p:txBody>
          <a:bodyPr wrap="square" lIns="0" tIns="0" rIns="0" bIns="0" rtlCol="0" anchor="ctr"/>
          <a:lstStyle/>
          <a:p>
            <a:pPr algn="l" indent="0" marL="0">
              <a:buNone/>
            </a:pPr>
            <a:r>
              <a:rPr lang="en-US" sz="1050" b="1" spc="180" kern="0" dirty="0">
                <a:solidFill>
                  <a:srgbClr val="D64525"/>
                </a:solidFill>
                <a:latin typeface="Courier New" pitchFamily="34" charset="0"/>
                <a:ea typeface="Courier New" pitchFamily="34" charset="-122"/>
                <a:cs typeface="Courier New" pitchFamily="34" charset="-120"/>
              </a:rPr>
              <a:t>APPLICATIONS</a:t>
            </a:r>
            <a:endParaRPr lang="en-US" sz="1050" dirty="0"/>
          </a:p>
        </p:txBody>
      </p:sp>
      <p:sp>
        <p:nvSpPr>
          <p:cNvPr id="18" name="Text 16"/>
          <p:cNvSpPr txBox="1"/>
          <p:nvPr/>
        </p:nvSpPr>
        <p:spPr>
          <a:xfrm>
            <a:off x="6479896" y="2615184"/>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01</a:t>
            </a:r>
            <a:endParaRPr lang="en-US" sz="1050" dirty="0"/>
          </a:p>
        </p:txBody>
      </p:sp>
      <p:sp>
        <p:nvSpPr>
          <p:cNvPr id="19" name="Text 17"/>
          <p:cNvSpPr txBox="1"/>
          <p:nvPr/>
        </p:nvSpPr>
        <p:spPr>
          <a:xfrm>
            <a:off x="6973672" y="2596896"/>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Teaching aid for OS labs, with nine runnable demonstrations</a:t>
            </a:r>
            <a:endParaRPr lang="en-US" sz="1150" dirty="0"/>
          </a:p>
        </p:txBody>
      </p:sp>
      <p:sp>
        <p:nvSpPr>
          <p:cNvPr id="20" name="Text 18"/>
          <p:cNvSpPr txBox="1"/>
          <p:nvPr/>
        </p:nvSpPr>
        <p:spPr>
          <a:xfrm>
            <a:off x="6479896" y="3200400"/>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02</a:t>
            </a:r>
            <a:endParaRPr lang="en-US" sz="1050" dirty="0"/>
          </a:p>
        </p:txBody>
      </p:sp>
      <p:sp>
        <p:nvSpPr>
          <p:cNvPr id="21" name="Text 19"/>
          <p:cNvSpPr txBox="1"/>
          <p:nvPr/>
        </p:nvSpPr>
        <p:spPr>
          <a:xfrm>
            <a:off x="6973672" y="3182112"/>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Live demonstration of zombie and orphan conditions</a:t>
            </a:r>
            <a:endParaRPr lang="en-US" sz="1150" dirty="0"/>
          </a:p>
        </p:txBody>
      </p:sp>
      <p:sp>
        <p:nvSpPr>
          <p:cNvPr id="22" name="Text 20"/>
          <p:cNvSpPr txBox="1"/>
          <p:nvPr/>
        </p:nvSpPr>
        <p:spPr>
          <a:xfrm>
            <a:off x="6479896" y="3785616"/>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03</a:t>
            </a:r>
            <a:endParaRPr lang="en-US" sz="1050" dirty="0"/>
          </a:p>
        </p:txBody>
      </p:sp>
      <p:sp>
        <p:nvSpPr>
          <p:cNvPr id="23" name="Text 21"/>
          <p:cNvSpPr txBox="1"/>
          <p:nvPr/>
        </p:nvSpPr>
        <p:spPr>
          <a:xfrm>
            <a:off x="6973672" y="3767328"/>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Quick diagnostic for spotting a runaway or stuck process</a:t>
            </a:r>
            <a:endParaRPr lang="en-US" sz="1150" dirty="0"/>
          </a:p>
        </p:txBody>
      </p:sp>
      <p:sp>
        <p:nvSpPr>
          <p:cNvPr id="24" name="Text 22"/>
          <p:cNvSpPr txBox="1"/>
          <p:nvPr/>
        </p:nvSpPr>
        <p:spPr>
          <a:xfrm>
            <a:off x="6479896" y="4370832"/>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04</a:t>
            </a:r>
            <a:endParaRPr lang="en-US" sz="1050" dirty="0"/>
          </a:p>
        </p:txBody>
      </p:sp>
      <p:sp>
        <p:nvSpPr>
          <p:cNvPr id="25" name="Text 23"/>
          <p:cNvSpPr txBox="1"/>
          <p:nvPr/>
        </p:nvSpPr>
        <p:spPr>
          <a:xfrm>
            <a:off x="6973672" y="4352544"/>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Reference implementation for /proc-based systems programming</a:t>
            </a:r>
            <a:endParaRPr lang="en-US" sz="1150" dirty="0"/>
          </a:p>
        </p:txBody>
      </p:sp>
      <p:sp>
        <p:nvSpPr>
          <p:cNvPr id="26" name="Text 24"/>
          <p:cNvSpPr txBox="1"/>
          <p:nvPr/>
        </p:nvSpPr>
        <p:spPr>
          <a:xfrm>
            <a:off x="6479896" y="4956048"/>
            <a:ext cx="365760" cy="219456"/>
          </a:xfrm>
          <a:prstGeom prst="rect">
            <a:avLst/>
          </a:prstGeom>
          <a:noFill/>
          <a:ln/>
        </p:spPr>
        <p:txBody>
          <a:bodyPr wrap="square" lIns="0" tIns="0" rIns="0" bIns="0" rtlCol="0" anchor="ctr"/>
          <a:lstStyle/>
          <a:p>
            <a:pPr algn="l" indent="0" marL="0">
              <a:lnSpc>
                <a:spcPts val="1700"/>
              </a:lnSpc>
              <a:buNone/>
            </a:pPr>
            <a:r>
              <a:rPr lang="en-US" sz="1050" b="1" dirty="0">
                <a:solidFill>
                  <a:srgbClr val="D64525"/>
                </a:solidFill>
                <a:latin typeface="Courier New" pitchFamily="34" charset="0"/>
                <a:ea typeface="Courier New" pitchFamily="34" charset="-122"/>
                <a:cs typeface="Courier New" pitchFamily="34" charset="-120"/>
              </a:rPr>
              <a:t>05</a:t>
            </a:r>
            <a:endParaRPr lang="en-US" sz="1050" dirty="0"/>
          </a:p>
        </p:txBody>
      </p:sp>
      <p:sp>
        <p:nvSpPr>
          <p:cNvPr id="27" name="Text 25"/>
          <p:cNvSpPr txBox="1"/>
          <p:nvPr/>
        </p:nvSpPr>
        <p:spPr>
          <a:xfrm>
            <a:off x="6973672" y="4937760"/>
            <a:ext cx="4303624" cy="512064"/>
          </a:xfrm>
          <a:prstGeom prst="rect">
            <a:avLst/>
          </a:prstGeom>
          <a:noFill/>
          <a:ln/>
        </p:spPr>
        <p:txBody>
          <a:bodyPr wrap="square" lIns="0" tIns="0" rIns="0" bIns="0" rtlCol="0" anchor="t"/>
          <a:lstStyle/>
          <a:p>
            <a:pPr algn="l" indent="0" marL="0">
              <a:lnSpc>
                <a:spcPts val="1500"/>
              </a:lnSpc>
              <a:buNone/>
            </a:pPr>
            <a:r>
              <a:rPr lang="en-US" sz="1150" dirty="0">
                <a:solidFill>
                  <a:srgbClr val="3D5A75"/>
                </a:solidFill>
                <a:latin typeface="Arial" pitchFamily="34" charset="0"/>
                <a:ea typeface="Arial" pitchFamily="34" charset="-122"/>
                <a:cs typeface="Arial" pitchFamily="34" charset="-120"/>
              </a:rPr>
              <a:t>Starting point for more advanced monitoring utilities</a:t>
            </a:r>
            <a:endParaRPr lang="en-US" sz="1150" dirty="0"/>
          </a:p>
        </p:txBody>
      </p:sp>
      <p:sp>
        <p:nvSpPr>
          <p:cNvPr id="28" name="Text 26"/>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20 / 23</a:t>
            </a:r>
            <a:endParaRPr lang="en-US" sz="1050" dirty="0"/>
          </a:p>
        </p:txBody>
      </p:sp>
      <p:sp>
        <p:nvSpPr>
          <p:cNvPr id="29" name="Text 27"/>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ADVANTAGES</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par>
                                <p:cTn id="109" presetID="10" presetClass="entr" presetSubtype="0" fill="hold" grpId="0" nodeType="withEffect">
                                  <p:stCondLst>
                                    <p:cond delay="18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20"/>
                                        <p:tgtEl>
                                          <p:spTgt spid="28"/>
                                        </p:tgtEl>
                                      </p:cBhvr>
                                    </p:animEffect>
                                    <p:anim calcmode="lin" valueType="num">
                                      <p:cBhvr additive="base">
                                        <p:cTn id="112" dur="420" fill="hold"/>
                                        <p:tgtEl>
                                          <p:spTgt spid="28"/>
                                        </p:tgtEl>
                                        <p:attrNameLst>
                                          <p:attrName>ppt_y</p:attrName>
                                        </p:attrNameLst>
                                      </p:cBhvr>
                                      <p:tavLst>
                                        <p:tav tm="0">
                                          <p:val>
                                            <p:strVal val="ppt_y+0.018"/>
                                          </p:val>
                                        </p:tav>
                                        <p:tav tm="100000">
                                          <p:val>
                                            <p:strVal val="ppt_y"/>
                                          </p:val>
                                        </p:tav>
                                      </p:tavLst>
                                    </p:anim>
                                  </p:childTnLst>
                                </p:cTn>
                              </p:par>
                              <p:par>
                                <p:cTn id="113" presetID="10" presetClass="entr" presetSubtype="0" fill="hold" grpId="0" nodeType="withEffect">
                                  <p:stCondLst>
                                    <p:cond delay="18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420"/>
                                        <p:tgtEl>
                                          <p:spTgt spid="29"/>
                                        </p:tgtEl>
                                      </p:cBhvr>
                                    </p:animEffect>
                                    <p:anim calcmode="lin" valueType="num">
                                      <p:cBhvr additive="base">
                                        <p:cTn id="116" dur="420" fill="hold"/>
                                        <p:tgtEl>
                                          <p:spTgt spid="29"/>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20  /  CONCLUSION</a:t>
            </a:r>
            <a:endParaRPr lang="en-US" sz="1100" dirty="0"/>
          </a:p>
        </p:txBody>
      </p:sp>
      <p:sp>
        <p:nvSpPr>
          <p:cNvPr id="3" name="Text 1"/>
          <p:cNvSpPr txBox="1"/>
          <p:nvPr/>
        </p:nvSpPr>
        <p:spPr>
          <a:xfrm>
            <a:off x="658368" y="768096"/>
            <a:ext cx="6766560" cy="1188720"/>
          </a:xfrm>
          <a:prstGeom prst="rect">
            <a:avLst/>
          </a:prstGeom>
          <a:noFill/>
          <a:ln/>
        </p:spPr>
        <p:txBody>
          <a:bodyPr wrap="square" lIns="0" tIns="0" rIns="0" bIns="0" rtlCol="0" anchor="ctr"/>
          <a:lstStyle/>
          <a:p>
            <a:pPr indent="0" marL="0">
              <a:lnSpc>
                <a:spcPts val="4400"/>
              </a:lnSpc>
              <a:buNone/>
            </a:pPr>
            <a:r>
              <a:rPr lang="en-US" sz="3800" b="1" dirty="0">
                <a:solidFill>
                  <a:srgbClr val="F2F4F1"/>
                </a:solidFill>
                <a:latin typeface="Cambria" pitchFamily="34" charset="0"/>
                <a:ea typeface="Cambria" pitchFamily="34" charset="-122"/>
                <a:cs typeface="Cambria" pitchFamily="34" charset="-120"/>
              </a:rPr>
              <a:t>A small tool that makes</a:t>
            </a:r>
            <a:endParaRPr lang="en-US" sz="3800" dirty="0"/>
          </a:p>
          <a:p>
            <a:pPr indent="0" marL="0">
              <a:lnSpc>
                <a:spcPts val="4400"/>
              </a:lnSpc>
              <a:buNone/>
            </a:pPr>
            <a:r>
              <a:rPr lang="en-US" sz="3800" b="1" dirty="0">
                <a:solidFill>
                  <a:srgbClr val="F2F4F1"/>
                </a:solidFill>
                <a:latin typeface="Cambria" pitchFamily="34" charset="0"/>
                <a:ea typeface="Cambria" pitchFamily="34" charset="-122"/>
                <a:cs typeface="Cambria" pitchFamily="34" charset="-120"/>
              </a:rPr>
              <a:t>the kernel legible</a:t>
            </a:r>
            <a:endParaRPr lang="en-US" sz="3800" dirty="0"/>
          </a:p>
        </p:txBody>
      </p:sp>
      <p:sp>
        <p:nvSpPr>
          <p:cNvPr id="4" name="Text 2"/>
          <p:cNvSpPr txBox="1"/>
          <p:nvPr/>
        </p:nvSpPr>
        <p:spPr>
          <a:xfrm>
            <a:off x="658368" y="3054096"/>
            <a:ext cx="5760720" cy="1097280"/>
          </a:xfrm>
          <a:prstGeom prst="rect">
            <a:avLst/>
          </a:prstGeom>
          <a:noFill/>
          <a:ln/>
        </p:spPr>
        <p:txBody>
          <a:bodyPr wrap="square" lIns="0" tIns="0" rIns="0" bIns="0" rtlCol="0" anchor="t"/>
          <a:lstStyle/>
          <a:p>
            <a:pPr algn="l" indent="0" marL="0">
              <a:lnSpc>
                <a:spcPts val="2000"/>
              </a:lnSpc>
              <a:buNone/>
            </a:pPr>
            <a:r>
              <a:rPr lang="en-US" sz="1350" dirty="0">
                <a:solidFill>
                  <a:srgbClr val="9FB4C6"/>
                </a:solidFill>
                <a:latin typeface="Arial" pitchFamily="34" charset="0"/>
                <a:ea typeface="Arial" pitchFamily="34" charset="-122"/>
                <a:cs typeface="Arial" pitchFamily="34" charset="-120"/>
              </a:rPr>
              <a:t>The project implements a working Linux process and system monitor in C. It reads live kernel state through /proc, computes CPU, memory and load metrics from timed samples on a collector thread, tracks process lifecycle events, and gives the operator direct signal-based control, all through one interactive terminal interface.</a:t>
            </a:r>
            <a:endParaRPr lang="en-US" sz="1350" dirty="0"/>
          </a:p>
        </p:txBody>
      </p:sp>
      <p:sp>
        <p:nvSpPr>
          <p:cNvPr id="5" name="Shape 3"/>
          <p:cNvSpPr/>
          <p:nvPr/>
        </p:nvSpPr>
        <p:spPr>
          <a:xfrm>
            <a:off x="6675120" y="2139696"/>
            <a:ext cx="4858207" cy="713232"/>
          </a:xfrm>
          <a:prstGeom prst="rect">
            <a:avLst/>
          </a:prstGeom>
          <a:solidFill>
            <a:srgbClr val="173449"/>
          </a:solidFill>
          <a:ln w="12700">
            <a:solidFill>
              <a:srgbClr val="496882"/>
            </a:solidFill>
            <a:prstDash val="solid"/>
          </a:ln>
        </p:spPr>
      </p:sp>
      <p:sp>
        <p:nvSpPr>
          <p:cNvPr id="6" name="Text 4"/>
          <p:cNvSpPr txBox="1"/>
          <p:nvPr/>
        </p:nvSpPr>
        <p:spPr>
          <a:xfrm>
            <a:off x="6894576" y="2258568"/>
            <a:ext cx="731520" cy="237744"/>
          </a:xfrm>
          <a:prstGeom prst="rect">
            <a:avLst/>
          </a:prstGeom>
          <a:noFill/>
          <a:ln/>
        </p:spPr>
        <p:txBody>
          <a:bodyPr wrap="square" lIns="0" tIns="0" rIns="0" bIns="0" rtlCol="0" anchor="ctr"/>
          <a:lstStyle/>
          <a:p>
            <a:pPr algn="l" indent="0" marL="0">
              <a:lnSpc>
                <a:spcPts val="1700"/>
              </a:lnSpc>
              <a:buNone/>
            </a:pPr>
            <a:r>
              <a:rPr lang="en-US" sz="1200" b="1" dirty="0">
                <a:solidFill>
                  <a:srgbClr val="D64525"/>
                </a:solidFill>
                <a:latin typeface="Courier New" pitchFamily="34" charset="0"/>
                <a:ea typeface="Courier New" pitchFamily="34" charset="-122"/>
                <a:cs typeface="Courier New" pitchFamily="34" charset="-120"/>
              </a:rPr>
              <a:t>CO-1 2</a:t>
            </a:r>
            <a:endParaRPr lang="en-US" sz="1200" dirty="0"/>
          </a:p>
        </p:txBody>
      </p:sp>
      <p:sp>
        <p:nvSpPr>
          <p:cNvPr id="7" name="Text 5"/>
          <p:cNvSpPr txBox="1"/>
          <p:nvPr/>
        </p:nvSpPr>
        <p:spPr>
          <a:xfrm>
            <a:off x="7680960" y="2249424"/>
            <a:ext cx="3566160" cy="512064"/>
          </a:xfrm>
          <a:prstGeom prst="rect">
            <a:avLst/>
          </a:prstGeom>
          <a:noFill/>
          <a:ln/>
        </p:spPr>
        <p:txBody>
          <a:bodyPr wrap="square" lIns="0" tIns="0" rIns="0" bIns="0" rtlCol="0" anchor="t"/>
          <a:lstStyle/>
          <a:p>
            <a:pPr algn="l" indent="0" marL="0">
              <a:lnSpc>
                <a:spcPts val="1400"/>
              </a:lnSpc>
              <a:buNone/>
            </a:pPr>
            <a:r>
              <a:rPr lang="en-US" sz="1080" dirty="0">
                <a:solidFill>
                  <a:srgbClr val="F2F4F1"/>
                </a:solidFill>
                <a:latin typeface="Arial" pitchFamily="34" charset="0"/>
                <a:ea typeface="Arial" pitchFamily="34" charset="-122"/>
                <a:cs typeface="Arial" pitchFamily="34" charset="-120"/>
              </a:rPr>
              <a:t>Reads kernel state through open and read, and reports every process state</a:t>
            </a:r>
            <a:endParaRPr lang="en-US" sz="1080" dirty="0"/>
          </a:p>
        </p:txBody>
      </p:sp>
      <p:sp>
        <p:nvSpPr>
          <p:cNvPr id="8" name="Shape 6"/>
          <p:cNvSpPr/>
          <p:nvPr/>
        </p:nvSpPr>
        <p:spPr>
          <a:xfrm>
            <a:off x="6675120" y="2980944"/>
            <a:ext cx="4858207" cy="713232"/>
          </a:xfrm>
          <a:prstGeom prst="rect">
            <a:avLst/>
          </a:prstGeom>
          <a:solidFill>
            <a:srgbClr val="173449"/>
          </a:solidFill>
          <a:ln w="12700">
            <a:solidFill>
              <a:srgbClr val="496882"/>
            </a:solidFill>
            <a:prstDash val="solid"/>
          </a:ln>
        </p:spPr>
      </p:sp>
      <p:sp>
        <p:nvSpPr>
          <p:cNvPr id="9" name="Text 7"/>
          <p:cNvSpPr txBox="1"/>
          <p:nvPr/>
        </p:nvSpPr>
        <p:spPr>
          <a:xfrm>
            <a:off x="6894576" y="3099816"/>
            <a:ext cx="731520" cy="237744"/>
          </a:xfrm>
          <a:prstGeom prst="rect">
            <a:avLst/>
          </a:prstGeom>
          <a:noFill/>
          <a:ln/>
        </p:spPr>
        <p:txBody>
          <a:bodyPr wrap="square" lIns="0" tIns="0" rIns="0" bIns="0" rtlCol="0" anchor="ctr"/>
          <a:lstStyle/>
          <a:p>
            <a:pPr algn="l" indent="0" marL="0">
              <a:lnSpc>
                <a:spcPts val="1700"/>
              </a:lnSpc>
              <a:buNone/>
            </a:pPr>
            <a:r>
              <a:rPr lang="en-US" sz="1200" b="1" dirty="0">
                <a:solidFill>
                  <a:srgbClr val="D64525"/>
                </a:solidFill>
                <a:latin typeface="Courier New" pitchFamily="34" charset="0"/>
                <a:ea typeface="Courier New" pitchFamily="34" charset="-122"/>
                <a:cs typeface="Courier New" pitchFamily="34" charset="-120"/>
              </a:rPr>
              <a:t>CO-3</a:t>
            </a:r>
            <a:endParaRPr lang="en-US" sz="1200" dirty="0"/>
          </a:p>
        </p:txBody>
      </p:sp>
      <p:sp>
        <p:nvSpPr>
          <p:cNvPr id="10" name="Text 8"/>
          <p:cNvSpPr txBox="1"/>
          <p:nvPr/>
        </p:nvSpPr>
        <p:spPr>
          <a:xfrm>
            <a:off x="7680960" y="3090672"/>
            <a:ext cx="3566160" cy="512064"/>
          </a:xfrm>
          <a:prstGeom prst="rect">
            <a:avLst/>
          </a:prstGeom>
          <a:noFill/>
          <a:ln/>
        </p:spPr>
        <p:txBody>
          <a:bodyPr wrap="square" lIns="0" tIns="0" rIns="0" bIns="0" rtlCol="0" anchor="t"/>
          <a:lstStyle/>
          <a:p>
            <a:pPr algn="l" indent="0" marL="0">
              <a:lnSpc>
                <a:spcPts val="1400"/>
              </a:lnSpc>
              <a:buNone/>
            </a:pPr>
            <a:r>
              <a:rPr lang="en-US" sz="1080" dirty="0">
                <a:solidFill>
                  <a:srgbClr val="F2F4F1"/>
                </a:solidFill>
                <a:latin typeface="Arial" pitchFamily="34" charset="0"/>
                <a:ea typeface="Arial" pitchFamily="34" charset="-122"/>
                <a:cs typeface="Arial" pitchFamily="34" charset="-120"/>
              </a:rPr>
              <a:t>Sends four signals, handles two, and runs pipes, FIFOs and job control</a:t>
            </a:r>
            <a:endParaRPr lang="en-US" sz="1080" dirty="0"/>
          </a:p>
        </p:txBody>
      </p:sp>
      <p:sp>
        <p:nvSpPr>
          <p:cNvPr id="11" name="Shape 9"/>
          <p:cNvSpPr/>
          <p:nvPr/>
        </p:nvSpPr>
        <p:spPr>
          <a:xfrm>
            <a:off x="6675120" y="3822192"/>
            <a:ext cx="4858207" cy="713232"/>
          </a:xfrm>
          <a:prstGeom prst="rect">
            <a:avLst/>
          </a:prstGeom>
          <a:solidFill>
            <a:srgbClr val="173449"/>
          </a:solidFill>
          <a:ln w="12700">
            <a:solidFill>
              <a:srgbClr val="496882"/>
            </a:solidFill>
            <a:prstDash val="solid"/>
          </a:ln>
        </p:spPr>
      </p:sp>
      <p:sp>
        <p:nvSpPr>
          <p:cNvPr id="12" name="Text 10"/>
          <p:cNvSpPr txBox="1"/>
          <p:nvPr/>
        </p:nvSpPr>
        <p:spPr>
          <a:xfrm>
            <a:off x="6894576" y="3941064"/>
            <a:ext cx="731520" cy="237744"/>
          </a:xfrm>
          <a:prstGeom prst="rect">
            <a:avLst/>
          </a:prstGeom>
          <a:noFill/>
          <a:ln/>
        </p:spPr>
        <p:txBody>
          <a:bodyPr wrap="square" lIns="0" tIns="0" rIns="0" bIns="0" rtlCol="0" anchor="ctr"/>
          <a:lstStyle/>
          <a:p>
            <a:pPr algn="l" indent="0" marL="0">
              <a:lnSpc>
                <a:spcPts val="1700"/>
              </a:lnSpc>
              <a:buNone/>
            </a:pPr>
            <a:r>
              <a:rPr lang="en-US" sz="1200" b="1" dirty="0">
                <a:solidFill>
                  <a:srgbClr val="D64525"/>
                </a:solidFill>
                <a:latin typeface="Courier New" pitchFamily="34" charset="0"/>
                <a:ea typeface="Courier New" pitchFamily="34" charset="-122"/>
                <a:cs typeface="Courier New" pitchFamily="34" charset="-120"/>
              </a:rPr>
              <a:t>CO-4 5</a:t>
            </a:r>
            <a:endParaRPr lang="en-US" sz="1200" dirty="0"/>
          </a:p>
        </p:txBody>
      </p:sp>
      <p:sp>
        <p:nvSpPr>
          <p:cNvPr id="13" name="Text 11"/>
          <p:cNvSpPr txBox="1"/>
          <p:nvPr/>
        </p:nvSpPr>
        <p:spPr>
          <a:xfrm>
            <a:off x="7680960" y="3931920"/>
            <a:ext cx="3566160" cy="512064"/>
          </a:xfrm>
          <a:prstGeom prst="rect">
            <a:avLst/>
          </a:prstGeom>
          <a:noFill/>
          <a:ln/>
        </p:spPr>
        <p:txBody>
          <a:bodyPr wrap="square" lIns="0" tIns="0" rIns="0" bIns="0" rtlCol="0" anchor="t"/>
          <a:lstStyle/>
          <a:p>
            <a:pPr algn="l" indent="0" marL="0">
              <a:lnSpc>
                <a:spcPts val="1400"/>
              </a:lnSpc>
              <a:buNone/>
            </a:pPr>
            <a:r>
              <a:rPr lang="en-US" sz="1080" dirty="0">
                <a:solidFill>
                  <a:srgbClr val="F2F4F1"/>
                </a:solidFill>
                <a:latin typeface="Arial" pitchFamily="34" charset="0"/>
                <a:ea typeface="Arial" pitchFamily="34" charset="-122"/>
                <a:cs typeface="Arial" pitchFamily="34" charset="-120"/>
              </a:rPr>
              <a:t>Shows page faults, demand paging, copy-on-write, inodes and mmap</a:t>
            </a:r>
            <a:endParaRPr lang="en-US" sz="1080" dirty="0"/>
          </a:p>
        </p:txBody>
      </p:sp>
      <p:sp>
        <p:nvSpPr>
          <p:cNvPr id="14" name="Shape 12"/>
          <p:cNvSpPr/>
          <p:nvPr/>
        </p:nvSpPr>
        <p:spPr>
          <a:xfrm>
            <a:off x="6675120" y="4663440"/>
            <a:ext cx="4858207" cy="713232"/>
          </a:xfrm>
          <a:prstGeom prst="rect">
            <a:avLst/>
          </a:prstGeom>
          <a:solidFill>
            <a:srgbClr val="173449"/>
          </a:solidFill>
          <a:ln w="12700">
            <a:solidFill>
              <a:srgbClr val="496882"/>
            </a:solidFill>
            <a:prstDash val="solid"/>
          </a:ln>
        </p:spPr>
      </p:sp>
      <p:sp>
        <p:nvSpPr>
          <p:cNvPr id="15" name="Text 13"/>
          <p:cNvSpPr txBox="1"/>
          <p:nvPr/>
        </p:nvSpPr>
        <p:spPr>
          <a:xfrm>
            <a:off x="6894576" y="4782312"/>
            <a:ext cx="731520" cy="237744"/>
          </a:xfrm>
          <a:prstGeom prst="rect">
            <a:avLst/>
          </a:prstGeom>
          <a:noFill/>
          <a:ln/>
        </p:spPr>
        <p:txBody>
          <a:bodyPr wrap="square" lIns="0" tIns="0" rIns="0" bIns="0" rtlCol="0" anchor="ctr"/>
          <a:lstStyle/>
          <a:p>
            <a:pPr algn="l" indent="0" marL="0">
              <a:lnSpc>
                <a:spcPts val="1700"/>
              </a:lnSpc>
              <a:buNone/>
            </a:pPr>
            <a:r>
              <a:rPr lang="en-US" sz="1200" b="1" dirty="0">
                <a:solidFill>
                  <a:srgbClr val="D64525"/>
                </a:solidFill>
                <a:latin typeface="Courier New" pitchFamily="34" charset="0"/>
                <a:ea typeface="Courier New" pitchFamily="34" charset="-122"/>
                <a:cs typeface="Courier New" pitchFamily="34" charset="-120"/>
              </a:rPr>
              <a:t>CO-6</a:t>
            </a:r>
            <a:endParaRPr lang="en-US" sz="1200" dirty="0"/>
          </a:p>
        </p:txBody>
      </p:sp>
      <p:sp>
        <p:nvSpPr>
          <p:cNvPr id="16" name="Text 14"/>
          <p:cNvSpPr txBox="1"/>
          <p:nvPr/>
        </p:nvSpPr>
        <p:spPr>
          <a:xfrm>
            <a:off x="7680960" y="4773168"/>
            <a:ext cx="3566160" cy="512064"/>
          </a:xfrm>
          <a:prstGeom prst="rect">
            <a:avLst/>
          </a:prstGeom>
          <a:noFill/>
          <a:ln/>
        </p:spPr>
        <p:txBody>
          <a:bodyPr wrap="square" lIns="0" tIns="0" rIns="0" bIns="0" rtlCol="0" anchor="t"/>
          <a:lstStyle/>
          <a:p>
            <a:pPr algn="l" indent="0" marL="0">
              <a:lnSpc>
                <a:spcPts val="1400"/>
              </a:lnSpc>
              <a:buNone/>
            </a:pPr>
            <a:r>
              <a:rPr lang="en-US" sz="1080" dirty="0">
                <a:solidFill>
                  <a:srgbClr val="F2F4F1"/>
                </a:solidFill>
                <a:latin typeface="Arial" pitchFamily="34" charset="0"/>
                <a:ea typeface="Arial" pitchFamily="34" charset="-122"/>
                <a:cs typeface="Arial" pitchFamily="34" charset="-120"/>
              </a:rPr>
              <a:t>Runs a collector thread with a mutex, and shows races and deadlock</a:t>
            </a:r>
            <a:endParaRPr lang="en-US" sz="1080" dirty="0"/>
          </a:p>
        </p:txBody>
      </p:sp>
      <p:sp>
        <p:nvSpPr>
          <p:cNvPr id="17" name="Text 15"/>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9FB4C6"/>
                </a:solidFill>
                <a:latin typeface="Courier New" pitchFamily="34" charset="0"/>
                <a:ea typeface="Courier New" pitchFamily="34" charset="-122"/>
                <a:cs typeface="Courier New" pitchFamily="34" charset="-120"/>
              </a:rPr>
              <a:t>21 / 23</a:t>
            </a:r>
            <a:endParaRPr lang="en-US" sz="1050" dirty="0"/>
          </a:p>
        </p:txBody>
      </p:sp>
      <p:sp>
        <p:nvSpPr>
          <p:cNvPr id="18" name="Text 16"/>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9FB4C6"/>
                </a:solidFill>
                <a:latin typeface="Courier New" pitchFamily="34" charset="0"/>
                <a:ea typeface="Courier New" pitchFamily="34" charset="-122"/>
                <a:cs typeface="Courier New" pitchFamily="34" charset="-120"/>
              </a:rPr>
              <a:t>CONCLUSION</a:t>
            </a:r>
            <a:endParaRPr lang="en-US" sz="1050" dirty="0"/>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21  /  FUTURE SCOPE</a:t>
            </a:r>
            <a:endParaRPr lang="en-US" sz="1100" dirty="0"/>
          </a:p>
        </p:txBody>
      </p:sp>
      <p:sp>
        <p:nvSpPr>
          <p:cNvPr id="3" name="Text 1"/>
          <p:cNvSpPr txBox="1"/>
          <p:nvPr/>
        </p:nvSpPr>
        <p:spPr>
          <a:xfrm>
            <a:off x="658368" y="768096"/>
            <a:ext cx="7863840" cy="566928"/>
          </a:xfrm>
          <a:prstGeom prst="rect">
            <a:avLst/>
          </a:prstGeom>
          <a:noFill/>
          <a:ln/>
        </p:spPr>
        <p:txBody>
          <a:bodyPr wrap="square" lIns="0" tIns="0" rIns="0" bIns="0" rtlCol="0" anchor="ctr"/>
          <a:lstStyle/>
          <a:p>
            <a:pPr indent="0" marL="0">
              <a:lnSpc>
                <a:spcPts val="3800"/>
              </a:lnSpc>
              <a:buNone/>
            </a:pPr>
            <a:r>
              <a:rPr lang="en-US" sz="3200" b="1" dirty="0">
                <a:solidFill>
                  <a:srgbClr val="17324D"/>
                </a:solidFill>
                <a:latin typeface="Cambria" pitchFamily="34" charset="0"/>
                <a:ea typeface="Cambria" pitchFamily="34" charset="-122"/>
                <a:cs typeface="Cambria" pitchFamily="34" charset="-120"/>
              </a:rPr>
              <a:t>Where it goes next</a:t>
            </a:r>
            <a:endParaRPr lang="en-US" sz="3200" dirty="0"/>
          </a:p>
        </p:txBody>
      </p:sp>
      <p:sp>
        <p:nvSpPr>
          <p:cNvPr id="4" name="Text 2"/>
          <p:cNvSpPr txBox="1"/>
          <p:nvPr/>
        </p:nvSpPr>
        <p:spPr>
          <a:xfrm>
            <a:off x="658368" y="1316736"/>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Ideas that follow directly from the current design.</a:t>
            </a:r>
            <a:endParaRPr lang="en-US" sz="1300" dirty="0"/>
          </a:p>
        </p:txBody>
      </p:sp>
      <p:sp>
        <p:nvSpPr>
          <p:cNvPr id="5" name="Shape 3"/>
          <p:cNvSpPr/>
          <p:nvPr/>
        </p:nvSpPr>
        <p:spPr>
          <a:xfrm>
            <a:off x="658368" y="2048256"/>
            <a:ext cx="5309464" cy="1060704"/>
          </a:xfrm>
          <a:prstGeom prst="rect">
            <a:avLst/>
          </a:prstGeom>
          <a:solidFill>
            <a:srgbClr val="FCFBF8"/>
          </a:solidFill>
          <a:ln w="12700">
            <a:solidFill>
              <a:srgbClr val="B9C6D4"/>
            </a:solidFill>
            <a:prstDash val="solid"/>
          </a:ln>
        </p:spPr>
      </p:sp>
      <p:sp>
        <p:nvSpPr>
          <p:cNvPr id="6" name="Text 4"/>
          <p:cNvSpPr txBox="1"/>
          <p:nvPr/>
        </p:nvSpPr>
        <p:spPr>
          <a:xfrm>
            <a:off x="914400" y="2231136"/>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01</a:t>
            </a:r>
            <a:endParaRPr lang="en-US" sz="1500" dirty="0"/>
          </a:p>
        </p:txBody>
      </p:sp>
      <p:sp>
        <p:nvSpPr>
          <p:cNvPr id="7" name="Text 5"/>
          <p:cNvSpPr txBox="1"/>
          <p:nvPr/>
        </p:nvSpPr>
        <p:spPr>
          <a:xfrm>
            <a:off x="1444752" y="2212848"/>
            <a:ext cx="4303624"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Live per-core rates</a:t>
            </a:r>
            <a:endParaRPr lang="en-US" sz="1350" dirty="0"/>
          </a:p>
        </p:txBody>
      </p:sp>
      <p:sp>
        <p:nvSpPr>
          <p:cNvPr id="8" name="Text 6"/>
          <p:cNvSpPr txBox="1"/>
          <p:nvPr/>
        </p:nvSpPr>
        <p:spPr>
          <a:xfrm>
            <a:off x="1444752" y="2523744"/>
            <a:ext cx="42670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Per-core figures are averages since boot; keep a previous sample per core for live rates.</a:t>
            </a:r>
            <a:endParaRPr lang="en-US" sz="1080" dirty="0"/>
          </a:p>
        </p:txBody>
      </p:sp>
      <p:sp>
        <p:nvSpPr>
          <p:cNvPr id="9" name="Shape 7"/>
          <p:cNvSpPr/>
          <p:nvPr/>
        </p:nvSpPr>
        <p:spPr>
          <a:xfrm>
            <a:off x="6223864" y="2048256"/>
            <a:ext cx="5309464" cy="1060704"/>
          </a:xfrm>
          <a:prstGeom prst="rect">
            <a:avLst/>
          </a:prstGeom>
          <a:solidFill>
            <a:srgbClr val="FCFBF8"/>
          </a:solidFill>
          <a:ln w="12700">
            <a:solidFill>
              <a:srgbClr val="B9C6D4"/>
            </a:solidFill>
            <a:prstDash val="solid"/>
          </a:ln>
        </p:spPr>
      </p:sp>
      <p:sp>
        <p:nvSpPr>
          <p:cNvPr id="10" name="Text 8"/>
          <p:cNvSpPr txBox="1"/>
          <p:nvPr/>
        </p:nvSpPr>
        <p:spPr>
          <a:xfrm>
            <a:off x="6479896" y="2231136"/>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02</a:t>
            </a:r>
            <a:endParaRPr lang="en-US" sz="1500" dirty="0"/>
          </a:p>
        </p:txBody>
      </p:sp>
      <p:sp>
        <p:nvSpPr>
          <p:cNvPr id="11" name="Text 9"/>
          <p:cNvSpPr txBox="1"/>
          <p:nvPr/>
        </p:nvSpPr>
        <p:spPr>
          <a:xfrm>
            <a:off x="7010248" y="2212848"/>
            <a:ext cx="4303624"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Network and disk I/O</a:t>
            </a:r>
            <a:endParaRPr lang="en-US" sz="1350" dirty="0"/>
          </a:p>
        </p:txBody>
      </p:sp>
      <p:sp>
        <p:nvSpPr>
          <p:cNvPr id="12" name="Text 10"/>
          <p:cNvSpPr txBox="1"/>
          <p:nvPr/>
        </p:nvSpPr>
        <p:spPr>
          <a:xfrm>
            <a:off x="7010248" y="2523744"/>
            <a:ext cx="42670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Extend the same /proc reading to per-process io and net statistics.</a:t>
            </a:r>
            <a:endParaRPr lang="en-US" sz="1080" dirty="0"/>
          </a:p>
        </p:txBody>
      </p:sp>
      <p:sp>
        <p:nvSpPr>
          <p:cNvPr id="13" name="Shape 11"/>
          <p:cNvSpPr/>
          <p:nvPr/>
        </p:nvSpPr>
        <p:spPr>
          <a:xfrm>
            <a:off x="658368" y="3255264"/>
            <a:ext cx="5309464" cy="1060704"/>
          </a:xfrm>
          <a:prstGeom prst="rect">
            <a:avLst/>
          </a:prstGeom>
          <a:solidFill>
            <a:srgbClr val="FCFBF8"/>
          </a:solidFill>
          <a:ln w="12700">
            <a:solidFill>
              <a:srgbClr val="B9C6D4"/>
            </a:solidFill>
            <a:prstDash val="solid"/>
          </a:ln>
        </p:spPr>
      </p:sp>
      <p:sp>
        <p:nvSpPr>
          <p:cNvPr id="14" name="Text 12"/>
          <p:cNvSpPr txBox="1"/>
          <p:nvPr/>
        </p:nvSpPr>
        <p:spPr>
          <a:xfrm>
            <a:off x="914400" y="3438144"/>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03</a:t>
            </a:r>
            <a:endParaRPr lang="en-US" sz="1500" dirty="0"/>
          </a:p>
        </p:txBody>
      </p:sp>
      <p:sp>
        <p:nvSpPr>
          <p:cNvPr id="15" name="Text 13"/>
          <p:cNvSpPr txBox="1"/>
          <p:nvPr/>
        </p:nvSpPr>
        <p:spPr>
          <a:xfrm>
            <a:off x="1444752" y="3419856"/>
            <a:ext cx="4303624"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Historical series</a:t>
            </a:r>
            <a:endParaRPr lang="en-US" sz="1350" dirty="0"/>
          </a:p>
        </p:txBody>
      </p:sp>
      <p:sp>
        <p:nvSpPr>
          <p:cNvPr id="16" name="Text 14"/>
          <p:cNvSpPr txBox="1"/>
          <p:nvPr/>
        </p:nvSpPr>
        <p:spPr>
          <a:xfrm>
            <a:off x="1444752" y="3730752"/>
            <a:ext cx="42670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Retain samples over a session and draw trend sparklines per process.</a:t>
            </a:r>
            <a:endParaRPr lang="en-US" sz="1080" dirty="0"/>
          </a:p>
        </p:txBody>
      </p:sp>
      <p:sp>
        <p:nvSpPr>
          <p:cNvPr id="17" name="Shape 15"/>
          <p:cNvSpPr/>
          <p:nvPr/>
        </p:nvSpPr>
        <p:spPr>
          <a:xfrm>
            <a:off x="6223864" y="3255264"/>
            <a:ext cx="5309464" cy="1060704"/>
          </a:xfrm>
          <a:prstGeom prst="rect">
            <a:avLst/>
          </a:prstGeom>
          <a:solidFill>
            <a:srgbClr val="FCFBF8"/>
          </a:solidFill>
          <a:ln w="12700">
            <a:solidFill>
              <a:srgbClr val="B9C6D4"/>
            </a:solidFill>
            <a:prstDash val="solid"/>
          </a:ln>
        </p:spPr>
      </p:sp>
      <p:sp>
        <p:nvSpPr>
          <p:cNvPr id="18" name="Text 16"/>
          <p:cNvSpPr txBox="1"/>
          <p:nvPr/>
        </p:nvSpPr>
        <p:spPr>
          <a:xfrm>
            <a:off x="6479896" y="3438144"/>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04</a:t>
            </a:r>
            <a:endParaRPr lang="en-US" sz="1500" dirty="0"/>
          </a:p>
        </p:txBody>
      </p:sp>
      <p:sp>
        <p:nvSpPr>
          <p:cNvPr id="19" name="Text 17"/>
          <p:cNvSpPr txBox="1"/>
          <p:nvPr/>
        </p:nvSpPr>
        <p:spPr>
          <a:xfrm>
            <a:off x="7010248" y="3419856"/>
            <a:ext cx="4303624"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Search and filtering</a:t>
            </a:r>
            <a:endParaRPr lang="en-US" sz="1350" dirty="0"/>
          </a:p>
        </p:txBody>
      </p:sp>
      <p:sp>
        <p:nvSpPr>
          <p:cNvPr id="20" name="Text 18"/>
          <p:cNvSpPr txBox="1"/>
          <p:nvPr/>
        </p:nvSpPr>
        <p:spPr>
          <a:xfrm>
            <a:off x="7010248" y="3730752"/>
            <a:ext cx="42670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Filter the list by name, state or user, and target signals more precisely.</a:t>
            </a:r>
            <a:endParaRPr lang="en-US" sz="1080" dirty="0"/>
          </a:p>
        </p:txBody>
      </p:sp>
      <p:sp>
        <p:nvSpPr>
          <p:cNvPr id="21" name="Shape 19"/>
          <p:cNvSpPr/>
          <p:nvPr/>
        </p:nvSpPr>
        <p:spPr>
          <a:xfrm>
            <a:off x="658368" y="4462272"/>
            <a:ext cx="5309464" cy="1060704"/>
          </a:xfrm>
          <a:prstGeom prst="rect">
            <a:avLst/>
          </a:prstGeom>
          <a:solidFill>
            <a:srgbClr val="FCFBF8"/>
          </a:solidFill>
          <a:ln w="12700">
            <a:solidFill>
              <a:srgbClr val="B9C6D4"/>
            </a:solidFill>
            <a:prstDash val="solid"/>
          </a:ln>
        </p:spPr>
      </p:sp>
      <p:sp>
        <p:nvSpPr>
          <p:cNvPr id="22" name="Text 20"/>
          <p:cNvSpPr txBox="1"/>
          <p:nvPr/>
        </p:nvSpPr>
        <p:spPr>
          <a:xfrm>
            <a:off x="914400" y="4645152"/>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05</a:t>
            </a:r>
            <a:endParaRPr lang="en-US" sz="1500" dirty="0"/>
          </a:p>
        </p:txBody>
      </p:sp>
      <p:sp>
        <p:nvSpPr>
          <p:cNvPr id="23" name="Text 21"/>
          <p:cNvSpPr txBox="1"/>
          <p:nvPr/>
        </p:nvSpPr>
        <p:spPr>
          <a:xfrm>
            <a:off x="1444752" y="4626864"/>
            <a:ext cx="4303624"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Process memory map</a:t>
            </a:r>
            <a:endParaRPr lang="en-US" sz="1350" dirty="0"/>
          </a:p>
        </p:txBody>
      </p:sp>
      <p:sp>
        <p:nvSpPr>
          <p:cNvPr id="24" name="Text 22"/>
          <p:cNvSpPr txBox="1"/>
          <p:nvPr/>
        </p:nvSpPr>
        <p:spPr>
          <a:xfrm>
            <a:off x="1444752" y="4937760"/>
            <a:ext cx="42670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Show each region of /proc/[pid]/maps for the selected process.</a:t>
            </a:r>
            <a:endParaRPr lang="en-US" sz="1080" dirty="0"/>
          </a:p>
        </p:txBody>
      </p:sp>
      <p:sp>
        <p:nvSpPr>
          <p:cNvPr id="25" name="Shape 23"/>
          <p:cNvSpPr/>
          <p:nvPr/>
        </p:nvSpPr>
        <p:spPr>
          <a:xfrm>
            <a:off x="6223864" y="4462272"/>
            <a:ext cx="5309464" cy="1060704"/>
          </a:xfrm>
          <a:prstGeom prst="rect">
            <a:avLst/>
          </a:prstGeom>
          <a:solidFill>
            <a:srgbClr val="FCFBF8"/>
          </a:solidFill>
          <a:ln w="12700">
            <a:solidFill>
              <a:srgbClr val="B9C6D4"/>
            </a:solidFill>
            <a:prstDash val="solid"/>
          </a:ln>
        </p:spPr>
      </p:sp>
      <p:sp>
        <p:nvSpPr>
          <p:cNvPr id="26" name="Text 24"/>
          <p:cNvSpPr txBox="1"/>
          <p:nvPr/>
        </p:nvSpPr>
        <p:spPr>
          <a:xfrm>
            <a:off x="6479896" y="4645152"/>
            <a:ext cx="457200" cy="274320"/>
          </a:xfrm>
          <a:prstGeom prst="rect">
            <a:avLst/>
          </a:prstGeom>
          <a:noFill/>
          <a:ln/>
        </p:spPr>
        <p:txBody>
          <a:bodyPr wrap="square" lIns="0" tIns="0" rIns="0" bIns="0" rtlCol="0" anchor="ctr"/>
          <a:lstStyle/>
          <a:p>
            <a:pPr algn="l" indent="0" marL="0">
              <a:lnSpc>
                <a:spcPts val="1700"/>
              </a:lnSpc>
              <a:buNone/>
            </a:pPr>
            <a:r>
              <a:rPr lang="en-US" sz="1500" b="1" dirty="0">
                <a:solidFill>
                  <a:srgbClr val="D64525"/>
                </a:solidFill>
                <a:latin typeface="Courier New" pitchFamily="34" charset="0"/>
                <a:ea typeface="Courier New" pitchFamily="34" charset="-122"/>
                <a:cs typeface="Courier New" pitchFamily="34" charset="-120"/>
              </a:rPr>
              <a:t>06</a:t>
            </a:r>
            <a:endParaRPr lang="en-US" sz="1500" dirty="0"/>
          </a:p>
        </p:txBody>
      </p:sp>
      <p:sp>
        <p:nvSpPr>
          <p:cNvPr id="27" name="Text 25"/>
          <p:cNvSpPr txBox="1"/>
          <p:nvPr/>
        </p:nvSpPr>
        <p:spPr>
          <a:xfrm>
            <a:off x="7010248" y="4626864"/>
            <a:ext cx="4303624"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Overhead comparison</a:t>
            </a:r>
            <a:endParaRPr lang="en-US" sz="1350" dirty="0"/>
          </a:p>
        </p:txBody>
      </p:sp>
      <p:sp>
        <p:nvSpPr>
          <p:cNvPr id="28" name="Text 26"/>
          <p:cNvSpPr txBox="1"/>
          <p:nvPr/>
        </p:nvSpPr>
        <p:spPr>
          <a:xfrm>
            <a:off x="7010248" y="4937760"/>
            <a:ext cx="4267048" cy="512064"/>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Benchmark this monitor's own cost against top and htop on equal footing.</a:t>
            </a:r>
            <a:endParaRPr lang="en-US" sz="1080" dirty="0"/>
          </a:p>
        </p:txBody>
      </p:sp>
      <p:sp>
        <p:nvSpPr>
          <p:cNvPr id="29" name="Text 27"/>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22 / 23</a:t>
            </a:r>
            <a:endParaRPr lang="en-US" sz="1050" dirty="0"/>
          </a:p>
        </p:txBody>
      </p:sp>
      <p:sp>
        <p:nvSpPr>
          <p:cNvPr id="30" name="Text 28"/>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FUTURE SCOPE</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par>
                                <p:cTn id="73" presetID="10" presetClass="entr" presetSubtype="0" fill="hold" grpId="0" nodeType="withEffect">
                                  <p:stCondLst>
                                    <p:cond delay="136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420"/>
                                        <p:tgtEl>
                                          <p:spTgt spid="19"/>
                                        </p:tgtEl>
                                      </p:cBhvr>
                                    </p:animEffect>
                                    <p:anim calcmode="lin" valueType="num">
                                      <p:cBhvr additive="base">
                                        <p:cTn id="76" dur="420" fill="hold"/>
                                        <p:tgtEl>
                                          <p:spTgt spid="19"/>
                                        </p:tgtEl>
                                        <p:attrNameLst>
                                          <p:attrName>ppt_y</p:attrName>
                                        </p:attrNameLst>
                                      </p:cBhvr>
                                      <p:tavLst>
                                        <p:tav tm="0">
                                          <p:val>
                                            <p:strVal val="ppt_y+0.018"/>
                                          </p:val>
                                        </p:tav>
                                        <p:tav tm="100000">
                                          <p:val>
                                            <p:strVal val="ppt_y"/>
                                          </p:val>
                                        </p:tav>
                                      </p:tavLst>
                                    </p:anim>
                                  </p:childTnLst>
                                </p:cTn>
                              </p:par>
                              <p:par>
                                <p:cTn id="77" presetID="10" presetClass="entr" presetSubtype="0" fill="hold" grpId="0" nodeType="withEffect">
                                  <p:stCondLst>
                                    <p:cond delay="144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420"/>
                                        <p:tgtEl>
                                          <p:spTgt spid="20"/>
                                        </p:tgtEl>
                                      </p:cBhvr>
                                    </p:animEffect>
                                    <p:anim calcmode="lin" valueType="num">
                                      <p:cBhvr additive="base">
                                        <p:cTn id="80" dur="420" fill="hold"/>
                                        <p:tgtEl>
                                          <p:spTgt spid="20"/>
                                        </p:tgtEl>
                                        <p:attrNameLst>
                                          <p:attrName>ppt_y</p:attrName>
                                        </p:attrNameLst>
                                      </p:cBhvr>
                                      <p:tavLst>
                                        <p:tav tm="0">
                                          <p:val>
                                            <p:strVal val="ppt_y+0.018"/>
                                          </p:val>
                                        </p:tav>
                                        <p:tav tm="100000">
                                          <p:val>
                                            <p:strVal val="ppt_y"/>
                                          </p:val>
                                        </p:tav>
                                      </p:tavLst>
                                    </p:anim>
                                  </p:childTnLst>
                                </p:cTn>
                              </p:par>
                              <p:par>
                                <p:cTn id="81" presetID="10"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420"/>
                                        <p:tgtEl>
                                          <p:spTgt spid="21"/>
                                        </p:tgtEl>
                                      </p:cBhvr>
                                    </p:animEffect>
                                    <p:anim calcmode="lin" valueType="num">
                                      <p:cBhvr additive="base">
                                        <p:cTn id="84" dur="420" fill="hold"/>
                                        <p:tgtEl>
                                          <p:spTgt spid="21"/>
                                        </p:tgtEl>
                                        <p:attrNameLst>
                                          <p:attrName>ppt_y</p:attrName>
                                        </p:attrNameLst>
                                      </p:cBhvr>
                                      <p:tavLst>
                                        <p:tav tm="0">
                                          <p:val>
                                            <p:strVal val="ppt_y+0.018"/>
                                          </p:val>
                                        </p:tav>
                                        <p:tav tm="100000">
                                          <p:val>
                                            <p:strVal val="ppt_y"/>
                                          </p:val>
                                        </p:tav>
                                      </p:tavLst>
                                    </p:anim>
                                  </p:childTnLst>
                                </p:cTn>
                              </p:par>
                              <p:par>
                                <p:cTn id="85" presetID="10" presetClass="entr" presetSubtype="0" fill="hold" grpId="0" nodeType="withEffect">
                                  <p:stCondLst>
                                    <p:cond delay="16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420"/>
                                        <p:tgtEl>
                                          <p:spTgt spid="22"/>
                                        </p:tgtEl>
                                      </p:cBhvr>
                                    </p:animEffect>
                                    <p:anim calcmode="lin" valueType="num">
                                      <p:cBhvr additive="base">
                                        <p:cTn id="88" dur="420" fill="hold"/>
                                        <p:tgtEl>
                                          <p:spTgt spid="22"/>
                                        </p:tgtEl>
                                        <p:attrNameLst>
                                          <p:attrName>ppt_y</p:attrName>
                                        </p:attrNameLst>
                                      </p:cBhvr>
                                      <p:tavLst>
                                        <p:tav tm="0">
                                          <p:val>
                                            <p:strVal val="ppt_y+0.018"/>
                                          </p:val>
                                        </p:tav>
                                        <p:tav tm="100000">
                                          <p:val>
                                            <p:strVal val="ppt_y"/>
                                          </p:val>
                                        </p:tav>
                                      </p:tavLst>
                                    </p:anim>
                                  </p:childTnLst>
                                </p:cTn>
                              </p:par>
                              <p:par>
                                <p:cTn id="89" presetID="10" presetClass="entr" presetSubtype="0" fill="hold" grpId="0" nodeType="withEffect">
                                  <p:stCondLst>
                                    <p:cond delay="16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420"/>
                                        <p:tgtEl>
                                          <p:spTgt spid="23"/>
                                        </p:tgtEl>
                                      </p:cBhvr>
                                    </p:animEffect>
                                    <p:anim calcmode="lin" valueType="num">
                                      <p:cBhvr additive="base">
                                        <p:cTn id="92" dur="420" fill="hold"/>
                                        <p:tgtEl>
                                          <p:spTgt spid="23"/>
                                        </p:tgtEl>
                                        <p:attrNameLst>
                                          <p:attrName>ppt_y</p:attrName>
                                        </p:attrNameLst>
                                      </p:cBhvr>
                                      <p:tavLst>
                                        <p:tav tm="0">
                                          <p:val>
                                            <p:strVal val="ppt_y+0.018"/>
                                          </p:val>
                                        </p:tav>
                                        <p:tav tm="100000">
                                          <p:val>
                                            <p:strVal val="ppt_y"/>
                                          </p:val>
                                        </p:tav>
                                      </p:tavLst>
                                    </p:anim>
                                  </p:childTnLst>
                                </p:cTn>
                              </p:par>
                              <p:par>
                                <p:cTn id="93" presetID="10" presetClass="entr" presetSubtype="0" fill="hold" grpId="0" nodeType="withEffect">
                                  <p:stCondLst>
                                    <p:cond delay="17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420"/>
                                        <p:tgtEl>
                                          <p:spTgt spid="24"/>
                                        </p:tgtEl>
                                      </p:cBhvr>
                                    </p:animEffect>
                                    <p:anim calcmode="lin" valueType="num">
                                      <p:cBhvr additive="base">
                                        <p:cTn id="96" dur="420" fill="hold"/>
                                        <p:tgtEl>
                                          <p:spTgt spid="24"/>
                                        </p:tgtEl>
                                        <p:attrNameLst>
                                          <p:attrName>ppt_y</p:attrName>
                                        </p:attrNameLst>
                                      </p:cBhvr>
                                      <p:tavLst>
                                        <p:tav tm="0">
                                          <p:val>
                                            <p:strVal val="ppt_y+0.018"/>
                                          </p:val>
                                        </p:tav>
                                        <p:tav tm="100000">
                                          <p:val>
                                            <p:strVal val="ppt_y"/>
                                          </p:val>
                                        </p:tav>
                                      </p:tavLst>
                                    </p:anim>
                                  </p:childTnLst>
                                </p:cTn>
                              </p:par>
                              <p:par>
                                <p:cTn id="97" presetID="10" presetClass="entr" presetSubtype="0" fill="hold" grpId="0" nodeType="withEffect">
                                  <p:stCondLst>
                                    <p:cond delay="18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420"/>
                                        <p:tgtEl>
                                          <p:spTgt spid="25"/>
                                        </p:tgtEl>
                                      </p:cBhvr>
                                    </p:animEffect>
                                    <p:anim calcmode="lin" valueType="num">
                                      <p:cBhvr additive="base">
                                        <p:cTn id="100" dur="420" fill="hold"/>
                                        <p:tgtEl>
                                          <p:spTgt spid="25"/>
                                        </p:tgtEl>
                                        <p:attrNameLst>
                                          <p:attrName>ppt_y</p:attrName>
                                        </p:attrNameLst>
                                      </p:cBhvr>
                                      <p:tavLst>
                                        <p:tav tm="0">
                                          <p:val>
                                            <p:strVal val="ppt_y+0.018"/>
                                          </p:val>
                                        </p:tav>
                                        <p:tav tm="100000">
                                          <p:val>
                                            <p:strVal val="ppt_y"/>
                                          </p:val>
                                        </p:tav>
                                      </p:tavLst>
                                    </p:anim>
                                  </p:childTnLst>
                                </p:cTn>
                              </p:par>
                              <p:par>
                                <p:cTn id="101" presetID="10" presetClass="entr" presetSubtype="0" fill="hold" grpId="0" nodeType="withEffect">
                                  <p:stCondLst>
                                    <p:cond delay="18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20"/>
                                        <p:tgtEl>
                                          <p:spTgt spid="26"/>
                                        </p:tgtEl>
                                      </p:cBhvr>
                                    </p:animEffect>
                                    <p:anim calcmode="lin" valueType="num">
                                      <p:cBhvr additive="base">
                                        <p:cTn id="104" dur="420" fill="hold"/>
                                        <p:tgtEl>
                                          <p:spTgt spid="26"/>
                                        </p:tgtEl>
                                        <p:attrNameLst>
                                          <p:attrName>ppt_y</p:attrName>
                                        </p:attrNameLst>
                                      </p:cBhvr>
                                      <p:tavLst>
                                        <p:tav tm="0">
                                          <p:val>
                                            <p:strVal val="ppt_y+0.018"/>
                                          </p:val>
                                        </p:tav>
                                        <p:tav tm="100000">
                                          <p:val>
                                            <p:strVal val="ppt_y"/>
                                          </p:val>
                                        </p:tav>
                                      </p:tavLst>
                                    </p:anim>
                                  </p:childTnLst>
                                </p:cTn>
                              </p:par>
                              <p:par>
                                <p:cTn id="105" presetID="10" presetClass="entr" presetSubtype="0" fill="hold" grpId="0" nodeType="withEffect">
                                  <p:stCondLst>
                                    <p:cond delay="18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420"/>
                                        <p:tgtEl>
                                          <p:spTgt spid="27"/>
                                        </p:tgtEl>
                                      </p:cBhvr>
                                    </p:animEffect>
                                    <p:anim calcmode="lin" valueType="num">
                                      <p:cBhvr additive="base">
                                        <p:cTn id="108" dur="420" fill="hold"/>
                                        <p:tgtEl>
                                          <p:spTgt spid="27"/>
                                        </p:tgtEl>
                                        <p:attrNameLst>
                                          <p:attrName>ppt_y</p:attrName>
                                        </p:attrNameLst>
                                      </p:cBhvr>
                                      <p:tavLst>
                                        <p:tav tm="0">
                                          <p:val>
                                            <p:strVal val="ppt_y+0.018"/>
                                          </p:val>
                                        </p:tav>
                                        <p:tav tm="100000">
                                          <p:val>
                                            <p:strVal val="ppt_y"/>
                                          </p:val>
                                        </p:tav>
                                      </p:tavLst>
                                    </p:anim>
                                  </p:childTnLst>
                                </p:cTn>
                              </p:par>
                              <p:par>
                                <p:cTn id="109" presetID="10" presetClass="entr" presetSubtype="0" fill="hold" grpId="0" nodeType="withEffect">
                                  <p:stCondLst>
                                    <p:cond delay="18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20"/>
                                        <p:tgtEl>
                                          <p:spTgt spid="28"/>
                                        </p:tgtEl>
                                      </p:cBhvr>
                                    </p:animEffect>
                                    <p:anim calcmode="lin" valueType="num">
                                      <p:cBhvr additive="base">
                                        <p:cTn id="112" dur="420" fill="hold"/>
                                        <p:tgtEl>
                                          <p:spTgt spid="28"/>
                                        </p:tgtEl>
                                        <p:attrNameLst>
                                          <p:attrName>ppt_y</p:attrName>
                                        </p:attrNameLst>
                                      </p:cBhvr>
                                      <p:tavLst>
                                        <p:tav tm="0">
                                          <p:val>
                                            <p:strVal val="ppt_y+0.018"/>
                                          </p:val>
                                        </p:tav>
                                        <p:tav tm="100000">
                                          <p:val>
                                            <p:strVal val="ppt_y"/>
                                          </p:val>
                                        </p:tav>
                                      </p:tavLst>
                                    </p:anim>
                                  </p:childTnLst>
                                </p:cTn>
                              </p:par>
                              <p:par>
                                <p:cTn id="113" presetID="10" presetClass="entr" presetSubtype="0" fill="hold" grpId="0" nodeType="withEffect">
                                  <p:stCondLst>
                                    <p:cond delay="18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420"/>
                                        <p:tgtEl>
                                          <p:spTgt spid="29"/>
                                        </p:tgtEl>
                                      </p:cBhvr>
                                    </p:animEffect>
                                    <p:anim calcmode="lin" valueType="num">
                                      <p:cBhvr additive="base">
                                        <p:cTn id="116" dur="420" fill="hold"/>
                                        <p:tgtEl>
                                          <p:spTgt spid="29"/>
                                        </p:tgtEl>
                                        <p:attrNameLst>
                                          <p:attrName>ppt_y</p:attrName>
                                        </p:attrNameLst>
                                      </p:cBhvr>
                                      <p:tavLst>
                                        <p:tav tm="0">
                                          <p:val>
                                            <p:strVal val="ppt_y+0.018"/>
                                          </p:val>
                                        </p:tav>
                                        <p:tav tm="100000">
                                          <p:val>
                                            <p:strVal val="ppt_y"/>
                                          </p:val>
                                        </p:tav>
                                      </p:tavLst>
                                    </p:anim>
                                  </p:childTnLst>
                                </p:cTn>
                              </p:par>
                              <p:par>
                                <p:cTn id="117" presetID="10" presetClass="entr" presetSubtype="0" fill="hold" grpId="0" nodeType="withEffect">
                                  <p:stCondLst>
                                    <p:cond delay="18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420"/>
                                        <p:tgtEl>
                                          <p:spTgt spid="30"/>
                                        </p:tgtEl>
                                      </p:cBhvr>
                                    </p:animEffect>
                                    <p:anim calcmode="lin" valueType="num">
                                      <p:cBhvr additive="base">
                                        <p:cTn id="120" dur="420" fill="hold"/>
                                        <p:tgtEl>
                                          <p:spTgt spid="30"/>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2231136"/>
            <a:ext cx="7315200" cy="1097280"/>
          </a:xfrm>
          <a:prstGeom prst="rect">
            <a:avLst/>
          </a:prstGeom>
          <a:noFill/>
          <a:ln/>
        </p:spPr>
        <p:txBody>
          <a:bodyPr wrap="square" lIns="0" tIns="0" rIns="0" bIns="0" rtlCol="0" anchor="ctr"/>
          <a:lstStyle/>
          <a:p>
            <a:pPr indent="0" marL="0">
              <a:buNone/>
            </a:pPr>
            <a:r>
              <a:rPr lang="en-US" sz="6400" b="1" dirty="0">
                <a:solidFill>
                  <a:srgbClr val="F2F4F1"/>
                </a:solidFill>
                <a:latin typeface="Cambria" pitchFamily="34" charset="0"/>
                <a:ea typeface="Cambria" pitchFamily="34" charset="-122"/>
                <a:cs typeface="Cambria" pitchFamily="34" charset="-120"/>
              </a:rPr>
              <a:t>Thank you</a:t>
            </a:r>
            <a:endParaRPr lang="en-US" sz="6400" dirty="0"/>
          </a:p>
        </p:txBody>
      </p:sp>
      <p:sp>
        <p:nvSpPr>
          <p:cNvPr id="3" name="Text 1"/>
          <p:cNvSpPr txBox="1"/>
          <p:nvPr/>
        </p:nvSpPr>
        <p:spPr>
          <a:xfrm>
            <a:off x="658368" y="3401568"/>
            <a:ext cx="5486400" cy="365760"/>
          </a:xfrm>
          <a:prstGeom prst="rect">
            <a:avLst/>
          </a:prstGeom>
          <a:noFill/>
          <a:ln/>
        </p:spPr>
        <p:txBody>
          <a:bodyPr wrap="square" lIns="0" tIns="0" rIns="0" bIns="0" rtlCol="0" anchor="t"/>
          <a:lstStyle/>
          <a:p>
            <a:pPr algn="l" indent="0" marL="0">
              <a:lnSpc>
                <a:spcPts val="1900"/>
              </a:lnSpc>
              <a:buNone/>
            </a:pPr>
            <a:r>
              <a:rPr lang="en-US" sz="1700" dirty="0">
                <a:solidFill>
                  <a:srgbClr val="D64525"/>
                </a:solidFill>
                <a:latin typeface="Arial" pitchFamily="34" charset="0"/>
                <a:ea typeface="Arial" pitchFamily="34" charset="-122"/>
                <a:cs typeface="Arial" pitchFamily="34" charset="-120"/>
              </a:rPr>
              <a:t>Questions and discussion</a:t>
            </a:r>
            <a:endParaRPr lang="en-US" sz="1700" dirty="0"/>
          </a:p>
        </p:txBody>
      </p:sp>
      <p:sp>
        <p:nvSpPr>
          <p:cNvPr id="4" name="Text 2"/>
          <p:cNvSpPr txBox="1"/>
          <p:nvPr/>
        </p:nvSpPr>
        <p:spPr>
          <a:xfrm>
            <a:off x="658368" y="4206240"/>
            <a:ext cx="7680960" cy="822960"/>
          </a:xfrm>
          <a:prstGeom prst="rect">
            <a:avLst/>
          </a:prstGeom>
          <a:noFill/>
          <a:ln/>
        </p:spPr>
        <p:txBody>
          <a:bodyPr wrap="square" lIns="0" tIns="0" rIns="0" bIns="0" rtlCol="0" anchor="ctr"/>
          <a:lstStyle/>
          <a:p>
            <a:pPr algn="l" indent="0" marL="0">
              <a:lnSpc>
                <a:spcPts val="1800"/>
              </a:lnSpc>
              <a:buNone/>
            </a:pPr>
            <a:r>
              <a:rPr lang="en-US" sz="1150" dirty="0">
                <a:solidFill>
                  <a:srgbClr val="9FB4C6"/>
                </a:solidFill>
                <a:latin typeface="Courier New" pitchFamily="34" charset="0"/>
                <a:ea typeface="Courier New" pitchFamily="34" charset="-122"/>
                <a:cs typeface="Courier New" pitchFamily="34" charset="-120"/>
              </a:rPr>
              <a:t>KERNEL MONITOR  ·  TEAM 19  ·  SECTION 02</a:t>
            </a:r>
            <a:endParaRPr lang="en-US" sz="1150" dirty="0"/>
          </a:p>
          <a:p>
            <a:pPr algn="l" indent="0" marL="0">
              <a:lnSpc>
                <a:spcPts val="1800"/>
              </a:lnSpc>
              <a:buNone/>
            </a:pPr>
            <a:r>
              <a:rPr lang="en-US" sz="1150" dirty="0">
                <a:solidFill>
                  <a:srgbClr val="9FB4C6"/>
                </a:solidFill>
                <a:latin typeface="Courier New" pitchFamily="34" charset="0"/>
                <a:ea typeface="Courier New" pitchFamily="34" charset="-122"/>
                <a:cs typeface="Courier New" pitchFamily="34" charset="-120"/>
              </a:rPr>
              <a:t>OPERATING SYSTEMS AND SYSTEMS PROGRAMMING  ·  25CS2104E</a:t>
            </a:r>
            <a:endParaRPr lang="en-US" sz="1150" dirty="0"/>
          </a:p>
          <a:p>
            <a:pPr algn="l" indent="0" marL="0">
              <a:lnSpc>
                <a:spcPts val="1800"/>
              </a:lnSpc>
              <a:buNone/>
            </a:pPr>
            <a:r>
              <a:rPr lang="en-US" sz="1150" dirty="0">
                <a:solidFill>
                  <a:srgbClr val="9FB4C6"/>
                </a:solidFill>
                <a:latin typeface="Courier New" pitchFamily="34" charset="0"/>
                <a:ea typeface="Courier New" pitchFamily="34" charset="-122"/>
                <a:cs typeface="Courier New" pitchFamily="34" charset="-120"/>
              </a:rPr>
              <a:t>github.com/Cyanexani/2520030184_053_558-OSSP</a:t>
            </a:r>
            <a:endParaRPr lang="en-US" sz="1150" dirty="0"/>
          </a:p>
        </p:txBody>
      </p:sp>
      <p:sp>
        <p:nvSpPr>
          <p:cNvPr id="5" name="Text 3"/>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9FB4C6"/>
                </a:solidFill>
                <a:latin typeface="Courier New" pitchFamily="34" charset="0"/>
                <a:ea typeface="Courier New" pitchFamily="34" charset="-122"/>
                <a:cs typeface="Courier New" pitchFamily="34" charset="-120"/>
              </a:rPr>
              <a:t>23 / 23</a:t>
            </a:r>
            <a:endParaRPr lang="en-US" sz="1050" dirty="0"/>
          </a:p>
        </p:txBody>
      </p:sp>
      <p:sp>
        <p:nvSpPr>
          <p:cNvPr id="6" name="Text 4"/>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9FB4C6"/>
                </a:solidFill>
                <a:latin typeface="Courier New" pitchFamily="34" charset="0"/>
                <a:ea typeface="Courier New" pitchFamily="34" charset="-122"/>
                <a:cs typeface="Courier New" pitchFamily="34" charset="-120"/>
              </a:rPr>
              <a:t>END</a:t>
            </a:r>
            <a:endParaRPr lang="en-US" sz="1050" dirty="0"/>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10  /  CO-4  ·  MEMORY MANAGEMENT</a:t>
            </a:r>
            <a:endParaRPr lang="en-US" sz="1100" dirty="0"/>
          </a:p>
        </p:txBody>
      </p:sp>
      <p:sp>
        <p:nvSpPr>
          <p:cNvPr id="3" name="Text 1"/>
          <p:cNvSpPr txBox="1"/>
          <p:nvPr/>
        </p:nvSpPr>
        <p:spPr>
          <a:xfrm>
            <a:off x="658368" y="768096"/>
            <a:ext cx="603504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Memory arrives</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one fault at a time</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vmem.c watches the kernel hand out pages one fault at a time.</a:t>
            </a:r>
            <a:endParaRPr lang="en-US" sz="1300" dirty="0"/>
          </a:p>
        </p:txBody>
      </p:sp>
      <p:sp>
        <p:nvSpPr>
          <p:cNvPr id="5" name="Shape 3"/>
          <p:cNvSpPr/>
          <p:nvPr/>
        </p:nvSpPr>
        <p:spPr>
          <a:xfrm>
            <a:off x="658368" y="2395728"/>
            <a:ext cx="5797296" cy="2139696"/>
          </a:xfrm>
          <a:prstGeom prst="rect">
            <a:avLst/>
          </a:prstGeom>
          <a:solidFill>
            <a:srgbClr val="0F1419"/>
          </a:solidFill>
          <a:ln w="12700">
            <a:solidFill>
              <a:srgbClr val="0F1419"/>
            </a:solidFill>
            <a:prstDash val="solid"/>
          </a:ln>
        </p:spPr>
      </p:sp>
      <p:sp>
        <p:nvSpPr>
          <p:cNvPr id="6" name="Text 4"/>
          <p:cNvSpPr txBox="1"/>
          <p:nvPr/>
        </p:nvSpPr>
        <p:spPr>
          <a:xfrm>
            <a:off x="896112" y="2615184"/>
            <a:ext cx="5394960" cy="1737360"/>
          </a:xfrm>
          <a:prstGeom prst="rect">
            <a:avLst/>
          </a:prstGeom>
          <a:noFill/>
          <a:ln/>
        </p:spPr>
        <p:txBody>
          <a:bodyPr wrap="square" lIns="0" tIns="0" rIns="0" bIns="0" rtlCol="0" anchor="ctr"/>
          <a:lstStyle/>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64 MiB = 16384 pages of 4096 bytes</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step                      faults     RSS</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mmap(64 MiB)                   0   +0 KiB</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read a byte per page       16384   +0 KiB</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write a byte per page      16384   +65536 KiB</a:t>
            </a:r>
            <a:endParaRPr lang="en-US" sz="1100" dirty="0"/>
          </a:p>
          <a:p>
            <a:pPr algn="l" indent="0" marL="0">
              <a:lnSpc>
                <a:spcPts val="1650"/>
              </a:lnSpc>
              <a:buNone/>
            </a:pP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pagemap: page 0 present, page 1 absent,</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         page 3 present, page 5 absent</a:t>
            </a:r>
            <a:endParaRPr lang="en-US" sz="1100" dirty="0"/>
          </a:p>
        </p:txBody>
      </p:sp>
      <p:sp>
        <p:nvSpPr>
          <p:cNvPr id="7" name="Text 5"/>
          <p:cNvSpPr txBox="1"/>
          <p:nvPr/>
        </p:nvSpPr>
        <p:spPr>
          <a:xfrm>
            <a:off x="658368" y="4700016"/>
            <a:ext cx="5760720" cy="1005840"/>
          </a:xfrm>
          <a:prstGeom prst="rect">
            <a:avLst/>
          </a:prstGeom>
          <a:noFill/>
          <a:ln/>
        </p:spPr>
        <p:txBody>
          <a:bodyPr wrap="square" lIns="0" tIns="0" rIns="0" bIns="0" rtlCol="0" anchor="t"/>
          <a:lstStyle/>
          <a:p>
            <a:pPr algn="l" indent="0" marL="0">
              <a:lnSpc>
                <a:spcPts val="1700"/>
              </a:lnSpc>
              <a:buNone/>
            </a:pPr>
            <a:r>
              <a:rPr lang="en-US" sz="1200" dirty="0">
                <a:solidFill>
                  <a:srgbClr val="3D5A75"/>
                </a:solidFill>
                <a:latin typeface="Arial" pitchFamily="34" charset="0"/>
                <a:ea typeface="Arial" pitchFamily="34" charset="-122"/>
                <a:cs typeface="Arial" pitchFamily="34" charset="-120"/>
              </a:rPr>
              <a:t>Mapping costs nothing. The first read of each page maps the kernel's shared zero page, so memory stays flat. Only the first write gives a page its own frame. The same minor fault counter, per process, is in the monitor's detail view.</a:t>
            </a:r>
            <a:endParaRPr lang="en-US" sz="1200" dirty="0"/>
          </a:p>
        </p:txBody>
      </p:sp>
      <p:sp>
        <p:nvSpPr>
          <p:cNvPr id="8" name="Shape 6"/>
          <p:cNvSpPr/>
          <p:nvPr/>
        </p:nvSpPr>
        <p:spPr>
          <a:xfrm>
            <a:off x="6620256" y="2395728"/>
            <a:ext cx="4913071" cy="1042416"/>
          </a:xfrm>
          <a:prstGeom prst="rect">
            <a:avLst/>
          </a:prstGeom>
          <a:solidFill>
            <a:srgbClr val="FCFBF8"/>
          </a:solidFill>
          <a:ln w="12700">
            <a:solidFill>
              <a:srgbClr val="B9C6D4"/>
            </a:solidFill>
            <a:prstDash val="solid"/>
          </a:ln>
        </p:spPr>
      </p:sp>
      <p:sp>
        <p:nvSpPr>
          <p:cNvPr id="9" name="Text 7"/>
          <p:cNvSpPr txBox="1"/>
          <p:nvPr/>
        </p:nvSpPr>
        <p:spPr>
          <a:xfrm>
            <a:off x="6839712" y="2560320"/>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Copy-on-write</a:t>
            </a:r>
            <a:endParaRPr lang="en-US" sz="1350" dirty="0"/>
          </a:p>
        </p:txBody>
      </p:sp>
      <p:sp>
        <p:nvSpPr>
          <p:cNvPr id="10" name="Text 8"/>
          <p:cNvSpPr txBox="1"/>
          <p:nvPr/>
        </p:nvSpPr>
        <p:spPr>
          <a:xfrm>
            <a:off x="6839712" y="2871216"/>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After fork() the child reads 4096 pages with 0 faults, then writes them with 4096 faults, one copy each. The parent still sees its own data.</a:t>
            </a:r>
            <a:endParaRPr lang="en-US" sz="1080" dirty="0"/>
          </a:p>
        </p:txBody>
      </p:sp>
      <p:sp>
        <p:nvSpPr>
          <p:cNvPr id="11" name="Shape 9"/>
          <p:cNvSpPr/>
          <p:nvPr/>
        </p:nvSpPr>
        <p:spPr>
          <a:xfrm>
            <a:off x="6620256" y="3566160"/>
            <a:ext cx="4913071" cy="1042416"/>
          </a:xfrm>
          <a:prstGeom prst="rect">
            <a:avLst/>
          </a:prstGeom>
          <a:solidFill>
            <a:srgbClr val="FCFBF8"/>
          </a:solidFill>
          <a:ln w="12700">
            <a:solidFill>
              <a:srgbClr val="B9C6D4"/>
            </a:solidFill>
            <a:prstDash val="solid"/>
          </a:ln>
        </p:spPr>
      </p:sp>
      <p:sp>
        <p:nvSpPr>
          <p:cNvPr id="12" name="Text 10"/>
          <p:cNvSpPr txBox="1"/>
          <p:nvPr/>
        </p:nvSpPr>
        <p:spPr>
          <a:xfrm>
            <a:off x="6839712" y="3730752"/>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Memory errors</a:t>
            </a:r>
            <a:endParaRPr lang="en-US" sz="1350" dirty="0"/>
          </a:p>
        </p:txBody>
      </p:sp>
      <p:sp>
        <p:nvSpPr>
          <p:cNvPr id="13" name="Text 11"/>
          <p:cNvSpPr txBox="1"/>
          <p:nvPr/>
        </p:nvSpPr>
        <p:spPr>
          <a:xfrm>
            <a:off x="6839712" y="4041648"/>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Writing a read-only page raises SIGSEGV with SEGV_ACCERR. Writing through NULL gives SEGV_MAPERR. A handler recovers from both.</a:t>
            </a:r>
            <a:endParaRPr lang="en-US" sz="1080" dirty="0"/>
          </a:p>
        </p:txBody>
      </p:sp>
      <p:sp>
        <p:nvSpPr>
          <p:cNvPr id="14" name="Shape 12"/>
          <p:cNvSpPr/>
          <p:nvPr/>
        </p:nvSpPr>
        <p:spPr>
          <a:xfrm>
            <a:off x="6620256" y="4736592"/>
            <a:ext cx="4913071" cy="1042416"/>
          </a:xfrm>
          <a:prstGeom prst="rect">
            <a:avLst/>
          </a:prstGeom>
          <a:solidFill>
            <a:srgbClr val="FCFBF8"/>
          </a:solidFill>
          <a:ln w="12700">
            <a:solidFill>
              <a:srgbClr val="B9C6D4"/>
            </a:solidFill>
            <a:prstDash val="solid"/>
          </a:ln>
        </p:spPr>
      </p:sp>
      <p:sp>
        <p:nvSpPr>
          <p:cNvPr id="15" name="Text 13"/>
          <p:cNvSpPr txBox="1"/>
          <p:nvPr/>
        </p:nvSpPr>
        <p:spPr>
          <a:xfrm>
            <a:off x="6839712" y="4901184"/>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Debugging tools</a:t>
            </a:r>
            <a:endParaRPr lang="en-US" sz="1350" dirty="0"/>
          </a:p>
        </p:txBody>
      </p:sp>
      <p:sp>
        <p:nvSpPr>
          <p:cNvPr id="16" name="Text 14"/>
          <p:cNvSpPr txBox="1"/>
          <p:nvPr/>
        </p:nvSpPr>
        <p:spPr>
          <a:xfrm>
            <a:off x="6839712" y="5212080"/>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A leak and a one-element overflow never fault. AddressSanitizer reports 1000 bytes leaked and a heap-buffer-overflow, 0 bytes past the array.</a:t>
            </a:r>
            <a:endParaRPr lang="en-US" sz="1080" dirty="0"/>
          </a:p>
        </p:txBody>
      </p:sp>
      <p:sp>
        <p:nvSpPr>
          <p:cNvPr id="17" name="Text 15"/>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11 / 23</a:t>
            </a:r>
            <a:endParaRPr lang="en-US" sz="1050" dirty="0"/>
          </a:p>
        </p:txBody>
      </p:sp>
      <p:sp>
        <p:nvSpPr>
          <p:cNvPr id="18" name="Text 16"/>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CO-4 · MEMORY</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11  /  CO-5  ·  FILE SYSTEMS</a:t>
            </a:r>
            <a:endParaRPr lang="en-US" sz="1100" dirty="0"/>
          </a:p>
        </p:txBody>
      </p:sp>
      <p:sp>
        <p:nvSpPr>
          <p:cNvPr id="3" name="Text 1"/>
          <p:cNvSpPr txBox="1"/>
          <p:nvPr/>
        </p:nvSpPr>
        <p:spPr>
          <a:xfrm>
            <a:off x="658368" y="768096"/>
            <a:ext cx="603504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One interface for</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every file system</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fileio.c runs the same open, read and close on four kinds of file.</a:t>
            </a:r>
            <a:endParaRPr lang="en-US" sz="1300" dirty="0"/>
          </a:p>
        </p:txBody>
      </p:sp>
      <p:sp>
        <p:nvSpPr>
          <p:cNvPr id="5" name="Shape 3"/>
          <p:cNvSpPr/>
          <p:nvPr/>
        </p:nvSpPr>
        <p:spPr>
          <a:xfrm>
            <a:off x="658368" y="2395728"/>
            <a:ext cx="5797296" cy="2139696"/>
          </a:xfrm>
          <a:prstGeom prst="rect">
            <a:avLst/>
          </a:prstGeom>
          <a:solidFill>
            <a:srgbClr val="0F1419"/>
          </a:solidFill>
          <a:ln w="12700">
            <a:solidFill>
              <a:srgbClr val="0F1419"/>
            </a:solidFill>
            <a:prstDash val="solid"/>
          </a:ln>
        </p:spPr>
      </p:sp>
      <p:sp>
        <p:nvSpPr>
          <p:cNvPr id="6" name="Text 4"/>
          <p:cNvSpPr txBox="1"/>
          <p:nvPr/>
        </p:nvSpPr>
        <p:spPr>
          <a:xfrm>
            <a:off x="896112" y="2615184"/>
            <a:ext cx="5394960" cy="1737360"/>
          </a:xfrm>
          <a:prstGeom prst="rect">
            <a:avLst/>
          </a:prstGeom>
          <a:noFill/>
          <a:ln/>
        </p:spPr>
        <p:txBody>
          <a:bodyPr wrap="square" lIns="0" tIns="0" rIns="0" bIns="0" rtlCol="0" anchor="ctr"/>
          <a:lstStyle/>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          0x0000ef53   ext4</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/proc      0x00009fa0   proc</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/sys       0x62656572   sysfs</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/tmp       0x01021994   tmpfs</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/dev/pts   0x00001cd1   devpts</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/mnt/c     0x01021997   9p</a:t>
            </a:r>
            <a:endParaRPr lang="en-US" sz="1100" dirty="0"/>
          </a:p>
          <a:p>
            <a:pPr algn="l" indent="0" marL="0">
              <a:lnSpc>
                <a:spcPts val="1650"/>
              </a:lnSpc>
              <a:buNone/>
            </a:pP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statfs() names each by its magic number</a:t>
            </a:r>
            <a:endParaRPr lang="en-US" sz="1100" dirty="0"/>
          </a:p>
        </p:txBody>
      </p:sp>
      <p:sp>
        <p:nvSpPr>
          <p:cNvPr id="7" name="Text 5"/>
          <p:cNvSpPr txBox="1"/>
          <p:nvPr/>
        </p:nvSpPr>
        <p:spPr>
          <a:xfrm>
            <a:off x="658368" y="4700016"/>
            <a:ext cx="5760720" cy="1005840"/>
          </a:xfrm>
          <a:prstGeom prst="rect">
            <a:avLst/>
          </a:prstGeom>
          <a:noFill/>
          <a:ln/>
        </p:spPr>
        <p:txBody>
          <a:bodyPr wrap="square" lIns="0" tIns="0" rIns="0" bIns="0" rtlCol="0" anchor="t"/>
          <a:lstStyle/>
          <a:p>
            <a:pPr algn="l" indent="0" marL="0">
              <a:lnSpc>
                <a:spcPts val="1700"/>
              </a:lnSpc>
              <a:buNone/>
            </a:pPr>
            <a:r>
              <a:rPr lang="en-US" sz="1200" dirty="0">
                <a:solidFill>
                  <a:srgbClr val="3D5A75"/>
                </a:solidFill>
                <a:latin typeface="Arial" pitchFamily="34" charset="0"/>
                <a:ea typeface="Arial" pitchFamily="34" charset="-122"/>
                <a:cs typeface="Arial" pitchFamily="34" charset="-120"/>
              </a:rPr>
              <a:t>The Virtual File System lets one set of system calls reach ext4, /proc, /sys, tmpfs and device files. The monitor depends on it: /proc is read with the same open and read as any text file.</a:t>
            </a:r>
            <a:endParaRPr lang="en-US" sz="1200" dirty="0"/>
          </a:p>
        </p:txBody>
      </p:sp>
      <p:sp>
        <p:nvSpPr>
          <p:cNvPr id="8" name="Shape 6"/>
          <p:cNvSpPr/>
          <p:nvPr/>
        </p:nvSpPr>
        <p:spPr>
          <a:xfrm>
            <a:off x="6620256" y="2395728"/>
            <a:ext cx="4913071" cy="1042416"/>
          </a:xfrm>
          <a:prstGeom prst="rect">
            <a:avLst/>
          </a:prstGeom>
          <a:solidFill>
            <a:srgbClr val="FCFBF8"/>
          </a:solidFill>
          <a:ln w="12700">
            <a:solidFill>
              <a:srgbClr val="B9C6D4"/>
            </a:solidFill>
            <a:prstDash val="solid"/>
          </a:ln>
        </p:spPr>
      </p:sp>
      <p:sp>
        <p:nvSpPr>
          <p:cNvPr id="9" name="Text 7"/>
          <p:cNvSpPr txBox="1"/>
          <p:nvPr/>
        </p:nvSpPr>
        <p:spPr>
          <a:xfrm>
            <a:off x="6839712" y="2560320"/>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Inodes and links</a:t>
            </a:r>
            <a:endParaRPr lang="en-US" sz="1350" dirty="0"/>
          </a:p>
        </p:txBody>
      </p:sp>
      <p:sp>
        <p:nvSpPr>
          <p:cNvPr id="10" name="Text 8"/>
          <p:cNvSpPr txBox="1"/>
          <p:nvPr/>
        </p:nvSpPr>
        <p:spPr>
          <a:xfrm>
            <a:off x="6839712" y="2871216"/>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A hard link is a second name for the same inode. After unlink() of the original, the hard link still reads and the symbolic link dangles.</a:t>
            </a:r>
            <a:endParaRPr lang="en-US" sz="1080" dirty="0"/>
          </a:p>
        </p:txBody>
      </p:sp>
      <p:sp>
        <p:nvSpPr>
          <p:cNvPr id="11" name="Shape 9"/>
          <p:cNvSpPr/>
          <p:nvPr/>
        </p:nvSpPr>
        <p:spPr>
          <a:xfrm>
            <a:off x="6620256" y="3566160"/>
            <a:ext cx="4913071" cy="1042416"/>
          </a:xfrm>
          <a:prstGeom prst="rect">
            <a:avLst/>
          </a:prstGeom>
          <a:solidFill>
            <a:srgbClr val="FCFBF8"/>
          </a:solidFill>
          <a:ln w="12700">
            <a:solidFill>
              <a:srgbClr val="B9C6D4"/>
            </a:solidFill>
            <a:prstDash val="solid"/>
          </a:ln>
        </p:spPr>
      </p:sp>
      <p:sp>
        <p:nvSpPr>
          <p:cNvPr id="12" name="Text 10"/>
          <p:cNvSpPr txBox="1"/>
          <p:nvPr/>
        </p:nvSpPr>
        <p:spPr>
          <a:xfrm>
            <a:off x="6839712" y="3730752"/>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Descriptors</a:t>
            </a:r>
            <a:endParaRPr lang="en-US" sz="1350" dirty="0"/>
          </a:p>
        </p:txBody>
      </p:sp>
      <p:sp>
        <p:nvSpPr>
          <p:cNvPr id="13" name="Text 11"/>
          <p:cNvSpPr txBox="1"/>
          <p:nvPr/>
        </p:nvSpPr>
        <p:spPr>
          <a:xfrm>
            <a:off x="6839712" y="4041648"/>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Two open() calls get independent offsets, while dup() shares one. After reading 6 bytes the offsets are 6, 0 and 6. /proc/self/fd lists them.</a:t>
            </a:r>
            <a:endParaRPr lang="en-US" sz="1080" dirty="0"/>
          </a:p>
        </p:txBody>
      </p:sp>
      <p:sp>
        <p:nvSpPr>
          <p:cNvPr id="14" name="Shape 12"/>
          <p:cNvSpPr/>
          <p:nvPr/>
        </p:nvSpPr>
        <p:spPr>
          <a:xfrm>
            <a:off x="6620256" y="4736592"/>
            <a:ext cx="4913071" cy="1042416"/>
          </a:xfrm>
          <a:prstGeom prst="rect">
            <a:avLst/>
          </a:prstGeom>
          <a:solidFill>
            <a:srgbClr val="FCFBF8"/>
          </a:solidFill>
          <a:ln w="12700">
            <a:solidFill>
              <a:srgbClr val="B9C6D4"/>
            </a:solidFill>
            <a:prstDash val="solid"/>
          </a:ln>
        </p:spPr>
      </p:sp>
      <p:sp>
        <p:nvSpPr>
          <p:cNvPr id="15" name="Text 13"/>
          <p:cNvSpPr txBox="1"/>
          <p:nvPr/>
        </p:nvSpPr>
        <p:spPr>
          <a:xfrm>
            <a:off x="6839712" y="4901184"/>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Buffered I/O and mmap</a:t>
            </a:r>
            <a:endParaRPr lang="en-US" sz="1350" dirty="0"/>
          </a:p>
        </p:txBody>
      </p:sp>
      <p:sp>
        <p:nvSpPr>
          <p:cNvPr id="16" name="Text 14"/>
          <p:cNvSpPr txBox="1"/>
          <p:nvPr/>
        </p:nvSpPr>
        <p:spPr>
          <a:xfrm>
            <a:off x="6839712" y="5212080"/>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200,000 one-byte writes: 141 ms with write(), 0.8 ms with stdio, about 4081 times fewer system calls. mmap() edits a file with no write().</a:t>
            </a:r>
            <a:endParaRPr lang="en-US" sz="1080" dirty="0"/>
          </a:p>
        </p:txBody>
      </p:sp>
      <p:sp>
        <p:nvSpPr>
          <p:cNvPr id="17" name="Text 15"/>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12 / 23</a:t>
            </a:r>
            <a:endParaRPr lang="en-US" sz="1050" dirty="0"/>
          </a:p>
        </p:txBody>
      </p:sp>
      <p:sp>
        <p:nvSpPr>
          <p:cNvPr id="18" name="Text 16"/>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CO-5 · FILES</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58368" y="475488"/>
            <a:ext cx="5486400" cy="237744"/>
          </a:xfrm>
          <a:prstGeom prst="rect">
            <a:avLst/>
          </a:prstGeom>
          <a:noFill/>
          <a:ln/>
        </p:spPr>
        <p:txBody>
          <a:bodyPr wrap="square" lIns="0" tIns="0" rIns="0" bIns="0" rtlCol="0" anchor="ctr"/>
          <a:lstStyle/>
          <a:p>
            <a:pPr indent="0" marL="0">
              <a:buNone/>
            </a:pPr>
            <a:r>
              <a:rPr lang="en-US" sz="1100" b="1" spc="220" kern="0" dirty="0">
                <a:solidFill>
                  <a:srgbClr val="D64525"/>
                </a:solidFill>
                <a:latin typeface="Courier New" pitchFamily="34" charset="0"/>
                <a:ea typeface="Courier New" pitchFamily="34" charset="-122"/>
                <a:cs typeface="Courier New" pitchFamily="34" charset="-120"/>
              </a:rPr>
              <a:t>FIG. 12  /  CO-6  ·  CONCURRENCY</a:t>
            </a:r>
            <a:endParaRPr lang="en-US" sz="1100" dirty="0"/>
          </a:p>
        </p:txBody>
      </p:sp>
      <p:sp>
        <p:nvSpPr>
          <p:cNvPr id="3" name="Text 1"/>
          <p:cNvSpPr txBox="1"/>
          <p:nvPr/>
        </p:nvSpPr>
        <p:spPr>
          <a:xfrm>
            <a:off x="658368" y="768096"/>
            <a:ext cx="6035040" cy="969264"/>
          </a:xfrm>
          <a:prstGeom prst="rect">
            <a:avLst/>
          </a:prstGeom>
          <a:noFill/>
          <a:ln/>
        </p:spPr>
        <p:txBody>
          <a:bodyPr wrap="square" lIns="0" tIns="0" rIns="0" bIns="0" rtlCol="0" anchor="ctr"/>
          <a:lstStyle/>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The monitor runs on</a:t>
            </a:r>
            <a:endParaRPr lang="en-US" sz="3400" dirty="0"/>
          </a:p>
          <a:p>
            <a:pPr indent="0" marL="0">
              <a:lnSpc>
                <a:spcPts val="3800"/>
              </a:lnSpc>
              <a:buNone/>
            </a:pPr>
            <a:r>
              <a:rPr lang="en-US" sz="3400" b="1" dirty="0">
                <a:solidFill>
                  <a:srgbClr val="17324D"/>
                </a:solidFill>
                <a:latin typeface="Cambria" pitchFamily="34" charset="0"/>
                <a:ea typeface="Cambria" pitchFamily="34" charset="-122"/>
                <a:cs typeface="Cambria" pitchFamily="34" charset="-120"/>
              </a:rPr>
              <a:t>two threads</a:t>
            </a:r>
            <a:endParaRPr lang="en-US" sz="3400" dirty="0"/>
          </a:p>
        </p:txBody>
      </p:sp>
      <p:sp>
        <p:nvSpPr>
          <p:cNvPr id="4" name="Text 2"/>
          <p:cNvSpPr txBox="1"/>
          <p:nvPr/>
        </p:nvSpPr>
        <p:spPr>
          <a:xfrm>
            <a:off x="658368" y="1719072"/>
            <a:ext cx="7680960" cy="365760"/>
          </a:xfrm>
          <a:prstGeom prst="rect">
            <a:avLst/>
          </a:prstGeom>
          <a:noFill/>
          <a:ln/>
        </p:spPr>
        <p:txBody>
          <a:bodyPr wrap="square" lIns="0" tIns="0" rIns="0" bIns="0" rtlCol="0" anchor="ctr"/>
          <a:lstStyle/>
          <a:p>
            <a:pPr indent="0" marL="0">
              <a:buNone/>
            </a:pPr>
            <a:r>
              <a:rPr lang="en-US" sz="1300" dirty="0">
                <a:solidFill>
                  <a:srgbClr val="7A8FA3"/>
                </a:solidFill>
                <a:latin typeface="Arial" pitchFamily="34" charset="0"/>
                <a:ea typeface="Arial" pitchFamily="34" charset="-122"/>
                <a:cs typeface="Arial" pitchFamily="34" charset="-120"/>
              </a:rPr>
              <a:t>A slow /proc scan never delays a keypress.</a:t>
            </a:r>
            <a:endParaRPr lang="en-US" sz="1300" dirty="0"/>
          </a:p>
        </p:txBody>
      </p:sp>
      <p:sp>
        <p:nvSpPr>
          <p:cNvPr id="5" name="Shape 3"/>
          <p:cNvSpPr/>
          <p:nvPr/>
        </p:nvSpPr>
        <p:spPr>
          <a:xfrm>
            <a:off x="658368" y="2395728"/>
            <a:ext cx="5797296" cy="2139696"/>
          </a:xfrm>
          <a:prstGeom prst="rect">
            <a:avLst/>
          </a:prstGeom>
          <a:solidFill>
            <a:srgbClr val="0F1419"/>
          </a:solidFill>
          <a:ln w="12700">
            <a:solidFill>
              <a:srgbClr val="0F1419"/>
            </a:solidFill>
            <a:prstDash val="solid"/>
          </a:ln>
        </p:spPr>
      </p:sp>
      <p:sp>
        <p:nvSpPr>
          <p:cNvPr id="6" name="Text 4"/>
          <p:cNvSpPr txBox="1"/>
          <p:nvPr/>
        </p:nvSpPr>
        <p:spPr>
          <a:xfrm>
            <a:off x="896112" y="2615184"/>
            <a:ext cx="5394960" cy="1737360"/>
          </a:xfrm>
          <a:prstGeom prst="rect">
            <a:avLst/>
          </a:prstGeom>
          <a:noFill/>
          <a:ln/>
        </p:spPr>
        <p:txBody>
          <a:bodyPr wrap="square" lIns="0" tIns="0" rIns="0" bIns="0" rtlCol="0" anchor="ctr"/>
          <a:lstStyle/>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while (!stopping &amp;&amp; !refresh_requested)</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    if (pthread_cond_timedwait(&amp;wake, &amp;lock,</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            &amp;deadline) == ETIMEDOUT) break;</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pthread_mutex_unlock(&amp;lock);</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km_process_monitor_collect(proc);  /* slow */</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pthread_mutex_lock(&amp;lock);</a:t>
            </a:r>
            <a:endParaRPr lang="en-US" sz="1100" dirty="0"/>
          </a:p>
          <a:p>
            <a:pPr algn="l" indent="0" marL="0">
              <a:lnSpc>
                <a:spcPts val="1650"/>
              </a:lnSpc>
              <a:buNone/>
            </a:pPr>
            <a:r>
              <a:rPr lang="en-US" sz="1100" dirty="0">
                <a:solidFill>
                  <a:srgbClr val="9BE0AE"/>
                </a:solidFill>
                <a:latin typeface="Courier New" pitchFamily="34" charset="0"/>
                <a:ea typeface="Courier New" pitchFamily="34" charset="-122"/>
                <a:cs typeface="Courier New" pitchFamily="34" charset="-120"/>
              </a:rPr>
              <a:t>km_process_monitor_publish(proc);</a:t>
            </a:r>
            <a:endParaRPr lang="en-US" sz="1100" dirty="0"/>
          </a:p>
        </p:txBody>
      </p:sp>
      <p:sp>
        <p:nvSpPr>
          <p:cNvPr id="7" name="Text 5"/>
          <p:cNvSpPr txBox="1"/>
          <p:nvPr/>
        </p:nvSpPr>
        <p:spPr>
          <a:xfrm>
            <a:off x="658368" y="4700016"/>
            <a:ext cx="5760720" cy="1005840"/>
          </a:xfrm>
          <a:prstGeom prst="rect">
            <a:avLst/>
          </a:prstGeom>
          <a:noFill/>
          <a:ln/>
        </p:spPr>
        <p:txBody>
          <a:bodyPr wrap="square" lIns="0" tIns="0" rIns="0" bIns="0" rtlCol="0" anchor="t"/>
          <a:lstStyle/>
          <a:p>
            <a:pPr algn="l" indent="0" marL="0">
              <a:lnSpc>
                <a:spcPts val="1700"/>
              </a:lnSpc>
              <a:buNone/>
            </a:pPr>
            <a:r>
              <a:rPr lang="en-US" sz="1200" dirty="0">
                <a:solidFill>
                  <a:srgbClr val="3D5A75"/>
                </a:solidFill>
                <a:latin typeface="Arial" pitchFamily="34" charset="0"/>
                <a:ea typeface="Arial" pitchFamily="34" charset="-122"/>
                <a:cs typeface="Arial" pitchFamily="34" charset="-120"/>
              </a:rPr>
              <a:t>The sweep takes about 2.8 ms and runs without the lock. The lock is held only to swap in the new sample and to draw. The wait sits in a loop because a wakeup only means look again.</a:t>
            </a:r>
            <a:endParaRPr lang="en-US" sz="1200" dirty="0"/>
          </a:p>
        </p:txBody>
      </p:sp>
      <p:sp>
        <p:nvSpPr>
          <p:cNvPr id="8" name="Shape 6"/>
          <p:cNvSpPr/>
          <p:nvPr/>
        </p:nvSpPr>
        <p:spPr>
          <a:xfrm>
            <a:off x="6620256" y="2395728"/>
            <a:ext cx="4913071" cy="1042416"/>
          </a:xfrm>
          <a:prstGeom prst="rect">
            <a:avLst/>
          </a:prstGeom>
          <a:solidFill>
            <a:srgbClr val="FCFBF8"/>
          </a:solidFill>
          <a:ln w="12700">
            <a:solidFill>
              <a:srgbClr val="B9C6D4"/>
            </a:solidFill>
            <a:prstDash val="solid"/>
          </a:ln>
        </p:spPr>
      </p:sp>
      <p:sp>
        <p:nvSpPr>
          <p:cNvPr id="9" name="Text 7"/>
          <p:cNvSpPr txBox="1"/>
          <p:nvPr/>
        </p:nvSpPr>
        <p:spPr>
          <a:xfrm>
            <a:off x="6839712" y="2560320"/>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One lock, no deadlock</a:t>
            </a:r>
            <a:endParaRPr lang="en-US" sz="1350" dirty="0"/>
          </a:p>
        </p:txBody>
      </p:sp>
      <p:sp>
        <p:nvSpPr>
          <p:cNvPr id="10" name="Text 8"/>
          <p:cNvSpPr txBox="1"/>
          <p:nvPr/>
        </p:nvSpPr>
        <p:spPr>
          <a:xfrm>
            <a:off x="6839712" y="2871216"/>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One mutex and a CLOCK_MONOTONIC condition variable. Signals are blocked around pthread_create so they reach the main thread.</a:t>
            </a:r>
            <a:endParaRPr lang="en-US" sz="1080" dirty="0"/>
          </a:p>
        </p:txBody>
      </p:sp>
      <p:sp>
        <p:nvSpPr>
          <p:cNvPr id="11" name="Shape 9"/>
          <p:cNvSpPr/>
          <p:nvPr/>
        </p:nvSpPr>
        <p:spPr>
          <a:xfrm>
            <a:off x="6620256" y="3566160"/>
            <a:ext cx="4913071" cy="1042416"/>
          </a:xfrm>
          <a:prstGeom prst="rect">
            <a:avLst/>
          </a:prstGeom>
          <a:solidFill>
            <a:srgbClr val="FCFBF8"/>
          </a:solidFill>
          <a:ln w="12700">
            <a:solidFill>
              <a:srgbClr val="B9C6D4"/>
            </a:solidFill>
            <a:prstDash val="solid"/>
          </a:ln>
        </p:spPr>
      </p:sp>
      <p:sp>
        <p:nvSpPr>
          <p:cNvPr id="12" name="Text 10"/>
          <p:cNvSpPr txBox="1"/>
          <p:nvPr/>
        </p:nvSpPr>
        <p:spPr>
          <a:xfrm>
            <a:off x="6839712" y="3730752"/>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Race, mutex, atomic</a:t>
            </a:r>
            <a:endParaRPr lang="en-US" sz="1350" dirty="0"/>
          </a:p>
        </p:txBody>
      </p:sp>
      <p:sp>
        <p:nvSpPr>
          <p:cNvPr id="13" name="Text 11"/>
          <p:cNvSpPr txBox="1"/>
          <p:nvPr/>
        </p:nvSpPr>
        <p:spPr>
          <a:xfrm>
            <a:off x="6839712" y="4041648"/>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threadsync.c: 4 threads add 1 a million times. With no lock about 2.6 million updates are lost. A mutex and an atomic both reach 4,000,000.</a:t>
            </a:r>
            <a:endParaRPr lang="en-US" sz="1080" dirty="0"/>
          </a:p>
        </p:txBody>
      </p:sp>
      <p:sp>
        <p:nvSpPr>
          <p:cNvPr id="14" name="Shape 12"/>
          <p:cNvSpPr/>
          <p:nvPr/>
        </p:nvSpPr>
        <p:spPr>
          <a:xfrm>
            <a:off x="6620256" y="4736592"/>
            <a:ext cx="4913071" cy="1042416"/>
          </a:xfrm>
          <a:prstGeom prst="rect">
            <a:avLst/>
          </a:prstGeom>
          <a:solidFill>
            <a:srgbClr val="FCFBF8"/>
          </a:solidFill>
          <a:ln w="12700">
            <a:solidFill>
              <a:srgbClr val="B9C6D4"/>
            </a:solidFill>
            <a:prstDash val="solid"/>
          </a:ln>
        </p:spPr>
      </p:sp>
      <p:sp>
        <p:nvSpPr>
          <p:cNvPr id="15" name="Text 13"/>
          <p:cNvSpPr txBox="1"/>
          <p:nvPr/>
        </p:nvSpPr>
        <p:spPr>
          <a:xfrm>
            <a:off x="6839712" y="4901184"/>
            <a:ext cx="4389120" cy="292608"/>
          </a:xfrm>
          <a:prstGeom prst="rect">
            <a:avLst/>
          </a:prstGeom>
          <a:noFill/>
          <a:ln/>
        </p:spPr>
        <p:txBody>
          <a:bodyPr wrap="square" lIns="0" tIns="0" rIns="0" bIns="0" rtlCol="0" anchor="ctr"/>
          <a:lstStyle/>
          <a:p>
            <a:pPr indent="0" marL="0">
              <a:buNone/>
            </a:pPr>
            <a:r>
              <a:rPr lang="en-US" sz="1350" b="1" dirty="0">
                <a:solidFill>
                  <a:srgbClr val="17324D"/>
                </a:solidFill>
                <a:latin typeface="Cambria" pitchFamily="34" charset="0"/>
                <a:ea typeface="Cambria" pitchFamily="34" charset="-122"/>
                <a:cs typeface="Cambria" pitchFamily="34" charset="-120"/>
              </a:rPr>
              <a:t>Deadlock and semaphores</a:t>
            </a:r>
            <a:endParaRPr lang="en-US" sz="1350" dirty="0"/>
          </a:p>
        </p:txBody>
      </p:sp>
      <p:sp>
        <p:nvSpPr>
          <p:cNvPr id="16" name="Text 14"/>
          <p:cNvSpPr txBox="1"/>
          <p:nvPr/>
        </p:nvSpPr>
        <p:spPr>
          <a:xfrm>
            <a:off x="6839712" y="5212080"/>
            <a:ext cx="4443984" cy="530352"/>
          </a:xfrm>
          <a:prstGeom prst="rect">
            <a:avLst/>
          </a:prstGeom>
          <a:noFill/>
          <a:ln/>
        </p:spPr>
        <p:txBody>
          <a:bodyPr wrap="square" lIns="0" tIns="0" rIns="0" bIns="0" rtlCol="0" anchor="t"/>
          <a:lstStyle/>
          <a:p>
            <a:pPr algn="l" indent="0" marL="0">
              <a:lnSpc>
                <a:spcPts val="1400"/>
              </a:lnSpc>
              <a:buNone/>
            </a:pPr>
            <a:r>
              <a:rPr lang="en-US" sz="1080" dirty="0">
                <a:solidFill>
                  <a:srgbClr val="7A8FA3"/>
                </a:solidFill>
                <a:latin typeface="Arial" pitchFamily="34" charset="0"/>
                <a:ea typeface="Arial" pitchFamily="34" charset="-122"/>
                <a:cs typeface="Arial" pitchFamily="34" charset="-120"/>
              </a:rPr>
              <a:t>Opposite lock order makes both threads give up after 1 s. A fixed order removes the cycle. A semaphore of 2 never lets more than 2 in.</a:t>
            </a:r>
            <a:endParaRPr lang="en-US" sz="1080" dirty="0"/>
          </a:p>
        </p:txBody>
      </p:sp>
      <p:sp>
        <p:nvSpPr>
          <p:cNvPr id="17" name="Text 15"/>
          <p:cNvSpPr txBox="1"/>
          <p:nvPr/>
        </p:nvSpPr>
        <p:spPr>
          <a:xfrm>
            <a:off x="10161727" y="6291072"/>
            <a:ext cx="1371600" cy="237744"/>
          </a:xfrm>
          <a:prstGeom prst="rect">
            <a:avLst/>
          </a:prstGeom>
          <a:noFill/>
          <a:ln/>
        </p:spPr>
        <p:txBody>
          <a:bodyPr wrap="square" lIns="0" tIns="0" rIns="0" bIns="0" rtlCol="0" anchor="ctr"/>
          <a:lstStyle/>
          <a:p>
            <a:pPr algn="r" indent="0" marL="0">
              <a:buNone/>
            </a:pPr>
            <a:r>
              <a:rPr lang="en-US" sz="1050" spc="140" kern="0" dirty="0">
                <a:solidFill>
                  <a:srgbClr val="7A8FA3"/>
                </a:solidFill>
                <a:latin typeface="Courier New" pitchFamily="34" charset="0"/>
                <a:ea typeface="Courier New" pitchFamily="34" charset="-122"/>
                <a:cs typeface="Courier New" pitchFamily="34" charset="-120"/>
              </a:rPr>
              <a:t>13 / 23</a:t>
            </a:r>
            <a:endParaRPr lang="en-US" sz="1050" dirty="0"/>
          </a:p>
        </p:txBody>
      </p:sp>
      <p:sp>
        <p:nvSpPr>
          <p:cNvPr id="18" name="Text 16"/>
          <p:cNvSpPr txBox="1"/>
          <p:nvPr/>
        </p:nvSpPr>
        <p:spPr>
          <a:xfrm>
            <a:off x="658368" y="6291072"/>
            <a:ext cx="6400800" cy="237744"/>
          </a:xfrm>
          <a:prstGeom prst="rect">
            <a:avLst/>
          </a:prstGeom>
          <a:noFill/>
          <a:ln/>
        </p:spPr>
        <p:txBody>
          <a:bodyPr wrap="square" lIns="0" tIns="0" rIns="0" bIns="0" rtlCol="0" anchor="ctr"/>
          <a:lstStyle/>
          <a:p>
            <a:pPr indent="0" marL="0">
              <a:buNone/>
            </a:pPr>
            <a:r>
              <a:rPr lang="en-US" sz="1050" spc="140" kern="0" dirty="0">
                <a:solidFill>
                  <a:srgbClr val="7A8FA3"/>
                </a:solidFill>
                <a:latin typeface="Courier New" pitchFamily="34" charset="0"/>
                <a:ea typeface="Courier New" pitchFamily="34" charset="-122"/>
                <a:cs typeface="Courier New" pitchFamily="34" charset="-120"/>
              </a:rPr>
              <a:t>CO-6 · CONCURRENCY</a:t>
            </a:r>
            <a:endParaRPr lang="en-US" sz="1050" dirty="0"/>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anim calcmode="lin" valueType="num">
                                      <p:cBhvr additive="base">
                                        <p:cTn id="8" dur="420" fill="hold"/>
                                        <p:tgtEl>
                                          <p:spTgt spid="2"/>
                                        </p:tgtEl>
                                        <p:attrNameLst>
                                          <p:attrName>ppt_y</p:attrName>
                                        </p:attrNameLst>
                                      </p:cBhvr>
                                      <p:tavLst>
                                        <p:tav tm="0">
                                          <p:val>
                                            <p:strVal val="ppt_y+0.018"/>
                                          </p:val>
                                        </p:tav>
                                        <p:tav tm="100000">
                                          <p:val>
                                            <p:strVal val="ppt_y"/>
                                          </p:val>
                                        </p:tav>
                                      </p:tavLst>
                                    </p:anim>
                                  </p:childTnLst>
                                </p:cTn>
                              </p:par>
                              <p:par>
                                <p:cTn id="9" presetID="10" presetClass="entr" presetSubtype="0" fill="hold" grpId="0" nodeType="withEffect">
                                  <p:stCondLst>
                                    <p:cond delay="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20"/>
                                        <p:tgtEl>
                                          <p:spTgt spid="3"/>
                                        </p:tgtEl>
                                      </p:cBhvr>
                                    </p:animEffect>
                                    <p:anim calcmode="lin" valueType="num">
                                      <p:cBhvr additive="base">
                                        <p:cTn id="12" dur="420" fill="hold"/>
                                        <p:tgtEl>
                                          <p:spTgt spid="3"/>
                                        </p:tgtEl>
                                        <p:attrNameLst>
                                          <p:attrName>ppt_y</p:attrName>
                                        </p:attrNameLst>
                                      </p:cBhvr>
                                      <p:tavLst>
                                        <p:tav tm="0">
                                          <p:val>
                                            <p:strVal val="ppt_y+0.018"/>
                                          </p:val>
                                        </p:tav>
                                        <p:tav tm="100000">
                                          <p:val>
                                            <p:strVal val="ppt_y"/>
                                          </p:val>
                                        </p:tav>
                                      </p:tavLst>
                                    </p:anim>
                                  </p:childTnLst>
                                </p:cTn>
                              </p:par>
                              <p:par>
                                <p:cTn id="13" presetID="10" presetClass="entr" presetSubtype="0" fill="hold" grpId="0" nodeType="withEffect">
                                  <p:stCondLst>
                                    <p:cond delay="16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20"/>
                                        <p:tgtEl>
                                          <p:spTgt spid="4"/>
                                        </p:tgtEl>
                                      </p:cBhvr>
                                    </p:animEffect>
                                    <p:anim calcmode="lin" valueType="num">
                                      <p:cBhvr additive="base">
                                        <p:cTn id="16" dur="420" fill="hold"/>
                                        <p:tgtEl>
                                          <p:spTgt spid="4"/>
                                        </p:tgtEl>
                                        <p:attrNameLst>
                                          <p:attrName>ppt_y</p:attrName>
                                        </p:attrNameLst>
                                      </p:cBhvr>
                                      <p:tavLst>
                                        <p:tav tm="0">
                                          <p:val>
                                            <p:strVal val="ppt_y+0.018"/>
                                          </p:val>
                                        </p:tav>
                                        <p:tav tm="100000">
                                          <p:val>
                                            <p:strVal val="ppt_y"/>
                                          </p:val>
                                        </p:tav>
                                      </p:tavLst>
                                    </p:anim>
                                  </p:childTnLst>
                                </p:cTn>
                              </p:par>
                              <p:par>
                                <p:cTn id="17" presetID="10" presetClass="entr" presetSubtype="0" fill="hold" grpId="0" nodeType="withEffect">
                                  <p:stCondLst>
                                    <p:cond delay="2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anim calcmode="lin" valueType="num">
                                      <p:cBhvr additive="base">
                                        <p:cTn id="20" dur="420" fill="hold"/>
                                        <p:tgtEl>
                                          <p:spTgt spid="5"/>
                                        </p:tgtEl>
                                        <p:attrNameLst>
                                          <p:attrName>ppt_y</p:attrName>
                                        </p:attrNameLst>
                                      </p:cBhvr>
                                      <p:tavLst>
                                        <p:tav tm="0">
                                          <p:val>
                                            <p:strVal val="ppt_y+0.018"/>
                                          </p:val>
                                        </p:tav>
                                        <p:tav tm="100000">
                                          <p:val>
                                            <p:strVal val="ppt_y"/>
                                          </p:val>
                                        </p:tav>
                                      </p:tavLst>
                                    </p:anim>
                                  </p:childTnLst>
                                </p:cTn>
                              </p:par>
                              <p:par>
                                <p:cTn id="21" presetID="10" presetClass="entr" presetSubtype="0" fill="hold" grpId="0" nodeType="withEffect">
                                  <p:stCondLst>
                                    <p:cond delay="32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20"/>
                                        <p:tgtEl>
                                          <p:spTgt spid="6"/>
                                        </p:tgtEl>
                                      </p:cBhvr>
                                    </p:animEffect>
                                    <p:anim calcmode="lin" valueType="num">
                                      <p:cBhvr additive="base">
                                        <p:cTn id="24" dur="420" fill="hold"/>
                                        <p:tgtEl>
                                          <p:spTgt spid="6"/>
                                        </p:tgtEl>
                                        <p:attrNameLst>
                                          <p:attrName>ppt_y</p:attrName>
                                        </p:attrNameLst>
                                      </p:cBhvr>
                                      <p:tavLst>
                                        <p:tav tm="0">
                                          <p:val>
                                            <p:strVal val="ppt_y+0.018"/>
                                          </p:val>
                                        </p:tav>
                                        <p:tav tm="100000">
                                          <p:val>
                                            <p:strVal val="ppt_y"/>
                                          </p:val>
                                        </p:tav>
                                      </p:tavLst>
                                    </p:anim>
                                  </p:childTnLst>
                                </p:cTn>
                              </p:par>
                              <p:par>
                                <p:cTn id="25" presetID="10" presetClass="entr" presetSubtype="0" fill="hold" grpId="0" nodeType="withEffect">
                                  <p:stCondLst>
                                    <p:cond delay="4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20"/>
                                        <p:tgtEl>
                                          <p:spTgt spid="7"/>
                                        </p:tgtEl>
                                      </p:cBhvr>
                                    </p:animEffect>
                                    <p:anim calcmode="lin" valueType="num">
                                      <p:cBhvr additive="base">
                                        <p:cTn id="28" dur="420" fill="hold"/>
                                        <p:tgtEl>
                                          <p:spTgt spid="7"/>
                                        </p:tgtEl>
                                        <p:attrNameLst>
                                          <p:attrName>ppt_y</p:attrName>
                                        </p:attrNameLst>
                                      </p:cBhvr>
                                      <p:tavLst>
                                        <p:tav tm="0">
                                          <p:val>
                                            <p:strVal val="ppt_y+0.018"/>
                                          </p:val>
                                        </p:tav>
                                        <p:tav tm="100000">
                                          <p:val>
                                            <p:strVal val="ppt_y"/>
                                          </p:val>
                                        </p:tav>
                                      </p:tavLst>
                                    </p:anim>
                                  </p:childTnLst>
                                </p:cTn>
                              </p:par>
                              <p:par>
                                <p:cTn id="29" presetID="10" presetClass="entr" presetSubtype="0" fill="hold" grpId="0" nodeType="withEffect">
                                  <p:stCondLst>
                                    <p:cond delay="48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20"/>
                                        <p:tgtEl>
                                          <p:spTgt spid="8"/>
                                        </p:tgtEl>
                                      </p:cBhvr>
                                    </p:animEffect>
                                    <p:anim calcmode="lin" valueType="num">
                                      <p:cBhvr additive="base">
                                        <p:cTn id="32" dur="420" fill="hold"/>
                                        <p:tgtEl>
                                          <p:spTgt spid="8"/>
                                        </p:tgtEl>
                                        <p:attrNameLst>
                                          <p:attrName>ppt_y</p:attrName>
                                        </p:attrNameLst>
                                      </p:cBhvr>
                                      <p:tavLst>
                                        <p:tav tm="0">
                                          <p:val>
                                            <p:strVal val="ppt_y+0.018"/>
                                          </p:val>
                                        </p:tav>
                                        <p:tav tm="100000">
                                          <p:val>
                                            <p:strVal val="ppt_y"/>
                                          </p:val>
                                        </p:tav>
                                      </p:tavLst>
                                    </p:anim>
                                  </p:childTnLst>
                                </p:cTn>
                              </p:par>
                              <p:par>
                                <p:cTn id="33" presetID="10" presetClass="entr" presetSubtype="0" fill="hold" grpId="0" nodeType="withEffect">
                                  <p:stCondLst>
                                    <p:cond delay="56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20"/>
                                        <p:tgtEl>
                                          <p:spTgt spid="9"/>
                                        </p:tgtEl>
                                      </p:cBhvr>
                                    </p:animEffect>
                                    <p:anim calcmode="lin" valueType="num">
                                      <p:cBhvr additive="base">
                                        <p:cTn id="36" dur="420" fill="hold"/>
                                        <p:tgtEl>
                                          <p:spTgt spid="9"/>
                                        </p:tgtEl>
                                        <p:attrNameLst>
                                          <p:attrName>ppt_y</p:attrName>
                                        </p:attrNameLst>
                                      </p:cBhvr>
                                      <p:tavLst>
                                        <p:tav tm="0">
                                          <p:val>
                                            <p:strVal val="ppt_y+0.018"/>
                                          </p:val>
                                        </p:tav>
                                        <p:tav tm="100000">
                                          <p:val>
                                            <p:strVal val="ppt_y"/>
                                          </p:val>
                                        </p:tav>
                                      </p:tavLst>
                                    </p:anim>
                                  </p:childTnLst>
                                </p:cTn>
                              </p:par>
                              <p:par>
                                <p:cTn id="37" presetID="10" presetClass="entr" presetSubtype="0" fill="hold" grpId="0" nodeType="withEffect">
                                  <p:stCondLst>
                                    <p:cond delay="64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20"/>
                                        <p:tgtEl>
                                          <p:spTgt spid="10"/>
                                        </p:tgtEl>
                                      </p:cBhvr>
                                    </p:animEffect>
                                    <p:anim calcmode="lin" valueType="num">
                                      <p:cBhvr additive="base">
                                        <p:cTn id="40" dur="420" fill="hold"/>
                                        <p:tgtEl>
                                          <p:spTgt spid="10"/>
                                        </p:tgtEl>
                                        <p:attrNameLst>
                                          <p:attrName>ppt_y</p:attrName>
                                        </p:attrNameLst>
                                      </p:cBhvr>
                                      <p:tavLst>
                                        <p:tav tm="0">
                                          <p:val>
                                            <p:strVal val="ppt_y+0.018"/>
                                          </p:val>
                                        </p:tav>
                                        <p:tav tm="100000">
                                          <p:val>
                                            <p:strVal val="ppt_y"/>
                                          </p:val>
                                        </p:tav>
                                      </p:tavLst>
                                    </p:anim>
                                  </p:childTnLst>
                                </p:cTn>
                              </p:par>
                              <p:par>
                                <p:cTn id="41" presetID="10" presetClass="entr" presetSubtype="0" fill="hold" grpId="0" nodeType="withEffect">
                                  <p:stCondLst>
                                    <p:cond delay="72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20"/>
                                        <p:tgtEl>
                                          <p:spTgt spid="11"/>
                                        </p:tgtEl>
                                      </p:cBhvr>
                                    </p:animEffect>
                                    <p:anim calcmode="lin" valueType="num">
                                      <p:cBhvr additive="base">
                                        <p:cTn id="44" dur="420" fill="hold"/>
                                        <p:tgtEl>
                                          <p:spTgt spid="11"/>
                                        </p:tgtEl>
                                        <p:attrNameLst>
                                          <p:attrName>ppt_y</p:attrName>
                                        </p:attrNameLst>
                                      </p:cBhvr>
                                      <p:tavLst>
                                        <p:tav tm="0">
                                          <p:val>
                                            <p:strVal val="ppt_y+0.018"/>
                                          </p:val>
                                        </p:tav>
                                        <p:tav tm="100000">
                                          <p:val>
                                            <p:strVal val="ppt_y"/>
                                          </p:val>
                                        </p:tav>
                                      </p:tavLst>
                                    </p:anim>
                                  </p:childTnLst>
                                </p:cTn>
                              </p:par>
                              <p:par>
                                <p:cTn id="45" presetID="10" presetClass="entr" presetSubtype="0" fill="hold" grpId="0" nodeType="withEffect">
                                  <p:stCondLst>
                                    <p:cond delay="8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additive="base">
                                        <p:cTn id="48" dur="420" fill="hold"/>
                                        <p:tgtEl>
                                          <p:spTgt spid="12"/>
                                        </p:tgtEl>
                                        <p:attrNameLst>
                                          <p:attrName>ppt_y</p:attrName>
                                        </p:attrNameLst>
                                      </p:cBhvr>
                                      <p:tavLst>
                                        <p:tav tm="0">
                                          <p:val>
                                            <p:strVal val="ppt_y+0.018"/>
                                          </p:val>
                                        </p:tav>
                                        <p:tav tm="100000">
                                          <p:val>
                                            <p:strVal val="ppt_y"/>
                                          </p:val>
                                        </p:tav>
                                      </p:tavLst>
                                    </p:anim>
                                  </p:childTnLst>
                                </p:cTn>
                              </p:par>
                              <p:par>
                                <p:cTn id="49" presetID="10" presetClass="entr" presetSubtype="0" fill="hold" grpId="0" nodeType="withEffect">
                                  <p:stCondLst>
                                    <p:cond delay="88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additive="base">
                                        <p:cTn id="52" dur="420" fill="hold"/>
                                        <p:tgtEl>
                                          <p:spTgt spid="13"/>
                                        </p:tgtEl>
                                        <p:attrNameLst>
                                          <p:attrName>ppt_y</p:attrName>
                                        </p:attrNameLst>
                                      </p:cBhvr>
                                      <p:tavLst>
                                        <p:tav tm="0">
                                          <p:val>
                                            <p:strVal val="ppt_y+0.018"/>
                                          </p:val>
                                        </p:tav>
                                        <p:tav tm="100000">
                                          <p:val>
                                            <p:strVal val="ppt_y"/>
                                          </p:val>
                                        </p:tav>
                                      </p:tavLst>
                                    </p:anim>
                                  </p:childTnLst>
                                </p:cTn>
                              </p:par>
                              <p:par>
                                <p:cTn id="53" presetID="10" presetClass="entr" presetSubtype="0" fill="hold" grpId="0" nodeType="withEffect">
                                  <p:stCondLst>
                                    <p:cond delay="9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20"/>
                                        <p:tgtEl>
                                          <p:spTgt spid="14"/>
                                        </p:tgtEl>
                                      </p:cBhvr>
                                    </p:animEffect>
                                    <p:anim calcmode="lin" valueType="num">
                                      <p:cBhvr additive="base">
                                        <p:cTn id="56" dur="420" fill="hold"/>
                                        <p:tgtEl>
                                          <p:spTgt spid="14"/>
                                        </p:tgtEl>
                                        <p:attrNameLst>
                                          <p:attrName>ppt_y</p:attrName>
                                        </p:attrNameLst>
                                      </p:cBhvr>
                                      <p:tavLst>
                                        <p:tav tm="0">
                                          <p:val>
                                            <p:strVal val="ppt_y+0.018"/>
                                          </p:val>
                                        </p:tav>
                                        <p:tav tm="100000">
                                          <p:val>
                                            <p:strVal val="ppt_y"/>
                                          </p:val>
                                        </p:tav>
                                      </p:tavLst>
                                    </p:anim>
                                  </p:childTnLst>
                                </p:cTn>
                              </p:par>
                              <p:par>
                                <p:cTn id="57" presetID="10" presetClass="entr" presetSubtype="0" fill="hold" grpId="0" nodeType="withEffect">
                                  <p:stCondLst>
                                    <p:cond delay="104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420"/>
                                        <p:tgtEl>
                                          <p:spTgt spid="15"/>
                                        </p:tgtEl>
                                      </p:cBhvr>
                                    </p:animEffect>
                                    <p:anim calcmode="lin" valueType="num">
                                      <p:cBhvr additive="base">
                                        <p:cTn id="60" dur="420" fill="hold"/>
                                        <p:tgtEl>
                                          <p:spTgt spid="15"/>
                                        </p:tgtEl>
                                        <p:attrNameLst>
                                          <p:attrName>ppt_y</p:attrName>
                                        </p:attrNameLst>
                                      </p:cBhvr>
                                      <p:tavLst>
                                        <p:tav tm="0">
                                          <p:val>
                                            <p:strVal val="ppt_y+0.018"/>
                                          </p:val>
                                        </p:tav>
                                        <p:tav tm="100000">
                                          <p:val>
                                            <p:strVal val="ppt_y"/>
                                          </p:val>
                                        </p:tav>
                                      </p:tavLst>
                                    </p:anim>
                                  </p:childTnLst>
                                </p:cTn>
                              </p:par>
                              <p:par>
                                <p:cTn id="61" presetID="10" presetClass="entr" presetSubtype="0" fill="hold" grpId="0" nodeType="withEffect">
                                  <p:stCondLst>
                                    <p:cond delay="112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20"/>
                                        <p:tgtEl>
                                          <p:spTgt spid="16"/>
                                        </p:tgtEl>
                                      </p:cBhvr>
                                    </p:animEffect>
                                    <p:anim calcmode="lin" valueType="num">
                                      <p:cBhvr additive="base">
                                        <p:cTn id="64" dur="420" fill="hold"/>
                                        <p:tgtEl>
                                          <p:spTgt spid="16"/>
                                        </p:tgtEl>
                                        <p:attrNameLst>
                                          <p:attrName>ppt_y</p:attrName>
                                        </p:attrNameLst>
                                      </p:cBhvr>
                                      <p:tavLst>
                                        <p:tav tm="0">
                                          <p:val>
                                            <p:strVal val="ppt_y+0.018"/>
                                          </p:val>
                                        </p:tav>
                                        <p:tav tm="100000">
                                          <p:val>
                                            <p:strVal val="ppt_y"/>
                                          </p:val>
                                        </p:tav>
                                      </p:tavLst>
                                    </p:anim>
                                  </p:childTnLst>
                                </p:cTn>
                              </p:par>
                              <p:par>
                                <p:cTn id="65" presetID="10" presetClass="entr" presetSubtype="0" fill="hold" grpId="0" nodeType="withEffect">
                                  <p:stCondLst>
                                    <p:cond delay="12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additive="base">
                                        <p:cTn id="68" dur="420" fill="hold"/>
                                        <p:tgtEl>
                                          <p:spTgt spid="17"/>
                                        </p:tgtEl>
                                        <p:attrNameLst>
                                          <p:attrName>ppt_y</p:attrName>
                                        </p:attrNameLst>
                                      </p:cBhvr>
                                      <p:tavLst>
                                        <p:tav tm="0">
                                          <p:val>
                                            <p:strVal val="ppt_y+0.018"/>
                                          </p:val>
                                        </p:tav>
                                        <p:tav tm="100000">
                                          <p:val>
                                            <p:strVal val="ppt_y"/>
                                          </p:val>
                                        </p:tav>
                                      </p:tavLst>
                                    </p:anim>
                                  </p:childTnLst>
                                </p:cTn>
                              </p:par>
                              <p:par>
                                <p:cTn id="69" presetID="10" presetClass="entr" presetSubtype="0" fill="hold" grpId="0" nodeType="withEffect">
                                  <p:stCondLst>
                                    <p:cond delay="128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420"/>
                                        <p:tgtEl>
                                          <p:spTgt spid="18"/>
                                        </p:tgtEl>
                                      </p:cBhvr>
                                    </p:animEffect>
                                    <p:anim calcmode="lin" valueType="num">
                                      <p:cBhvr additive="base">
                                        <p:cTn id="72" dur="420" fill="hold"/>
                                        <p:tgtEl>
                                          <p:spTgt spid="18"/>
                                        </p:tgtEl>
                                        <p:attrNameLst>
                                          <p:attrName>ppt_y</p:attrName>
                                        </p:attrNameLst>
                                      </p:cBhvr>
                                      <p:tavLst>
                                        <p:tav tm="0">
                                          <p:val>
                                            <p:strVal val="ppt_y+0.0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 Monitor</dc:title>
  <dc:subject>PptxGenJS Presentation</dc:subject>
  <dc:creator>Team 19</dc:creator>
  <cp:lastModifiedBy>Team 19</cp:lastModifiedBy>
  <cp:revision>1</cp:revision>
  <dcterms:created xsi:type="dcterms:W3CDTF">2026-09-19T04:52:52Z</dcterms:created>
  <dcterms:modified xsi:type="dcterms:W3CDTF">2026-09-19T04:52:52Z</dcterms:modified>
</cp:coreProperties>
</file>